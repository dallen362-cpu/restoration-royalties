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frame. Four working days of build, presented as one system. Jimmy is enrolled and funded; this packet shows him everything that exists today and what happens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status, not promises. Ten numbers assigned, price locked at $22.95, four sites live, two markets loaded.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actual sites. These are screenshots of the live pages, not mockups.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page — open it in the browser if they want to click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page — open it in the browser if they want to click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page — open it in the browser if they want to click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page — open it in the browser if they want to click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operational core. The four qualifying questions are the ones Melissa already uses on inbound.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ViciDial discipline translated into the platform — the dashboard that keeps inflows ahead of outflows every payday.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ladder is optional for Jimmy but it is where the residual side starts. The data point at the bottom is the exit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Compliance slide is deliberate — it is what keeps the program alive past month one and it reassures a client who has been burned by lead vendors.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on action, with the first item being a decision only Jimmy can make — which RR treatment 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division of labor, then the disclaimer. Leave the contact line on screen during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jpeg"/><Relationship Id="rId3" Type="http://schemas.openxmlformats.org/officeDocument/2006/relationships/image" Target="../media/image-5-3.jpeg"/><Relationship Id="rId4" Type="http://schemas.openxmlformats.org/officeDocument/2006/relationships/image" Target="../media/image-5-4.jpe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restorationroyalties.com/rr/" TargetMode="External"/><Relationship Id="rId1" Type="http://schemas.openxmlformats.org/officeDocument/2006/relationships/image" Target="../media/image-6-1.jpe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restorationroyalties.com/fast/" TargetMode="External"/><Relationship Id="rId1" Type="http://schemas.openxmlformats.org/officeDocument/2006/relationships/image" Target="../media/image-7-1.jpe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restorationroyalties.com/yes/" TargetMode="External"/><Relationship Id="rId1" Type="http://schemas.openxmlformats.org/officeDocument/2006/relationships/image" Target="../media/image-8-1.jpe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restorationroyalties.com/telverge/" TargetMode="External"/><Relationship Id="rId1" Type="http://schemas.openxmlformats.org/officeDocument/2006/relationships/image" Target="../media/image-9-1.jpe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restorationroyalties.com/rr/" TargetMode="External"/><Relationship Id="rId2" Type="http://schemas.openxmlformats.org/officeDocument/2006/relationships/hyperlink" Target="https://restorationroyalties.com/fast/" TargetMode="External"/><Relationship Id="rId3" Type="http://schemas.openxmlformats.org/officeDocument/2006/relationships/hyperlink" Target="https://restorationroyalties.com/yes/" TargetMode="External"/><Relationship Id="rId4" Type="http://schemas.openxmlformats.org/officeDocument/2006/relationships/hyperlink" Target="https://restorationroyalties.com/telverge/" TargetMode="External"/><Relationship Id="rId5" Type="http://schemas.openxmlformats.org/officeDocument/2006/relationships/hyperlink" Target="https://restorationroyalties.com/hub/" TargetMode="External"/><Relationship Id="rId6" Type="http://schemas.openxmlformats.org/officeDocument/2006/relationships/hyperlink" Target="https://restorationroyalties.com/vanity/" TargetMode="External"/><Relationship Id="rId7" Type="http://schemas.openxmlformats.org/officeDocument/2006/relationships/hyperlink" Target="https://restorationroyalties.com/showroom/" TargetMode="External"/><Relationship Id="rId8" Type="http://schemas.openxmlformats.org/officeDocument/2006/relationships/hyperlink" Target="https://restorationroyalties.com" TargetMode="External"/><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C18"/>
        </a:solidFill>
      </p:bgPr>
    </p:bg>
    <p:spTree>
      <p:nvGrpSpPr>
        <p:cNvPr id="1" name=""/>
        <p:cNvGrpSpPr/>
        <p:nvPr/>
      </p:nvGrpSpPr>
      <p:grpSpPr>
        <a:xfrm>
          <a:off x="0" y="0"/>
          <a:ext cx="0" cy="0"/>
          <a:chOff x="0" y="0"/>
          <a:chExt cx="0" cy="0"/>
        </a:xfrm>
      </p:grpSpPr>
      <p:sp>
        <p:nvSpPr>
          <p:cNvPr id="2" name="Shape 0"/>
          <p:cNvSpPr/>
          <p:nvPr/>
        </p:nvSpPr>
        <p:spPr>
          <a:xfrm>
            <a:off x="6766560" y="-2286000"/>
            <a:ext cx="8412480" cy="8412480"/>
          </a:xfrm>
          <a:prstGeom prst="ellipse">
            <a:avLst/>
          </a:prstGeom>
          <a:solidFill>
            <a:srgbClr val="00D4FF">
              <a:alpha val="7000"/>
            </a:srgbClr>
          </a:solidFill>
          <a:ln w="12700">
            <a:solidFill>
              <a:srgbClr val="333333"/>
            </a:solidFill>
            <a:prstDash val="solid"/>
          </a:ln>
        </p:spPr>
      </p:sp>
      <p:sp>
        <p:nvSpPr>
          <p:cNvPr id="3" name="Shape 1"/>
          <p:cNvSpPr/>
          <p:nvPr/>
        </p:nvSpPr>
        <p:spPr>
          <a:xfrm>
            <a:off x="8229600" y="-1097280"/>
            <a:ext cx="5486400" cy="5486400"/>
          </a:xfrm>
          <a:prstGeom prst="ellipse">
            <a:avLst/>
          </a:prstGeom>
          <a:solidFill>
            <a:srgbClr val="00FF88">
              <a:alpha val="5000"/>
            </a:srgbClr>
          </a:solidFill>
          <a:ln w="12700">
            <a:solidFill>
              <a:srgbClr val="333333"/>
            </a:solidFill>
            <a:prstDash val="solid"/>
          </a:ln>
        </p:spPr>
      </p:sp>
      <p:sp>
        <p:nvSpPr>
          <p:cNvPr id="4" name="Text 2"/>
          <p:cNvSpPr/>
          <p:nvPr/>
        </p:nvSpPr>
        <p:spPr>
          <a:xfrm>
            <a:off x="658368" y="566928"/>
            <a:ext cx="10872216" cy="274320"/>
          </a:xfrm>
          <a:prstGeom prst="rect">
            <a:avLst/>
          </a:prstGeom>
          <a:noFill/>
          <a:ln/>
        </p:spPr>
        <p:txBody>
          <a:bodyPr wrap="square" lIns="0" tIns="0" rIns="0" bIns="0" rtlCol="0" anchor="ctr"/>
          <a:lstStyle/>
          <a:p>
            <a:pPr indent="0" marL="0">
              <a:buNone/>
            </a:pPr>
            <a:r>
              <a:rPr lang="en-US" sz="1200" b="1" spc="260" kern="0" dirty="0">
                <a:solidFill>
                  <a:srgbClr val="00D4FF"/>
                </a:solidFill>
                <a:latin typeface="Calibri" pitchFamily="34" charset="0"/>
                <a:ea typeface="Calibri" pitchFamily="34" charset="-122"/>
                <a:cs typeface="Calibri" pitchFamily="34" charset="-120"/>
              </a:rPr>
              <a:t>TEL</a:t>
            </a:r>
            <a:pPr indent="0" marL="0">
              <a:buNone/>
            </a:pPr>
            <a:r>
              <a:rPr lang="en-US" sz="1200" b="1" spc="260" kern="0" dirty="0">
                <a:solidFill>
                  <a:srgbClr val="8FA3C0"/>
                </a:solidFill>
                <a:latin typeface="Calibri" pitchFamily="34" charset="0"/>
                <a:ea typeface="Calibri" pitchFamily="34" charset="-122"/>
                <a:cs typeface="Calibri" pitchFamily="34" charset="-120"/>
              </a:rPr>
              <a:t>VERGENCE   ×   RESTORATION ROYALTY</a:t>
            </a:r>
            <a:endParaRPr lang="en-US" sz="1200" dirty="0"/>
          </a:p>
        </p:txBody>
      </p:sp>
      <p:sp>
        <p:nvSpPr>
          <p:cNvPr id="5" name="Text 3"/>
          <p:cNvSpPr/>
          <p:nvPr/>
        </p:nvSpPr>
        <p:spPr>
          <a:xfrm>
            <a:off x="658368" y="2084832"/>
            <a:ext cx="10872216" cy="274320"/>
          </a:xfrm>
          <a:prstGeom prst="rect">
            <a:avLst/>
          </a:prstGeom>
          <a:noFill/>
          <a:ln/>
        </p:spPr>
        <p:txBody>
          <a:bodyPr wrap="square" lIns="0" tIns="0" rIns="0" bIns="0" rtlCol="0" anchor="ctr"/>
          <a:lstStyle/>
          <a:p>
            <a:pPr indent="0" marL="0">
              <a:buNone/>
            </a:pPr>
            <a:r>
              <a:rPr lang="en-US" sz="1200" b="1" spc="260" kern="0" dirty="0">
                <a:solidFill>
                  <a:srgbClr val="FFC24B"/>
                </a:solidFill>
                <a:latin typeface="Calibri" pitchFamily="34" charset="0"/>
                <a:ea typeface="Calibri" pitchFamily="34" charset="-122"/>
                <a:cs typeface="Calibri" pitchFamily="34" charset="-120"/>
              </a:rPr>
              <a:t>MASTER PACKET  ·  AUGUST 17, 2026</a:t>
            </a:r>
            <a:endParaRPr lang="en-US" sz="1200" dirty="0"/>
          </a:p>
        </p:txBody>
      </p:sp>
      <p:sp>
        <p:nvSpPr>
          <p:cNvPr id="6" name="Text 4"/>
          <p:cNvSpPr/>
          <p:nvPr/>
        </p:nvSpPr>
        <p:spPr>
          <a:xfrm>
            <a:off x="658368" y="2487168"/>
            <a:ext cx="9052560" cy="1828800"/>
          </a:xfrm>
          <a:prstGeom prst="rect">
            <a:avLst/>
          </a:prstGeom>
          <a:noFill/>
          <a:ln/>
        </p:spPr>
        <p:txBody>
          <a:bodyPr wrap="square" lIns="0" tIns="0" rIns="0" bIns="0" rtlCol="0" anchor="ctr"/>
          <a:lstStyle/>
          <a:p>
            <a:pPr indent="0" marL="0">
              <a:lnSpc>
                <a:spcPts val="5400"/>
              </a:lnSpc>
              <a:buNone/>
            </a:pPr>
            <a:r>
              <a:rPr lang="en-US" sz="5000" b="1" spc="-120" kern="0" dirty="0">
                <a:solidFill>
                  <a:srgbClr val="EAF2FF"/>
                </a:solidFill>
                <a:latin typeface="Calibri" pitchFamily="34" charset="0"/>
                <a:ea typeface="Calibri" pitchFamily="34" charset="-122"/>
                <a:cs typeface="Calibri" pitchFamily="34" charset="-120"/>
              </a:rPr>
              <a:t>Four days of build,
</a:t>
            </a:r>
            <a:pPr indent="0" marL="0">
              <a:lnSpc>
                <a:spcPts val="5400"/>
              </a:lnSpc>
              <a:buNone/>
            </a:pPr>
            <a:r>
              <a:rPr lang="en-US" sz="5000" b="1" spc="-120" kern="0" dirty="0">
                <a:solidFill>
                  <a:srgbClr val="00FF88"/>
                </a:solidFill>
                <a:latin typeface="Calibri" pitchFamily="34" charset="0"/>
                <a:ea typeface="Calibri" pitchFamily="34" charset="-122"/>
                <a:cs typeface="Calibri" pitchFamily="34" charset="-120"/>
              </a:rPr>
              <a:t>one system, </a:t>
            </a:r>
            <a:pPr indent="0" marL="0">
              <a:lnSpc>
                <a:spcPts val="5400"/>
              </a:lnSpc>
              <a:buNone/>
            </a:pPr>
            <a:r>
              <a:rPr lang="en-US" sz="5000" b="1" spc="-120" kern="0" dirty="0">
                <a:solidFill>
                  <a:srgbClr val="EAF2FF"/>
                </a:solidFill>
                <a:latin typeface="Calibri" pitchFamily="34" charset="0"/>
                <a:ea typeface="Calibri" pitchFamily="34" charset="-122"/>
                <a:cs typeface="Calibri" pitchFamily="34" charset="-120"/>
              </a:rPr>
              <a:t>ready to ring.</a:t>
            </a:r>
            <a:endParaRPr lang="en-US" sz="5000" dirty="0"/>
          </a:p>
        </p:txBody>
      </p:sp>
      <p:sp>
        <p:nvSpPr>
          <p:cNvPr id="7" name="Text 5"/>
          <p:cNvSpPr/>
          <p:nvPr/>
        </p:nvSpPr>
        <p:spPr>
          <a:xfrm>
            <a:off x="658368" y="4443984"/>
            <a:ext cx="7863840" cy="822960"/>
          </a:xfrm>
          <a:prstGeom prst="rect">
            <a:avLst/>
          </a:prstGeom>
          <a:noFill/>
          <a:ln/>
        </p:spPr>
        <p:txBody>
          <a:bodyPr wrap="square" lIns="0" tIns="0" rIns="0" bIns="0" rtlCol="0" anchor="ctr"/>
          <a:lstStyle/>
          <a:p>
            <a:pPr indent="0" marL="0">
              <a:lnSpc>
                <a:spcPts val="2300"/>
              </a:lnSpc>
              <a:buNone/>
            </a:pPr>
            <a:r>
              <a:rPr lang="en-US" sz="1500" dirty="0">
                <a:solidFill>
                  <a:srgbClr val="8FA3C0"/>
                </a:solidFill>
                <a:latin typeface="Calibri" pitchFamily="34" charset="0"/>
                <a:ea typeface="Calibri" pitchFamily="34" charset="-122"/>
                <a:cs typeface="Calibri" pitchFamily="34" charset="-120"/>
              </a:rPr>
              <a:t>Everything developed for Restoration Royalty and the surrounding network since Thursday — every site, every phase, every look — assembled in one place.</a:t>
            </a:r>
            <a:endParaRPr lang="en-US" sz="1500" dirty="0"/>
          </a:p>
        </p:txBody>
      </p:sp>
      <p:sp>
        <p:nvSpPr>
          <p:cNvPr id="8" name="Text 6"/>
          <p:cNvSpPr/>
          <p:nvPr/>
        </p:nvSpPr>
        <p:spPr>
          <a:xfrm>
            <a:off x="658368" y="5742432"/>
            <a:ext cx="10872216" cy="274320"/>
          </a:xfrm>
          <a:prstGeom prst="rect">
            <a:avLst/>
          </a:prstGeom>
          <a:noFill/>
          <a:ln/>
        </p:spPr>
        <p:txBody>
          <a:bodyPr wrap="square" lIns="0" tIns="0" rIns="0" bIns="0" rtlCol="0" anchor="ctr"/>
          <a:lstStyle/>
          <a:p>
            <a:pPr indent="0" marL="0">
              <a:buNone/>
            </a:pPr>
            <a:r>
              <a:rPr lang="en-US" sz="1200" dirty="0">
                <a:solidFill>
                  <a:srgbClr val="6C7FA3"/>
                </a:solidFill>
                <a:latin typeface="Calibri" pitchFamily="34" charset="0"/>
                <a:ea typeface="Calibri" pitchFamily="34" charset="-122"/>
                <a:cs typeface="Calibri" pitchFamily="34" charset="-120"/>
              </a:rPr>
              <a:t>Prepared for Jimmy Mejia, Restoration Royalty LLC   ·   By David Drew Allen, Telvergence, Inc.</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C18"/>
        </a:solidFill>
      </p:bgPr>
    </p:bg>
    <p:spTree>
      <p:nvGrpSpPr>
        <p:cNvPr id="1" name=""/>
        <p:cNvGrpSpPr/>
        <p:nvPr/>
      </p:nvGrpSpPr>
      <p:grpSpPr>
        <a:xfrm>
          <a:off x="0" y="0"/>
          <a:ext cx="0" cy="0"/>
          <a:chOff x="0" y="0"/>
          <a:chExt cx="0" cy="0"/>
        </a:xfrm>
      </p:grpSpPr>
      <p:sp>
        <p:nvSpPr>
          <p:cNvPr id="2" name="Text 0"/>
          <p:cNvSpPr/>
          <p:nvPr/>
        </p:nvSpPr>
        <p:spPr>
          <a:xfrm>
            <a:off x="658368" y="457200"/>
            <a:ext cx="10872216" cy="256032"/>
          </a:xfrm>
          <a:prstGeom prst="rect">
            <a:avLst/>
          </a:prstGeom>
          <a:noFill/>
          <a:ln/>
        </p:spPr>
        <p:txBody>
          <a:bodyPr wrap="square" lIns="0" tIns="0" rIns="0" bIns="0" rtlCol="0" anchor="ctr"/>
          <a:lstStyle/>
          <a:p>
            <a:pPr indent="0" marL="0">
              <a:buNone/>
            </a:pPr>
            <a:r>
              <a:rPr lang="en-US" sz="1100" b="1" spc="240" kern="0" dirty="0">
                <a:solidFill>
                  <a:srgbClr val="00D4FF"/>
                </a:solidFill>
                <a:latin typeface="Calibri" pitchFamily="34" charset="0"/>
                <a:ea typeface="Calibri" pitchFamily="34" charset="-122"/>
                <a:cs typeface="Calibri" pitchFamily="34" charset="-120"/>
              </a:rPr>
              <a:t>WHERE WE STAND</a:t>
            </a:r>
            <a:endParaRPr lang="en-US" sz="1100" dirty="0"/>
          </a:p>
        </p:txBody>
      </p:sp>
      <p:sp>
        <p:nvSpPr>
          <p:cNvPr id="3" name="Text 1"/>
          <p:cNvSpPr/>
          <p:nvPr/>
        </p:nvSpPr>
        <p:spPr>
          <a:xfrm>
            <a:off x="658368" y="786384"/>
            <a:ext cx="10872216" cy="822960"/>
          </a:xfrm>
          <a:prstGeom prst="rect">
            <a:avLst/>
          </a:prstGeom>
          <a:noFill/>
          <a:ln/>
        </p:spPr>
        <p:txBody>
          <a:bodyPr wrap="square" lIns="0" tIns="0" rIns="0" bIns="0" rtlCol="0" anchor="ctr"/>
          <a:lstStyle/>
          <a:p>
            <a:pPr indent="0" marL="0">
              <a:buNone/>
            </a:pPr>
            <a:r>
              <a:rPr lang="en-US" sz="3400" b="1" spc="-40" kern="0" dirty="0">
                <a:solidFill>
                  <a:srgbClr val="EAF2FF"/>
                </a:solidFill>
                <a:latin typeface="Calibri" pitchFamily="34" charset="0"/>
                <a:ea typeface="Calibri" pitchFamily="34" charset="-122"/>
                <a:cs typeface="Calibri" pitchFamily="34" charset="-120"/>
              </a:rPr>
              <a:t>The short version</a:t>
            </a:r>
            <a:endParaRPr lang="en-US" sz="3400" dirty="0"/>
          </a:p>
        </p:txBody>
      </p:sp>
      <p:sp>
        <p:nvSpPr>
          <p:cNvPr id="4" name="Text 2"/>
          <p:cNvSpPr/>
          <p:nvPr/>
        </p:nvSpPr>
        <p:spPr>
          <a:xfrm>
            <a:off x="658368" y="1627632"/>
            <a:ext cx="9350106" cy="658368"/>
          </a:xfrm>
          <a:prstGeom prst="rect">
            <a:avLst/>
          </a:prstGeom>
          <a:noFill/>
          <a:ln/>
        </p:spPr>
        <p:txBody>
          <a:bodyPr wrap="square" lIns="0" tIns="0" rIns="0" bIns="0" rtlCol="0" anchor="ctr"/>
          <a:lstStyle/>
          <a:p>
            <a:pPr indent="0" marL="0">
              <a:lnSpc>
                <a:spcPts val="2200"/>
              </a:lnSpc>
              <a:buNone/>
            </a:pPr>
            <a:r>
              <a:rPr lang="en-US" sz="1500" dirty="0">
                <a:solidFill>
                  <a:srgbClr val="8FA3C0"/>
                </a:solidFill>
                <a:latin typeface="Calibri" pitchFamily="34" charset="0"/>
                <a:ea typeface="Calibri" pitchFamily="34" charset="-122"/>
                <a:cs typeface="Calibri" pitchFamily="34" charset="-120"/>
              </a:rPr>
              <a:t>Restoration Royalty is enrolled with a ten-number Smart-DID block, four funnel sites are built and staged, and the Orlando and South Florida call campaign is scripted, scrubbed, and loaded.</a:t>
            </a:r>
            <a:endParaRPr lang="en-US" sz="1500" dirty="0"/>
          </a:p>
        </p:txBody>
      </p:sp>
      <p:sp>
        <p:nvSpPr>
          <p:cNvPr id="5" name="Shape 3"/>
          <p:cNvSpPr/>
          <p:nvPr/>
        </p:nvSpPr>
        <p:spPr>
          <a:xfrm>
            <a:off x="658368" y="2743200"/>
            <a:ext cx="2523744" cy="1700784"/>
          </a:xfrm>
          <a:prstGeom prst="roundRect">
            <a:avLst>
              <a:gd name="adj" fmla="val 6452"/>
            </a:avLst>
          </a:prstGeom>
          <a:solidFill>
            <a:srgbClr val="101A33"/>
          </a:solidFill>
          <a:ln w="12700">
            <a:solidFill>
              <a:srgbClr val="1E2E4A"/>
            </a:solidFill>
            <a:prstDash val="solid"/>
          </a:ln>
        </p:spPr>
      </p:sp>
      <p:sp>
        <p:nvSpPr>
          <p:cNvPr id="6" name="Text 4"/>
          <p:cNvSpPr/>
          <p:nvPr/>
        </p:nvSpPr>
        <p:spPr>
          <a:xfrm>
            <a:off x="914400" y="2962656"/>
            <a:ext cx="2066544" cy="640080"/>
          </a:xfrm>
          <a:prstGeom prst="rect">
            <a:avLst/>
          </a:prstGeom>
          <a:noFill/>
          <a:ln/>
        </p:spPr>
        <p:txBody>
          <a:bodyPr wrap="square" lIns="0" tIns="0" rIns="0" bIns="0" rtlCol="0" anchor="ctr"/>
          <a:lstStyle/>
          <a:p>
            <a:pPr indent="0" marL="0">
              <a:buNone/>
            </a:pPr>
            <a:r>
              <a:rPr lang="en-US" sz="4000" b="1" spc="-100" kern="0" dirty="0">
                <a:solidFill>
                  <a:srgbClr val="00D4FF"/>
                </a:solidFill>
                <a:latin typeface="Calibri" pitchFamily="34" charset="0"/>
                <a:ea typeface="Calibri" pitchFamily="34" charset="-122"/>
                <a:cs typeface="Calibri" pitchFamily="34" charset="-120"/>
              </a:rPr>
              <a:t>10</a:t>
            </a:r>
            <a:endParaRPr lang="en-US" sz="4000" dirty="0"/>
          </a:p>
        </p:txBody>
      </p:sp>
      <p:sp>
        <p:nvSpPr>
          <p:cNvPr id="7" name="Text 5"/>
          <p:cNvSpPr/>
          <p:nvPr/>
        </p:nvSpPr>
        <p:spPr>
          <a:xfrm>
            <a:off x="914400" y="3675888"/>
            <a:ext cx="2066544" cy="603504"/>
          </a:xfrm>
          <a:prstGeom prst="rect">
            <a:avLst/>
          </a:prstGeom>
          <a:noFill/>
          <a:ln/>
        </p:spPr>
        <p:txBody>
          <a:bodyPr wrap="square" lIns="0" tIns="0" rIns="0" bIns="0" rtlCol="0" anchor="ctr"/>
          <a:lstStyle/>
          <a:p>
            <a:pPr indent="0" marL="0">
              <a:lnSpc>
                <a:spcPts val="1600"/>
              </a:lnSpc>
              <a:buNone/>
            </a:pPr>
            <a:r>
              <a:rPr lang="en-US" sz="1200" dirty="0">
                <a:solidFill>
                  <a:srgbClr val="8FA3C0"/>
                </a:solidFill>
                <a:latin typeface="Calibri" pitchFamily="34" charset="0"/>
                <a:ea typeface="Calibri" pitchFamily="34" charset="-122"/>
                <a:cs typeface="Calibri" pitchFamily="34" charset="-120"/>
              </a:rPr>
              <a:t>Smart-DIDs assigned</a:t>
            </a:r>
            <a:endParaRPr lang="en-US" sz="1200" dirty="0"/>
          </a:p>
          <a:p>
            <a:pPr indent="0" marL="0">
              <a:lnSpc>
                <a:spcPts val="1600"/>
              </a:lnSpc>
              <a:buNone/>
            </a:pPr>
            <a:r>
              <a:rPr lang="en-US" sz="1200" dirty="0">
                <a:solidFill>
                  <a:srgbClr val="8FA3C0"/>
                </a:solidFill>
                <a:latin typeface="Calibri" pitchFamily="34" charset="0"/>
                <a:ea typeface="Calibri" pitchFamily="34" charset="-122"/>
                <a:cs typeface="Calibri" pitchFamily="34" charset="-120"/>
              </a:rPr>
              <a:t>to the 786-400 block</a:t>
            </a:r>
            <a:endParaRPr lang="en-US" sz="1200" dirty="0"/>
          </a:p>
        </p:txBody>
      </p:sp>
      <p:sp>
        <p:nvSpPr>
          <p:cNvPr id="8" name="Shape 6"/>
          <p:cNvSpPr/>
          <p:nvPr/>
        </p:nvSpPr>
        <p:spPr>
          <a:xfrm>
            <a:off x="3438144" y="2743200"/>
            <a:ext cx="2523744" cy="1700784"/>
          </a:xfrm>
          <a:prstGeom prst="roundRect">
            <a:avLst>
              <a:gd name="adj" fmla="val 6452"/>
            </a:avLst>
          </a:prstGeom>
          <a:solidFill>
            <a:srgbClr val="101A33"/>
          </a:solidFill>
          <a:ln w="12700">
            <a:solidFill>
              <a:srgbClr val="1E2E4A"/>
            </a:solidFill>
            <a:prstDash val="solid"/>
          </a:ln>
        </p:spPr>
      </p:sp>
      <p:sp>
        <p:nvSpPr>
          <p:cNvPr id="9" name="Text 7"/>
          <p:cNvSpPr/>
          <p:nvPr/>
        </p:nvSpPr>
        <p:spPr>
          <a:xfrm>
            <a:off x="3694176" y="2962656"/>
            <a:ext cx="2066544" cy="640080"/>
          </a:xfrm>
          <a:prstGeom prst="rect">
            <a:avLst/>
          </a:prstGeom>
          <a:noFill/>
          <a:ln/>
        </p:spPr>
        <p:txBody>
          <a:bodyPr wrap="square" lIns="0" tIns="0" rIns="0" bIns="0" rtlCol="0" anchor="ctr"/>
          <a:lstStyle/>
          <a:p>
            <a:pPr indent="0" marL="0">
              <a:buNone/>
            </a:pPr>
            <a:r>
              <a:rPr lang="en-US" sz="4000" b="1" spc="-100" kern="0" dirty="0">
                <a:solidFill>
                  <a:srgbClr val="00FF88"/>
                </a:solidFill>
                <a:latin typeface="Calibri" pitchFamily="34" charset="0"/>
                <a:ea typeface="Calibri" pitchFamily="34" charset="-122"/>
                <a:cs typeface="Calibri" pitchFamily="34" charset="-120"/>
              </a:rPr>
              <a:t>$22.95</a:t>
            </a:r>
            <a:endParaRPr lang="en-US" sz="4000" dirty="0"/>
          </a:p>
        </p:txBody>
      </p:sp>
      <p:sp>
        <p:nvSpPr>
          <p:cNvPr id="10" name="Text 8"/>
          <p:cNvSpPr/>
          <p:nvPr/>
        </p:nvSpPr>
        <p:spPr>
          <a:xfrm>
            <a:off x="3694176" y="3675888"/>
            <a:ext cx="2066544" cy="603504"/>
          </a:xfrm>
          <a:prstGeom prst="rect">
            <a:avLst/>
          </a:prstGeom>
          <a:noFill/>
          <a:ln/>
        </p:spPr>
        <p:txBody>
          <a:bodyPr wrap="square" lIns="0" tIns="0" rIns="0" bIns="0" rtlCol="0" anchor="ctr"/>
          <a:lstStyle/>
          <a:p>
            <a:pPr indent="0" marL="0">
              <a:lnSpc>
                <a:spcPts val="1600"/>
              </a:lnSpc>
              <a:buNone/>
            </a:pPr>
            <a:r>
              <a:rPr lang="en-US" sz="1200" dirty="0">
                <a:solidFill>
                  <a:srgbClr val="8FA3C0"/>
                </a:solidFill>
                <a:latin typeface="Calibri" pitchFamily="34" charset="0"/>
                <a:ea typeface="Calibri" pitchFamily="34" charset="-122"/>
                <a:cs typeface="Calibri" pitchFamily="34" charset="-120"/>
              </a:rPr>
              <a:t>Per line, per month</a:t>
            </a:r>
            <a:endParaRPr lang="en-US" sz="1200" dirty="0"/>
          </a:p>
          <a:p>
            <a:pPr indent="0" marL="0">
              <a:lnSpc>
                <a:spcPts val="1600"/>
              </a:lnSpc>
              <a:buNone/>
            </a:pPr>
            <a:r>
              <a:rPr lang="en-US" sz="1200" dirty="0">
                <a:solidFill>
                  <a:srgbClr val="8FA3C0"/>
                </a:solidFill>
                <a:latin typeface="Calibri" pitchFamily="34" charset="0"/>
                <a:ea typeface="Calibri" pitchFamily="34" charset="-122"/>
                <a:cs typeface="Calibri" pitchFamily="34" charset="-120"/>
              </a:rPr>
              <a:t>all-in, no setup</a:t>
            </a:r>
            <a:endParaRPr lang="en-US" sz="1200" dirty="0"/>
          </a:p>
        </p:txBody>
      </p:sp>
      <p:sp>
        <p:nvSpPr>
          <p:cNvPr id="11" name="Shape 9"/>
          <p:cNvSpPr/>
          <p:nvPr/>
        </p:nvSpPr>
        <p:spPr>
          <a:xfrm>
            <a:off x="6217920" y="2743200"/>
            <a:ext cx="2523744" cy="1700784"/>
          </a:xfrm>
          <a:prstGeom prst="roundRect">
            <a:avLst>
              <a:gd name="adj" fmla="val 6452"/>
            </a:avLst>
          </a:prstGeom>
          <a:solidFill>
            <a:srgbClr val="101A33"/>
          </a:solidFill>
          <a:ln w="12700">
            <a:solidFill>
              <a:srgbClr val="1E2E4A"/>
            </a:solidFill>
            <a:prstDash val="solid"/>
          </a:ln>
        </p:spPr>
      </p:sp>
      <p:sp>
        <p:nvSpPr>
          <p:cNvPr id="12" name="Text 10"/>
          <p:cNvSpPr/>
          <p:nvPr/>
        </p:nvSpPr>
        <p:spPr>
          <a:xfrm>
            <a:off x="6473952" y="2962656"/>
            <a:ext cx="2066544" cy="640080"/>
          </a:xfrm>
          <a:prstGeom prst="rect">
            <a:avLst/>
          </a:prstGeom>
          <a:noFill/>
          <a:ln/>
        </p:spPr>
        <p:txBody>
          <a:bodyPr wrap="square" lIns="0" tIns="0" rIns="0" bIns="0" rtlCol="0" anchor="ctr"/>
          <a:lstStyle/>
          <a:p>
            <a:pPr indent="0" marL="0">
              <a:buNone/>
            </a:pPr>
            <a:r>
              <a:rPr lang="en-US" sz="4000" b="1" spc="-100" kern="0" dirty="0">
                <a:solidFill>
                  <a:srgbClr val="FFC24B"/>
                </a:solidFill>
                <a:latin typeface="Calibri" pitchFamily="34" charset="0"/>
                <a:ea typeface="Calibri" pitchFamily="34" charset="-122"/>
                <a:cs typeface="Calibri" pitchFamily="34" charset="-120"/>
              </a:rPr>
              <a:t>4</a:t>
            </a:r>
            <a:endParaRPr lang="en-US" sz="4000" dirty="0"/>
          </a:p>
        </p:txBody>
      </p:sp>
      <p:sp>
        <p:nvSpPr>
          <p:cNvPr id="13" name="Text 11"/>
          <p:cNvSpPr/>
          <p:nvPr/>
        </p:nvSpPr>
        <p:spPr>
          <a:xfrm>
            <a:off x="6473952" y="3675888"/>
            <a:ext cx="2066544" cy="603504"/>
          </a:xfrm>
          <a:prstGeom prst="rect">
            <a:avLst/>
          </a:prstGeom>
          <a:noFill/>
          <a:ln/>
        </p:spPr>
        <p:txBody>
          <a:bodyPr wrap="square" lIns="0" tIns="0" rIns="0" bIns="0" rtlCol="0" anchor="ctr"/>
          <a:lstStyle/>
          <a:p>
            <a:pPr indent="0" marL="0">
              <a:lnSpc>
                <a:spcPts val="1600"/>
              </a:lnSpc>
              <a:buNone/>
            </a:pPr>
            <a:r>
              <a:rPr lang="en-US" sz="1200" dirty="0">
                <a:solidFill>
                  <a:srgbClr val="8FA3C0"/>
                </a:solidFill>
                <a:latin typeface="Calibri" pitchFamily="34" charset="0"/>
                <a:ea typeface="Calibri" pitchFamily="34" charset="-122"/>
                <a:cs typeface="Calibri" pitchFamily="34" charset="-120"/>
              </a:rPr>
              <a:t>Funnel sites</a:t>
            </a:r>
            <a:endParaRPr lang="en-US" sz="1200" dirty="0"/>
          </a:p>
          <a:p>
            <a:pPr indent="0" marL="0">
              <a:lnSpc>
                <a:spcPts val="1600"/>
              </a:lnSpc>
              <a:buNone/>
            </a:pPr>
            <a:r>
              <a:rPr lang="en-US" sz="1200" dirty="0">
                <a:solidFill>
                  <a:srgbClr val="8FA3C0"/>
                </a:solidFill>
                <a:latin typeface="Calibri" pitchFamily="34" charset="0"/>
                <a:ea typeface="Calibri" pitchFamily="34" charset="-122"/>
                <a:cs typeface="Calibri" pitchFamily="34" charset="-120"/>
              </a:rPr>
              <a:t>built and staged</a:t>
            </a:r>
            <a:endParaRPr lang="en-US" sz="1200" dirty="0"/>
          </a:p>
        </p:txBody>
      </p:sp>
      <p:sp>
        <p:nvSpPr>
          <p:cNvPr id="14" name="Shape 12"/>
          <p:cNvSpPr/>
          <p:nvPr/>
        </p:nvSpPr>
        <p:spPr>
          <a:xfrm>
            <a:off x="8997696" y="2743200"/>
            <a:ext cx="2523744" cy="1700784"/>
          </a:xfrm>
          <a:prstGeom prst="roundRect">
            <a:avLst>
              <a:gd name="adj" fmla="val 6452"/>
            </a:avLst>
          </a:prstGeom>
          <a:solidFill>
            <a:srgbClr val="101A33"/>
          </a:solidFill>
          <a:ln w="12700">
            <a:solidFill>
              <a:srgbClr val="1E2E4A"/>
            </a:solidFill>
            <a:prstDash val="solid"/>
          </a:ln>
        </p:spPr>
      </p:sp>
      <p:sp>
        <p:nvSpPr>
          <p:cNvPr id="15" name="Text 13"/>
          <p:cNvSpPr/>
          <p:nvPr/>
        </p:nvSpPr>
        <p:spPr>
          <a:xfrm>
            <a:off x="9253728" y="2962656"/>
            <a:ext cx="2066544" cy="640080"/>
          </a:xfrm>
          <a:prstGeom prst="rect">
            <a:avLst/>
          </a:prstGeom>
          <a:noFill/>
          <a:ln/>
        </p:spPr>
        <p:txBody>
          <a:bodyPr wrap="square" lIns="0" tIns="0" rIns="0" bIns="0" rtlCol="0" anchor="ctr"/>
          <a:lstStyle/>
          <a:p>
            <a:pPr indent="0" marL="0">
              <a:buNone/>
            </a:pPr>
            <a:r>
              <a:rPr lang="en-US" sz="4000" b="1" spc="-100" kern="0" dirty="0">
                <a:solidFill>
                  <a:srgbClr val="FF7A45"/>
                </a:solidFill>
                <a:latin typeface="Calibri" pitchFamily="34" charset="0"/>
                <a:ea typeface="Calibri" pitchFamily="34" charset="-122"/>
                <a:cs typeface="Calibri" pitchFamily="34" charset="-120"/>
              </a:rPr>
              <a:t>2</a:t>
            </a:r>
            <a:endParaRPr lang="en-US" sz="4000" dirty="0"/>
          </a:p>
        </p:txBody>
      </p:sp>
      <p:sp>
        <p:nvSpPr>
          <p:cNvPr id="16" name="Text 14"/>
          <p:cNvSpPr/>
          <p:nvPr/>
        </p:nvSpPr>
        <p:spPr>
          <a:xfrm>
            <a:off x="9253728" y="3675888"/>
            <a:ext cx="2066544" cy="603504"/>
          </a:xfrm>
          <a:prstGeom prst="rect">
            <a:avLst/>
          </a:prstGeom>
          <a:noFill/>
          <a:ln/>
        </p:spPr>
        <p:txBody>
          <a:bodyPr wrap="square" lIns="0" tIns="0" rIns="0" bIns="0" rtlCol="0" anchor="ctr"/>
          <a:lstStyle/>
          <a:p>
            <a:pPr indent="0" marL="0">
              <a:lnSpc>
                <a:spcPts val="1600"/>
              </a:lnSpc>
              <a:buNone/>
            </a:pPr>
            <a:r>
              <a:rPr lang="en-US" sz="1200" dirty="0">
                <a:solidFill>
                  <a:srgbClr val="8FA3C0"/>
                </a:solidFill>
                <a:latin typeface="Calibri" pitchFamily="34" charset="0"/>
                <a:ea typeface="Calibri" pitchFamily="34" charset="-122"/>
                <a:cs typeface="Calibri" pitchFamily="34" charset="-120"/>
              </a:rPr>
              <a:t>Markets loaded</a:t>
            </a:r>
            <a:endParaRPr lang="en-US" sz="1200" dirty="0"/>
          </a:p>
          <a:p>
            <a:pPr indent="0" marL="0">
              <a:lnSpc>
                <a:spcPts val="1600"/>
              </a:lnSpc>
              <a:buNone/>
            </a:pPr>
            <a:r>
              <a:rPr lang="en-US" sz="1200" dirty="0">
                <a:solidFill>
                  <a:srgbClr val="8FA3C0"/>
                </a:solidFill>
                <a:latin typeface="Calibri" pitchFamily="34" charset="0"/>
                <a:ea typeface="Calibri" pitchFamily="34" charset="-122"/>
                <a:cs typeface="Calibri" pitchFamily="34" charset="-120"/>
              </a:rPr>
              <a:t>Orlando + South Florida</a:t>
            </a:r>
            <a:endParaRPr lang="en-US" sz="1200" dirty="0"/>
          </a:p>
        </p:txBody>
      </p:sp>
      <p:sp>
        <p:nvSpPr>
          <p:cNvPr id="17" name="Text 15"/>
          <p:cNvSpPr/>
          <p:nvPr/>
        </p:nvSpPr>
        <p:spPr>
          <a:xfrm>
            <a:off x="658368" y="4901184"/>
            <a:ext cx="10872216" cy="365760"/>
          </a:xfrm>
          <a:prstGeom prst="rect">
            <a:avLst/>
          </a:prstGeom>
          <a:noFill/>
          <a:ln/>
        </p:spPr>
        <p:txBody>
          <a:bodyPr wrap="square" lIns="0" tIns="0" rIns="0" bIns="0" rtlCol="0" anchor="ctr"/>
          <a:lstStyle/>
          <a:p>
            <a:pPr indent="0" marL="0">
              <a:buNone/>
            </a:pPr>
            <a:r>
              <a:rPr lang="en-US" sz="1600" i="1" dirty="0">
                <a:solidFill>
                  <a:srgbClr val="EAF2FF"/>
                </a:solidFill>
                <a:latin typeface="Calibri" pitchFamily="34" charset="0"/>
                <a:ea typeface="Calibri" pitchFamily="34" charset="-122"/>
                <a:cs typeface="Calibri" pitchFamily="34" charset="-120"/>
              </a:rPr>
              <a:t>The narrative is mold, water damage, and roofing — the work that repeats, insures cleanly, and books fast.</a:t>
            </a:r>
            <a:endParaRPr lang="en-US" sz="1600" dirty="0"/>
          </a:p>
        </p:txBody>
      </p:sp>
      <p:sp>
        <p:nvSpPr>
          <p:cNvPr id="18" name="Text 16"/>
          <p:cNvSpPr/>
          <p:nvPr/>
        </p:nvSpPr>
        <p:spPr>
          <a:xfrm>
            <a:off x="658368" y="6291072"/>
            <a:ext cx="10872216" cy="237744"/>
          </a:xfrm>
          <a:prstGeom prst="rect">
            <a:avLst/>
          </a:prstGeom>
          <a:noFill/>
          <a:ln/>
        </p:spPr>
        <p:txBody>
          <a:bodyPr wrap="square" lIns="0" tIns="0" rIns="0" bIns="0" rtlCol="0" anchor="ctr"/>
          <a:lstStyle/>
          <a:p>
            <a:pPr indent="0" marL="0">
              <a:buNone/>
            </a:pPr>
            <a:r>
              <a:rPr lang="en-US" sz="900" dirty="0">
                <a:solidFill>
                  <a:srgbClr val="54658A"/>
                </a:solidFill>
                <a:latin typeface="Calibri" pitchFamily="34" charset="0"/>
                <a:ea typeface="Calibri" pitchFamily="34" charset="-122"/>
                <a:cs typeface="Calibri" pitchFamily="34" charset="-120"/>
              </a:rPr>
              <a:t>Telvergence, Inc.  ·  Confidential — prepared for Jimmy Mejia</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C18"/>
        </a:solidFill>
      </p:bgPr>
    </p:bg>
    <p:spTree>
      <p:nvGrpSpPr>
        <p:cNvPr id="1" name=""/>
        <p:cNvGrpSpPr/>
        <p:nvPr/>
      </p:nvGrpSpPr>
      <p:grpSpPr>
        <a:xfrm>
          <a:off x="0" y="0"/>
          <a:ext cx="0" cy="0"/>
          <a:chOff x="0" y="0"/>
          <a:chExt cx="0" cy="0"/>
        </a:xfrm>
      </p:grpSpPr>
      <p:sp>
        <p:nvSpPr>
          <p:cNvPr id="2" name="Text 0"/>
          <p:cNvSpPr/>
          <p:nvPr/>
        </p:nvSpPr>
        <p:spPr>
          <a:xfrm>
            <a:off x="658368" y="457200"/>
            <a:ext cx="10872216" cy="256032"/>
          </a:xfrm>
          <a:prstGeom prst="rect">
            <a:avLst/>
          </a:prstGeom>
          <a:noFill/>
          <a:ln/>
        </p:spPr>
        <p:txBody>
          <a:bodyPr wrap="square" lIns="0" tIns="0" rIns="0" bIns="0" rtlCol="0" anchor="ctr"/>
          <a:lstStyle/>
          <a:p>
            <a:pPr indent="0" marL="0">
              <a:buNone/>
            </a:pPr>
            <a:r>
              <a:rPr lang="en-US" sz="1100" b="1" spc="240" kern="0" dirty="0">
                <a:solidFill>
                  <a:srgbClr val="00D4FF"/>
                </a:solidFill>
                <a:latin typeface="Calibri" pitchFamily="34" charset="0"/>
                <a:ea typeface="Calibri" pitchFamily="34" charset="-122"/>
                <a:cs typeface="Calibri" pitchFamily="34" charset="-120"/>
              </a:rPr>
              <a:t>PHASE LOG · PART ONE</a:t>
            </a:r>
            <a:endParaRPr lang="en-US" sz="1100" dirty="0"/>
          </a:p>
        </p:txBody>
      </p:sp>
      <p:sp>
        <p:nvSpPr>
          <p:cNvPr id="3" name="Text 1"/>
          <p:cNvSpPr/>
          <p:nvPr/>
        </p:nvSpPr>
        <p:spPr>
          <a:xfrm>
            <a:off x="658368" y="786384"/>
            <a:ext cx="10872216" cy="822960"/>
          </a:xfrm>
          <a:prstGeom prst="rect">
            <a:avLst/>
          </a:prstGeom>
          <a:noFill/>
          <a:ln/>
        </p:spPr>
        <p:txBody>
          <a:bodyPr wrap="square" lIns="0" tIns="0" rIns="0" bIns="0" rtlCol="0" anchor="ctr"/>
          <a:lstStyle/>
          <a:p>
            <a:pPr indent="0" marL="0">
              <a:buNone/>
            </a:pPr>
            <a:r>
              <a:rPr lang="en-US" sz="3400" b="1" spc="-40" kern="0" dirty="0">
                <a:solidFill>
                  <a:srgbClr val="EAF2FF"/>
                </a:solidFill>
                <a:latin typeface="Calibri" pitchFamily="34" charset="0"/>
                <a:ea typeface="Calibri" pitchFamily="34" charset="-122"/>
                <a:cs typeface="Calibri" pitchFamily="34" charset="-120"/>
              </a:rPr>
              <a:t>What got built — Thursday and Friday</a:t>
            </a:r>
            <a:endParaRPr lang="en-US" sz="3400" dirty="0"/>
          </a:p>
        </p:txBody>
      </p:sp>
      <p:sp>
        <p:nvSpPr>
          <p:cNvPr id="4" name="Shape 2"/>
          <p:cNvSpPr/>
          <p:nvPr/>
        </p:nvSpPr>
        <p:spPr>
          <a:xfrm>
            <a:off x="658368" y="1883664"/>
            <a:ext cx="402336" cy="402336"/>
          </a:xfrm>
          <a:prstGeom prst="ellipse">
            <a:avLst/>
          </a:prstGeom>
          <a:solidFill>
            <a:srgbClr val="16233F"/>
          </a:solidFill>
          <a:ln w="15875">
            <a:solidFill>
              <a:srgbClr val="00D4FF"/>
            </a:solidFill>
            <a:prstDash val="solid"/>
          </a:ln>
        </p:spPr>
      </p:sp>
      <p:sp>
        <p:nvSpPr>
          <p:cNvPr id="5" name="Text 3"/>
          <p:cNvSpPr/>
          <p:nvPr/>
        </p:nvSpPr>
        <p:spPr>
          <a:xfrm>
            <a:off x="658368" y="1883664"/>
            <a:ext cx="402336" cy="402336"/>
          </a:xfrm>
          <a:prstGeom prst="rect">
            <a:avLst/>
          </a:prstGeom>
          <a:noFill/>
          <a:ln/>
        </p:spPr>
        <p:txBody>
          <a:bodyPr wrap="square" lIns="0" tIns="0" rIns="0" bIns="0" rtlCol="0" anchor="ctr"/>
          <a:lstStyle/>
          <a:p>
            <a:pPr algn="ctr" indent="0" marL="0">
              <a:buNone/>
            </a:pPr>
            <a:r>
              <a:rPr lang="en-US" sz="1500" b="1" dirty="0">
                <a:solidFill>
                  <a:srgbClr val="00D4FF"/>
                </a:solidFill>
                <a:latin typeface="Calibri" pitchFamily="34" charset="0"/>
                <a:ea typeface="Calibri" pitchFamily="34" charset="-122"/>
                <a:cs typeface="Calibri" pitchFamily="34" charset="-120"/>
              </a:rPr>
              <a:t>1</a:t>
            </a:r>
            <a:endParaRPr lang="en-US" sz="1500" dirty="0"/>
          </a:p>
        </p:txBody>
      </p:sp>
      <p:sp>
        <p:nvSpPr>
          <p:cNvPr id="6" name="Text 4"/>
          <p:cNvSpPr/>
          <p:nvPr/>
        </p:nvSpPr>
        <p:spPr>
          <a:xfrm>
            <a:off x="1316736" y="1828800"/>
            <a:ext cx="2743200" cy="201168"/>
          </a:xfrm>
          <a:prstGeom prst="rect">
            <a:avLst/>
          </a:prstGeom>
          <a:noFill/>
          <a:ln/>
        </p:spPr>
        <p:txBody>
          <a:bodyPr wrap="square" lIns="0" tIns="0" rIns="0" bIns="0" rtlCol="0" anchor="ctr"/>
          <a:lstStyle/>
          <a:p>
            <a:pPr indent="0" marL="0">
              <a:buNone/>
            </a:pPr>
            <a:r>
              <a:rPr lang="en-US" sz="950" b="1" spc="160" kern="0" dirty="0">
                <a:solidFill>
                  <a:srgbClr val="FFC24B"/>
                </a:solidFill>
                <a:latin typeface="Calibri" pitchFamily="34" charset="0"/>
                <a:ea typeface="Calibri" pitchFamily="34" charset="-122"/>
                <a:cs typeface="Calibri" pitchFamily="34" charset="-120"/>
              </a:rPr>
              <a:t>DAY 1 — THURSDAY</a:t>
            </a:r>
            <a:endParaRPr lang="en-US" sz="950" dirty="0"/>
          </a:p>
        </p:txBody>
      </p:sp>
      <p:sp>
        <p:nvSpPr>
          <p:cNvPr id="7" name="Text 5"/>
          <p:cNvSpPr/>
          <p:nvPr/>
        </p:nvSpPr>
        <p:spPr>
          <a:xfrm>
            <a:off x="1316736" y="2011680"/>
            <a:ext cx="3931920" cy="274320"/>
          </a:xfrm>
          <a:prstGeom prst="rect">
            <a:avLst/>
          </a:prstGeom>
          <a:noFill/>
          <a:ln/>
        </p:spPr>
        <p:txBody>
          <a:bodyPr wrap="square" lIns="0" tIns="0" rIns="0" bIns="0" rtlCol="0" anchor="ctr"/>
          <a:lstStyle/>
          <a:p>
            <a:pPr indent="0" marL="0">
              <a:buNone/>
            </a:pPr>
            <a:r>
              <a:rPr lang="en-US" sz="1600" b="1" dirty="0">
                <a:solidFill>
                  <a:srgbClr val="EAF2FF"/>
                </a:solidFill>
                <a:latin typeface="Calibri" pitchFamily="34" charset="0"/>
                <a:ea typeface="Calibri" pitchFamily="34" charset="-122"/>
                <a:cs typeface="Calibri" pitchFamily="34" charset="-120"/>
              </a:rPr>
              <a:t>Accuracy pass</a:t>
            </a:r>
            <a:endParaRPr lang="en-US" sz="1600" dirty="0"/>
          </a:p>
        </p:txBody>
      </p:sp>
      <p:sp>
        <p:nvSpPr>
          <p:cNvPr id="8" name="Text 6"/>
          <p:cNvSpPr/>
          <p:nvPr/>
        </p:nvSpPr>
        <p:spPr>
          <a:xfrm>
            <a:off x="5367528" y="1847088"/>
            <a:ext cx="6163056" cy="786384"/>
          </a:xfrm>
          <a:prstGeom prst="rect">
            <a:avLst/>
          </a:prstGeom>
          <a:noFill/>
          <a:ln/>
        </p:spPr>
        <p:txBody>
          <a:bodyPr wrap="square" lIns="0" tIns="0" rIns="0" bIns="0" rtlCol="0" anchor="ctr"/>
          <a:lstStyle/>
          <a:p>
            <a:pPr indent="0" marL="0">
              <a:lnSpc>
                <a:spcPts val="1600"/>
              </a:lnSpc>
              <a:buNone/>
            </a:pPr>
            <a:r>
              <a:rPr lang="en-US" sz="1200" dirty="0">
                <a:solidFill>
                  <a:srgbClr val="8FA3C0"/>
                </a:solidFill>
                <a:latin typeface="Calibri" pitchFamily="34" charset="0"/>
                <a:ea typeface="Calibri" pitchFamily="34" charset="-122"/>
                <a:cs typeface="Calibri" pitchFamily="34" charset="-120"/>
              </a:rPr>
              <a:t>Every Restoration Royalty and FAST document, LOA, script, and call list pulled into one verified fact sheet. Legal names, service area, number block, and price all locked to a source document.</a:t>
            </a:r>
            <a:endParaRPr lang="en-US" sz="1200" dirty="0"/>
          </a:p>
        </p:txBody>
      </p:sp>
      <p:sp>
        <p:nvSpPr>
          <p:cNvPr id="9" name="Shape 7"/>
          <p:cNvSpPr/>
          <p:nvPr/>
        </p:nvSpPr>
        <p:spPr>
          <a:xfrm>
            <a:off x="658368" y="2816352"/>
            <a:ext cx="402336" cy="402336"/>
          </a:xfrm>
          <a:prstGeom prst="ellipse">
            <a:avLst/>
          </a:prstGeom>
          <a:solidFill>
            <a:srgbClr val="16233F"/>
          </a:solidFill>
          <a:ln w="15875">
            <a:solidFill>
              <a:srgbClr val="00D4FF"/>
            </a:solidFill>
            <a:prstDash val="solid"/>
          </a:ln>
        </p:spPr>
      </p:sp>
      <p:sp>
        <p:nvSpPr>
          <p:cNvPr id="10" name="Text 8"/>
          <p:cNvSpPr/>
          <p:nvPr/>
        </p:nvSpPr>
        <p:spPr>
          <a:xfrm>
            <a:off x="658368" y="2816352"/>
            <a:ext cx="402336" cy="402336"/>
          </a:xfrm>
          <a:prstGeom prst="rect">
            <a:avLst/>
          </a:prstGeom>
          <a:noFill/>
          <a:ln/>
        </p:spPr>
        <p:txBody>
          <a:bodyPr wrap="square" lIns="0" tIns="0" rIns="0" bIns="0" rtlCol="0" anchor="ctr"/>
          <a:lstStyle/>
          <a:p>
            <a:pPr algn="ctr" indent="0" marL="0">
              <a:buNone/>
            </a:pPr>
            <a:r>
              <a:rPr lang="en-US" sz="1500" b="1" dirty="0">
                <a:solidFill>
                  <a:srgbClr val="00D4FF"/>
                </a:solidFill>
                <a:latin typeface="Calibri" pitchFamily="34" charset="0"/>
                <a:ea typeface="Calibri" pitchFamily="34" charset="-122"/>
                <a:cs typeface="Calibri" pitchFamily="34" charset="-120"/>
              </a:rPr>
              <a:t>2</a:t>
            </a:r>
            <a:endParaRPr lang="en-US" sz="1500" dirty="0"/>
          </a:p>
        </p:txBody>
      </p:sp>
      <p:sp>
        <p:nvSpPr>
          <p:cNvPr id="11" name="Text 9"/>
          <p:cNvSpPr/>
          <p:nvPr/>
        </p:nvSpPr>
        <p:spPr>
          <a:xfrm>
            <a:off x="1316736" y="2761488"/>
            <a:ext cx="2743200" cy="201168"/>
          </a:xfrm>
          <a:prstGeom prst="rect">
            <a:avLst/>
          </a:prstGeom>
          <a:noFill/>
          <a:ln/>
        </p:spPr>
        <p:txBody>
          <a:bodyPr wrap="square" lIns="0" tIns="0" rIns="0" bIns="0" rtlCol="0" anchor="ctr"/>
          <a:lstStyle/>
          <a:p>
            <a:pPr indent="0" marL="0">
              <a:buNone/>
            </a:pPr>
            <a:r>
              <a:rPr lang="en-US" sz="950" b="1" spc="160" kern="0" dirty="0">
                <a:solidFill>
                  <a:srgbClr val="FFC24B"/>
                </a:solidFill>
                <a:latin typeface="Calibri" pitchFamily="34" charset="0"/>
                <a:ea typeface="Calibri" pitchFamily="34" charset="-122"/>
                <a:cs typeface="Calibri" pitchFamily="34" charset="-120"/>
              </a:rPr>
              <a:t>DAY 1 — THURSDAY</a:t>
            </a:r>
            <a:endParaRPr lang="en-US" sz="950" dirty="0"/>
          </a:p>
        </p:txBody>
      </p:sp>
      <p:sp>
        <p:nvSpPr>
          <p:cNvPr id="12" name="Text 10"/>
          <p:cNvSpPr/>
          <p:nvPr/>
        </p:nvSpPr>
        <p:spPr>
          <a:xfrm>
            <a:off x="1316736" y="2944368"/>
            <a:ext cx="3931920" cy="274320"/>
          </a:xfrm>
          <a:prstGeom prst="rect">
            <a:avLst/>
          </a:prstGeom>
          <a:noFill/>
          <a:ln/>
        </p:spPr>
        <p:txBody>
          <a:bodyPr wrap="square" lIns="0" tIns="0" rIns="0" bIns="0" rtlCol="0" anchor="ctr"/>
          <a:lstStyle/>
          <a:p>
            <a:pPr indent="0" marL="0">
              <a:buNone/>
            </a:pPr>
            <a:r>
              <a:rPr lang="en-US" sz="1600" b="1" dirty="0">
                <a:solidFill>
                  <a:srgbClr val="EAF2FF"/>
                </a:solidFill>
                <a:latin typeface="Calibri" pitchFamily="34" charset="0"/>
                <a:ea typeface="Calibri" pitchFamily="34" charset="-122"/>
                <a:cs typeface="Calibri" pitchFamily="34" charset="-120"/>
              </a:rPr>
              <a:t>Restoration Royalty funnel</a:t>
            </a:r>
            <a:endParaRPr lang="en-US" sz="1600" dirty="0"/>
          </a:p>
        </p:txBody>
      </p:sp>
      <p:sp>
        <p:nvSpPr>
          <p:cNvPr id="13" name="Text 11"/>
          <p:cNvSpPr/>
          <p:nvPr/>
        </p:nvSpPr>
        <p:spPr>
          <a:xfrm>
            <a:off x="5367528" y="2779776"/>
            <a:ext cx="6163056" cy="786384"/>
          </a:xfrm>
          <a:prstGeom prst="rect">
            <a:avLst/>
          </a:prstGeom>
          <a:noFill/>
          <a:ln/>
        </p:spPr>
        <p:txBody>
          <a:bodyPr wrap="square" lIns="0" tIns="0" rIns="0" bIns="0" rtlCol="0" anchor="ctr"/>
          <a:lstStyle/>
          <a:p>
            <a:pPr indent="0" marL="0">
              <a:lnSpc>
                <a:spcPts val="1600"/>
              </a:lnSpc>
              <a:buNone/>
            </a:pPr>
            <a:r>
              <a:rPr lang="en-US" sz="1200" dirty="0">
                <a:solidFill>
                  <a:srgbClr val="8FA3C0"/>
                </a:solidFill>
                <a:latin typeface="Calibri" pitchFamily="34" charset="0"/>
                <a:ea typeface="Calibri" pitchFamily="34" charset="-122"/>
                <a:cs typeface="Calibri" pitchFamily="34" charset="-120"/>
              </a:rPr>
              <a:t>The core site: mold, water damage, and roofing across South Florida. Ten-number grid, 24/7 intake, insurance-documented workflow, free assessment as the call to action.</a:t>
            </a:r>
            <a:endParaRPr lang="en-US" sz="1200" dirty="0"/>
          </a:p>
        </p:txBody>
      </p:sp>
      <p:sp>
        <p:nvSpPr>
          <p:cNvPr id="14" name="Shape 12"/>
          <p:cNvSpPr/>
          <p:nvPr/>
        </p:nvSpPr>
        <p:spPr>
          <a:xfrm>
            <a:off x="658368" y="3749040"/>
            <a:ext cx="402336" cy="402336"/>
          </a:xfrm>
          <a:prstGeom prst="ellipse">
            <a:avLst/>
          </a:prstGeom>
          <a:solidFill>
            <a:srgbClr val="16233F"/>
          </a:solidFill>
          <a:ln w="15875">
            <a:solidFill>
              <a:srgbClr val="00D4FF"/>
            </a:solidFill>
            <a:prstDash val="solid"/>
          </a:ln>
        </p:spPr>
      </p:sp>
      <p:sp>
        <p:nvSpPr>
          <p:cNvPr id="15" name="Text 13"/>
          <p:cNvSpPr/>
          <p:nvPr/>
        </p:nvSpPr>
        <p:spPr>
          <a:xfrm>
            <a:off x="658368" y="3749040"/>
            <a:ext cx="402336" cy="402336"/>
          </a:xfrm>
          <a:prstGeom prst="rect">
            <a:avLst/>
          </a:prstGeom>
          <a:noFill/>
          <a:ln/>
        </p:spPr>
        <p:txBody>
          <a:bodyPr wrap="square" lIns="0" tIns="0" rIns="0" bIns="0" rtlCol="0" anchor="ctr"/>
          <a:lstStyle/>
          <a:p>
            <a:pPr algn="ctr" indent="0" marL="0">
              <a:buNone/>
            </a:pPr>
            <a:r>
              <a:rPr lang="en-US" sz="1500" b="1" dirty="0">
                <a:solidFill>
                  <a:srgbClr val="00D4FF"/>
                </a:solidFill>
                <a:latin typeface="Calibri" pitchFamily="34" charset="0"/>
                <a:ea typeface="Calibri" pitchFamily="34" charset="-122"/>
                <a:cs typeface="Calibri" pitchFamily="34" charset="-120"/>
              </a:rPr>
              <a:t>3</a:t>
            </a:r>
            <a:endParaRPr lang="en-US" sz="1500" dirty="0"/>
          </a:p>
        </p:txBody>
      </p:sp>
      <p:sp>
        <p:nvSpPr>
          <p:cNvPr id="16" name="Text 14"/>
          <p:cNvSpPr/>
          <p:nvPr/>
        </p:nvSpPr>
        <p:spPr>
          <a:xfrm>
            <a:off x="1316736" y="3694176"/>
            <a:ext cx="2743200" cy="201168"/>
          </a:xfrm>
          <a:prstGeom prst="rect">
            <a:avLst/>
          </a:prstGeom>
          <a:noFill/>
          <a:ln/>
        </p:spPr>
        <p:txBody>
          <a:bodyPr wrap="square" lIns="0" tIns="0" rIns="0" bIns="0" rtlCol="0" anchor="ctr"/>
          <a:lstStyle/>
          <a:p>
            <a:pPr indent="0" marL="0">
              <a:buNone/>
            </a:pPr>
            <a:r>
              <a:rPr lang="en-US" sz="950" b="1" spc="160" kern="0" dirty="0">
                <a:solidFill>
                  <a:srgbClr val="FFC24B"/>
                </a:solidFill>
                <a:latin typeface="Calibri" pitchFamily="34" charset="0"/>
                <a:ea typeface="Calibri" pitchFamily="34" charset="-122"/>
                <a:cs typeface="Calibri" pitchFamily="34" charset="-120"/>
              </a:rPr>
              <a:t>DAY 2 — FRIDAY</a:t>
            </a:r>
            <a:endParaRPr lang="en-US" sz="950" dirty="0"/>
          </a:p>
        </p:txBody>
      </p:sp>
      <p:sp>
        <p:nvSpPr>
          <p:cNvPr id="17" name="Text 15"/>
          <p:cNvSpPr/>
          <p:nvPr/>
        </p:nvSpPr>
        <p:spPr>
          <a:xfrm>
            <a:off x="1316736" y="3877056"/>
            <a:ext cx="3931920" cy="274320"/>
          </a:xfrm>
          <a:prstGeom prst="rect">
            <a:avLst/>
          </a:prstGeom>
          <a:noFill/>
          <a:ln/>
        </p:spPr>
        <p:txBody>
          <a:bodyPr wrap="square" lIns="0" tIns="0" rIns="0" bIns="0" rtlCol="0" anchor="ctr"/>
          <a:lstStyle/>
          <a:p>
            <a:pPr indent="0" marL="0">
              <a:buNone/>
            </a:pPr>
            <a:r>
              <a:rPr lang="en-US" sz="1600" b="1" dirty="0">
                <a:solidFill>
                  <a:srgbClr val="EAF2FF"/>
                </a:solidFill>
                <a:latin typeface="Calibri" pitchFamily="34" charset="0"/>
                <a:ea typeface="Calibri" pitchFamily="34" charset="-122"/>
                <a:cs typeface="Calibri" pitchFamily="34" charset="-120"/>
              </a:rPr>
              <a:t>Vanity edition</a:t>
            </a:r>
            <a:endParaRPr lang="en-US" sz="1600" dirty="0"/>
          </a:p>
        </p:txBody>
      </p:sp>
      <p:sp>
        <p:nvSpPr>
          <p:cNvPr id="18" name="Text 16"/>
          <p:cNvSpPr/>
          <p:nvPr/>
        </p:nvSpPr>
        <p:spPr>
          <a:xfrm>
            <a:off x="5367528" y="3712464"/>
            <a:ext cx="6163056" cy="786384"/>
          </a:xfrm>
          <a:prstGeom prst="rect">
            <a:avLst/>
          </a:prstGeom>
          <a:noFill/>
          <a:ln/>
        </p:spPr>
        <p:txBody>
          <a:bodyPr wrap="square" lIns="0" tIns="0" rIns="0" bIns="0" rtlCol="0" anchor="ctr"/>
          <a:lstStyle/>
          <a:p>
            <a:pPr indent="0" marL="0">
              <a:lnSpc>
                <a:spcPts val="1600"/>
              </a:lnSpc>
              <a:buNone/>
            </a:pPr>
            <a:r>
              <a:rPr lang="en-US" sz="1200" dirty="0">
                <a:solidFill>
                  <a:srgbClr val="8FA3C0"/>
                </a:solidFill>
                <a:latin typeface="Calibri" pitchFamily="34" charset="0"/>
                <a:ea typeface="Calibri" pitchFamily="34" charset="-122"/>
                <a:cs typeface="Calibri" pitchFamily="34" charset="-120"/>
              </a:rPr>
              <a:t>A second Restoration Royalty treatment built around memorable vanity numbers instead of the sequential block, so both directions can be compared side by side.</a:t>
            </a:r>
            <a:endParaRPr lang="en-US" sz="1200" dirty="0"/>
          </a:p>
        </p:txBody>
      </p:sp>
      <p:sp>
        <p:nvSpPr>
          <p:cNvPr id="19" name="Shape 17"/>
          <p:cNvSpPr/>
          <p:nvPr/>
        </p:nvSpPr>
        <p:spPr>
          <a:xfrm>
            <a:off x="658368" y="4681728"/>
            <a:ext cx="402336" cy="402336"/>
          </a:xfrm>
          <a:prstGeom prst="ellipse">
            <a:avLst/>
          </a:prstGeom>
          <a:solidFill>
            <a:srgbClr val="16233F"/>
          </a:solidFill>
          <a:ln w="15875">
            <a:solidFill>
              <a:srgbClr val="00D4FF"/>
            </a:solidFill>
            <a:prstDash val="solid"/>
          </a:ln>
        </p:spPr>
      </p:sp>
      <p:sp>
        <p:nvSpPr>
          <p:cNvPr id="20" name="Text 18"/>
          <p:cNvSpPr/>
          <p:nvPr/>
        </p:nvSpPr>
        <p:spPr>
          <a:xfrm>
            <a:off x="658368" y="4681728"/>
            <a:ext cx="402336" cy="402336"/>
          </a:xfrm>
          <a:prstGeom prst="rect">
            <a:avLst/>
          </a:prstGeom>
          <a:noFill/>
          <a:ln/>
        </p:spPr>
        <p:txBody>
          <a:bodyPr wrap="square" lIns="0" tIns="0" rIns="0" bIns="0" rtlCol="0" anchor="ctr"/>
          <a:lstStyle/>
          <a:p>
            <a:pPr algn="ctr" indent="0" marL="0">
              <a:buNone/>
            </a:pPr>
            <a:r>
              <a:rPr lang="en-US" sz="1500" b="1" dirty="0">
                <a:solidFill>
                  <a:srgbClr val="00D4FF"/>
                </a:solidFill>
                <a:latin typeface="Calibri" pitchFamily="34" charset="0"/>
                <a:ea typeface="Calibri" pitchFamily="34" charset="-122"/>
                <a:cs typeface="Calibri" pitchFamily="34" charset="-120"/>
              </a:rPr>
              <a:t>4</a:t>
            </a:r>
            <a:endParaRPr lang="en-US" sz="1500" dirty="0"/>
          </a:p>
        </p:txBody>
      </p:sp>
      <p:sp>
        <p:nvSpPr>
          <p:cNvPr id="21" name="Text 19"/>
          <p:cNvSpPr/>
          <p:nvPr/>
        </p:nvSpPr>
        <p:spPr>
          <a:xfrm>
            <a:off x="1316736" y="4626864"/>
            <a:ext cx="2743200" cy="201168"/>
          </a:xfrm>
          <a:prstGeom prst="rect">
            <a:avLst/>
          </a:prstGeom>
          <a:noFill/>
          <a:ln/>
        </p:spPr>
        <p:txBody>
          <a:bodyPr wrap="square" lIns="0" tIns="0" rIns="0" bIns="0" rtlCol="0" anchor="ctr"/>
          <a:lstStyle/>
          <a:p>
            <a:pPr indent="0" marL="0">
              <a:buNone/>
            </a:pPr>
            <a:r>
              <a:rPr lang="en-US" sz="950" b="1" spc="160" kern="0" dirty="0">
                <a:solidFill>
                  <a:srgbClr val="FFC24B"/>
                </a:solidFill>
                <a:latin typeface="Calibri" pitchFamily="34" charset="0"/>
                <a:ea typeface="Calibri" pitchFamily="34" charset="-122"/>
                <a:cs typeface="Calibri" pitchFamily="34" charset="-120"/>
              </a:rPr>
              <a:t>DAY 2 — FRIDAY</a:t>
            </a:r>
            <a:endParaRPr lang="en-US" sz="950" dirty="0"/>
          </a:p>
        </p:txBody>
      </p:sp>
      <p:sp>
        <p:nvSpPr>
          <p:cNvPr id="22" name="Text 20"/>
          <p:cNvSpPr/>
          <p:nvPr/>
        </p:nvSpPr>
        <p:spPr>
          <a:xfrm>
            <a:off x="1316736" y="4809744"/>
            <a:ext cx="3931920" cy="274320"/>
          </a:xfrm>
          <a:prstGeom prst="rect">
            <a:avLst/>
          </a:prstGeom>
          <a:noFill/>
          <a:ln/>
        </p:spPr>
        <p:txBody>
          <a:bodyPr wrap="square" lIns="0" tIns="0" rIns="0" bIns="0" rtlCol="0" anchor="ctr"/>
          <a:lstStyle/>
          <a:p>
            <a:pPr indent="0" marL="0">
              <a:buNone/>
            </a:pPr>
            <a:r>
              <a:rPr lang="en-US" sz="1600" b="1" dirty="0">
                <a:solidFill>
                  <a:srgbClr val="EAF2FF"/>
                </a:solidFill>
                <a:latin typeface="Calibri" pitchFamily="34" charset="0"/>
                <a:ea typeface="Calibri" pitchFamily="34" charset="-122"/>
                <a:cs typeface="Calibri" pitchFamily="34" charset="-120"/>
              </a:rPr>
              <a:t>FAST Adjusting funnel</a:t>
            </a:r>
            <a:endParaRPr lang="en-US" sz="1600" dirty="0"/>
          </a:p>
        </p:txBody>
      </p:sp>
      <p:sp>
        <p:nvSpPr>
          <p:cNvPr id="23" name="Text 21"/>
          <p:cNvSpPr/>
          <p:nvPr/>
        </p:nvSpPr>
        <p:spPr>
          <a:xfrm>
            <a:off x="5367528" y="4645152"/>
            <a:ext cx="6163056" cy="786384"/>
          </a:xfrm>
          <a:prstGeom prst="rect">
            <a:avLst/>
          </a:prstGeom>
          <a:noFill/>
          <a:ln/>
        </p:spPr>
        <p:txBody>
          <a:bodyPr wrap="square" lIns="0" tIns="0" rIns="0" bIns="0" rtlCol="0" anchor="ctr"/>
          <a:lstStyle/>
          <a:p>
            <a:pPr indent="0" marL="0">
              <a:lnSpc>
                <a:spcPts val="1600"/>
              </a:lnSpc>
              <a:buNone/>
            </a:pPr>
            <a:r>
              <a:rPr lang="en-US" sz="1200" dirty="0">
                <a:solidFill>
                  <a:srgbClr val="8FA3C0"/>
                </a:solidFill>
                <a:latin typeface="Calibri" pitchFamily="34" charset="0"/>
                <a:ea typeface="Calibri" pitchFamily="34" charset="-122"/>
                <a:cs typeface="Calibri" pitchFamily="34" charset="-120"/>
              </a:rPr>
              <a:t>Public-adjusting site with a live claims command center, a refer-and-earn ladder, and the one-page start. Same engine, different trade.</a:t>
            </a:r>
            <a:endParaRPr lang="en-US" sz="1200" dirty="0"/>
          </a:p>
        </p:txBody>
      </p:sp>
      <p:sp>
        <p:nvSpPr>
          <p:cNvPr id="24" name="Text 22"/>
          <p:cNvSpPr/>
          <p:nvPr/>
        </p:nvSpPr>
        <p:spPr>
          <a:xfrm>
            <a:off x="658368" y="6291072"/>
            <a:ext cx="10872216" cy="237744"/>
          </a:xfrm>
          <a:prstGeom prst="rect">
            <a:avLst/>
          </a:prstGeom>
          <a:noFill/>
          <a:ln/>
        </p:spPr>
        <p:txBody>
          <a:bodyPr wrap="square" lIns="0" tIns="0" rIns="0" bIns="0" rtlCol="0" anchor="ctr"/>
          <a:lstStyle/>
          <a:p>
            <a:pPr indent="0" marL="0">
              <a:buNone/>
            </a:pPr>
            <a:r>
              <a:rPr lang="en-US" sz="900" dirty="0">
                <a:solidFill>
                  <a:srgbClr val="54658A"/>
                </a:solidFill>
                <a:latin typeface="Calibri" pitchFamily="34" charset="0"/>
                <a:ea typeface="Calibri" pitchFamily="34" charset="-122"/>
                <a:cs typeface="Calibri" pitchFamily="34" charset="-120"/>
              </a:rPr>
              <a:t>Telvergence, Inc.  ·  Confidential — prepared for Jimmy Mejia</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C18"/>
        </a:solidFill>
      </p:bgPr>
    </p:bg>
    <p:spTree>
      <p:nvGrpSpPr>
        <p:cNvPr id="1" name=""/>
        <p:cNvGrpSpPr/>
        <p:nvPr/>
      </p:nvGrpSpPr>
      <p:grpSpPr>
        <a:xfrm>
          <a:off x="0" y="0"/>
          <a:ext cx="0" cy="0"/>
          <a:chOff x="0" y="0"/>
          <a:chExt cx="0" cy="0"/>
        </a:xfrm>
      </p:grpSpPr>
      <p:sp>
        <p:nvSpPr>
          <p:cNvPr id="2" name="Text 0"/>
          <p:cNvSpPr/>
          <p:nvPr/>
        </p:nvSpPr>
        <p:spPr>
          <a:xfrm>
            <a:off x="658368" y="457200"/>
            <a:ext cx="10872216" cy="256032"/>
          </a:xfrm>
          <a:prstGeom prst="rect">
            <a:avLst/>
          </a:prstGeom>
          <a:noFill/>
          <a:ln/>
        </p:spPr>
        <p:txBody>
          <a:bodyPr wrap="square" lIns="0" tIns="0" rIns="0" bIns="0" rtlCol="0" anchor="ctr"/>
          <a:lstStyle/>
          <a:p>
            <a:pPr indent="0" marL="0">
              <a:buNone/>
            </a:pPr>
            <a:r>
              <a:rPr lang="en-US" sz="1100" b="1" spc="240" kern="0" dirty="0">
                <a:solidFill>
                  <a:srgbClr val="00D4FF"/>
                </a:solidFill>
                <a:latin typeface="Calibri" pitchFamily="34" charset="0"/>
                <a:ea typeface="Calibri" pitchFamily="34" charset="-122"/>
                <a:cs typeface="Calibri" pitchFamily="34" charset="-120"/>
              </a:rPr>
              <a:t>PHASE LOG · PART TWO</a:t>
            </a:r>
            <a:endParaRPr lang="en-US" sz="1100" dirty="0"/>
          </a:p>
        </p:txBody>
      </p:sp>
      <p:sp>
        <p:nvSpPr>
          <p:cNvPr id="3" name="Text 1"/>
          <p:cNvSpPr/>
          <p:nvPr/>
        </p:nvSpPr>
        <p:spPr>
          <a:xfrm>
            <a:off x="658368" y="786384"/>
            <a:ext cx="10872216" cy="822960"/>
          </a:xfrm>
          <a:prstGeom prst="rect">
            <a:avLst/>
          </a:prstGeom>
          <a:noFill/>
          <a:ln/>
        </p:spPr>
        <p:txBody>
          <a:bodyPr wrap="square" lIns="0" tIns="0" rIns="0" bIns="0" rtlCol="0" anchor="ctr"/>
          <a:lstStyle/>
          <a:p>
            <a:pPr indent="0" marL="0">
              <a:buNone/>
            </a:pPr>
            <a:r>
              <a:rPr lang="en-US" sz="3400" b="1" spc="-40" kern="0" dirty="0">
                <a:solidFill>
                  <a:srgbClr val="EAF2FF"/>
                </a:solidFill>
                <a:latin typeface="Calibri" pitchFamily="34" charset="0"/>
                <a:ea typeface="Calibri" pitchFamily="34" charset="-122"/>
                <a:cs typeface="Calibri" pitchFamily="34" charset="-120"/>
              </a:rPr>
              <a:t>What got built — the weekend and today</a:t>
            </a:r>
            <a:endParaRPr lang="en-US" sz="3400" dirty="0"/>
          </a:p>
        </p:txBody>
      </p:sp>
      <p:sp>
        <p:nvSpPr>
          <p:cNvPr id="4" name="Shape 2"/>
          <p:cNvSpPr/>
          <p:nvPr/>
        </p:nvSpPr>
        <p:spPr>
          <a:xfrm>
            <a:off x="658368" y="1883664"/>
            <a:ext cx="402336" cy="402336"/>
          </a:xfrm>
          <a:prstGeom prst="ellipse">
            <a:avLst/>
          </a:prstGeom>
          <a:solidFill>
            <a:srgbClr val="16233F"/>
          </a:solidFill>
          <a:ln w="15875">
            <a:solidFill>
              <a:srgbClr val="00FF88"/>
            </a:solidFill>
            <a:prstDash val="solid"/>
          </a:ln>
        </p:spPr>
      </p:sp>
      <p:sp>
        <p:nvSpPr>
          <p:cNvPr id="5" name="Text 3"/>
          <p:cNvSpPr/>
          <p:nvPr/>
        </p:nvSpPr>
        <p:spPr>
          <a:xfrm>
            <a:off x="658368" y="1883664"/>
            <a:ext cx="402336" cy="402336"/>
          </a:xfrm>
          <a:prstGeom prst="rect">
            <a:avLst/>
          </a:prstGeom>
          <a:noFill/>
          <a:ln/>
        </p:spPr>
        <p:txBody>
          <a:bodyPr wrap="square" lIns="0" tIns="0" rIns="0" bIns="0" rtlCol="0" anchor="ctr"/>
          <a:lstStyle/>
          <a:p>
            <a:pPr algn="ctr" indent="0" marL="0">
              <a:buNone/>
            </a:pPr>
            <a:r>
              <a:rPr lang="en-US" sz="1500" b="1" dirty="0">
                <a:solidFill>
                  <a:srgbClr val="00FF88"/>
                </a:solidFill>
                <a:latin typeface="Calibri" pitchFamily="34" charset="0"/>
                <a:ea typeface="Calibri" pitchFamily="34" charset="-122"/>
                <a:cs typeface="Calibri" pitchFamily="34" charset="-120"/>
              </a:rPr>
              <a:t>5</a:t>
            </a:r>
            <a:endParaRPr lang="en-US" sz="1500" dirty="0"/>
          </a:p>
        </p:txBody>
      </p:sp>
      <p:sp>
        <p:nvSpPr>
          <p:cNvPr id="6" name="Text 4"/>
          <p:cNvSpPr/>
          <p:nvPr/>
        </p:nvSpPr>
        <p:spPr>
          <a:xfrm>
            <a:off x="1316736" y="1828800"/>
            <a:ext cx="2743200" cy="201168"/>
          </a:xfrm>
          <a:prstGeom prst="rect">
            <a:avLst/>
          </a:prstGeom>
          <a:noFill/>
          <a:ln/>
        </p:spPr>
        <p:txBody>
          <a:bodyPr wrap="square" lIns="0" tIns="0" rIns="0" bIns="0" rtlCol="0" anchor="ctr"/>
          <a:lstStyle/>
          <a:p>
            <a:pPr indent="0" marL="0">
              <a:buNone/>
            </a:pPr>
            <a:r>
              <a:rPr lang="en-US" sz="950" b="1" spc="160" kern="0" dirty="0">
                <a:solidFill>
                  <a:srgbClr val="FFC24B"/>
                </a:solidFill>
                <a:latin typeface="Calibri" pitchFamily="34" charset="0"/>
                <a:ea typeface="Calibri" pitchFamily="34" charset="-122"/>
                <a:cs typeface="Calibri" pitchFamily="34" charset="-120"/>
              </a:rPr>
              <a:t>DAY 3 — SATURDAY</a:t>
            </a:r>
            <a:endParaRPr lang="en-US" sz="950" dirty="0"/>
          </a:p>
        </p:txBody>
      </p:sp>
      <p:sp>
        <p:nvSpPr>
          <p:cNvPr id="7" name="Text 5"/>
          <p:cNvSpPr/>
          <p:nvPr/>
        </p:nvSpPr>
        <p:spPr>
          <a:xfrm>
            <a:off x="1316736" y="2011680"/>
            <a:ext cx="3931920" cy="274320"/>
          </a:xfrm>
          <a:prstGeom prst="rect">
            <a:avLst/>
          </a:prstGeom>
          <a:noFill/>
          <a:ln/>
        </p:spPr>
        <p:txBody>
          <a:bodyPr wrap="square" lIns="0" tIns="0" rIns="0" bIns="0" rtlCol="0" anchor="ctr"/>
          <a:lstStyle/>
          <a:p>
            <a:pPr indent="0" marL="0">
              <a:buNone/>
            </a:pPr>
            <a:r>
              <a:rPr lang="en-US" sz="1600" b="1" dirty="0">
                <a:solidFill>
                  <a:srgbClr val="EAF2FF"/>
                </a:solidFill>
                <a:latin typeface="Calibri" pitchFamily="34" charset="0"/>
                <a:ea typeface="Calibri" pitchFamily="34" charset="-122"/>
                <a:cs typeface="Calibri" pitchFamily="34" charset="-120"/>
              </a:rPr>
              <a:t>YES Electrical</a:t>
            </a:r>
            <a:endParaRPr lang="en-US" sz="1600" dirty="0"/>
          </a:p>
        </p:txBody>
      </p:sp>
      <p:sp>
        <p:nvSpPr>
          <p:cNvPr id="8" name="Text 6"/>
          <p:cNvSpPr/>
          <p:nvPr/>
        </p:nvSpPr>
        <p:spPr>
          <a:xfrm>
            <a:off x="5367528" y="1847088"/>
            <a:ext cx="6163056" cy="786384"/>
          </a:xfrm>
          <a:prstGeom prst="rect">
            <a:avLst/>
          </a:prstGeom>
          <a:noFill/>
          <a:ln/>
        </p:spPr>
        <p:txBody>
          <a:bodyPr wrap="square" lIns="0" tIns="0" rIns="0" bIns="0" rtlCol="0" anchor="ctr"/>
          <a:lstStyle/>
          <a:p>
            <a:pPr indent="0" marL="0">
              <a:lnSpc>
                <a:spcPts val="1600"/>
              </a:lnSpc>
              <a:buNone/>
            </a:pPr>
            <a:r>
              <a:rPr lang="en-US" sz="1200" dirty="0">
                <a:solidFill>
                  <a:srgbClr val="8FA3C0"/>
                </a:solidFill>
                <a:latin typeface="Calibri" pitchFamily="34" charset="0"/>
                <a:ea typeface="Calibri" pitchFamily="34" charset="-122"/>
                <a:cs typeface="Calibri" pitchFamily="34" charset="-120"/>
              </a:rPr>
              <a:t>A complete funnel for a contractor who has not signed yet — proof the system reproduces into any trade, in any market, in an afternoon.</a:t>
            </a:r>
            <a:endParaRPr lang="en-US" sz="1200" dirty="0"/>
          </a:p>
        </p:txBody>
      </p:sp>
      <p:sp>
        <p:nvSpPr>
          <p:cNvPr id="9" name="Shape 7"/>
          <p:cNvSpPr/>
          <p:nvPr/>
        </p:nvSpPr>
        <p:spPr>
          <a:xfrm>
            <a:off x="658368" y="2816352"/>
            <a:ext cx="402336" cy="402336"/>
          </a:xfrm>
          <a:prstGeom prst="ellipse">
            <a:avLst/>
          </a:prstGeom>
          <a:solidFill>
            <a:srgbClr val="16233F"/>
          </a:solidFill>
          <a:ln w="15875">
            <a:solidFill>
              <a:srgbClr val="00FF88"/>
            </a:solidFill>
            <a:prstDash val="solid"/>
          </a:ln>
        </p:spPr>
      </p:sp>
      <p:sp>
        <p:nvSpPr>
          <p:cNvPr id="10" name="Text 8"/>
          <p:cNvSpPr/>
          <p:nvPr/>
        </p:nvSpPr>
        <p:spPr>
          <a:xfrm>
            <a:off x="658368" y="2816352"/>
            <a:ext cx="402336" cy="402336"/>
          </a:xfrm>
          <a:prstGeom prst="rect">
            <a:avLst/>
          </a:prstGeom>
          <a:noFill/>
          <a:ln/>
        </p:spPr>
        <p:txBody>
          <a:bodyPr wrap="square" lIns="0" tIns="0" rIns="0" bIns="0" rtlCol="0" anchor="ctr"/>
          <a:lstStyle/>
          <a:p>
            <a:pPr algn="ctr" indent="0" marL="0">
              <a:buNone/>
            </a:pPr>
            <a:r>
              <a:rPr lang="en-US" sz="1500" b="1" dirty="0">
                <a:solidFill>
                  <a:srgbClr val="00FF88"/>
                </a:solidFill>
                <a:latin typeface="Calibri" pitchFamily="34" charset="0"/>
                <a:ea typeface="Calibri" pitchFamily="34" charset="-122"/>
                <a:cs typeface="Calibri" pitchFamily="34" charset="-120"/>
              </a:rPr>
              <a:t>6</a:t>
            </a:r>
            <a:endParaRPr lang="en-US" sz="1500" dirty="0"/>
          </a:p>
        </p:txBody>
      </p:sp>
      <p:sp>
        <p:nvSpPr>
          <p:cNvPr id="11" name="Text 9"/>
          <p:cNvSpPr/>
          <p:nvPr/>
        </p:nvSpPr>
        <p:spPr>
          <a:xfrm>
            <a:off x="1316736" y="2761488"/>
            <a:ext cx="2743200" cy="201168"/>
          </a:xfrm>
          <a:prstGeom prst="rect">
            <a:avLst/>
          </a:prstGeom>
          <a:noFill/>
          <a:ln/>
        </p:spPr>
        <p:txBody>
          <a:bodyPr wrap="square" lIns="0" tIns="0" rIns="0" bIns="0" rtlCol="0" anchor="ctr"/>
          <a:lstStyle/>
          <a:p>
            <a:pPr indent="0" marL="0">
              <a:buNone/>
            </a:pPr>
            <a:r>
              <a:rPr lang="en-US" sz="950" b="1" spc="160" kern="0" dirty="0">
                <a:solidFill>
                  <a:srgbClr val="FFC24B"/>
                </a:solidFill>
                <a:latin typeface="Calibri" pitchFamily="34" charset="0"/>
                <a:ea typeface="Calibri" pitchFamily="34" charset="-122"/>
                <a:cs typeface="Calibri" pitchFamily="34" charset="-120"/>
              </a:rPr>
              <a:t>DAY 3 — SATURDAY</a:t>
            </a:r>
            <a:endParaRPr lang="en-US" sz="950" dirty="0"/>
          </a:p>
        </p:txBody>
      </p:sp>
      <p:sp>
        <p:nvSpPr>
          <p:cNvPr id="12" name="Text 10"/>
          <p:cNvSpPr/>
          <p:nvPr/>
        </p:nvSpPr>
        <p:spPr>
          <a:xfrm>
            <a:off x="1316736" y="2944368"/>
            <a:ext cx="3931920" cy="274320"/>
          </a:xfrm>
          <a:prstGeom prst="rect">
            <a:avLst/>
          </a:prstGeom>
          <a:noFill/>
          <a:ln/>
        </p:spPr>
        <p:txBody>
          <a:bodyPr wrap="square" lIns="0" tIns="0" rIns="0" bIns="0" rtlCol="0" anchor="ctr"/>
          <a:lstStyle/>
          <a:p>
            <a:pPr indent="0" marL="0">
              <a:buNone/>
            </a:pPr>
            <a:r>
              <a:rPr lang="en-US" sz="1600" b="1" dirty="0">
                <a:solidFill>
                  <a:srgbClr val="EAF2FF"/>
                </a:solidFill>
                <a:latin typeface="Calibri" pitchFamily="34" charset="0"/>
                <a:ea typeface="Calibri" pitchFamily="34" charset="-122"/>
                <a:cs typeface="Calibri" pitchFamily="34" charset="-120"/>
              </a:rPr>
              <a:t>Storm Dispatch console</a:t>
            </a:r>
            <a:endParaRPr lang="en-US" sz="1600" dirty="0"/>
          </a:p>
        </p:txBody>
      </p:sp>
      <p:sp>
        <p:nvSpPr>
          <p:cNvPr id="13" name="Text 11"/>
          <p:cNvSpPr/>
          <p:nvPr/>
        </p:nvSpPr>
        <p:spPr>
          <a:xfrm>
            <a:off x="5367528" y="2779776"/>
            <a:ext cx="6163056" cy="786384"/>
          </a:xfrm>
          <a:prstGeom prst="rect">
            <a:avLst/>
          </a:prstGeom>
          <a:noFill/>
          <a:ln/>
        </p:spPr>
        <p:txBody>
          <a:bodyPr wrap="square" lIns="0" tIns="0" rIns="0" bIns="0" rtlCol="0" anchor="ctr"/>
          <a:lstStyle/>
          <a:p>
            <a:pPr indent="0" marL="0">
              <a:lnSpc>
                <a:spcPts val="1600"/>
              </a:lnSpc>
              <a:buNone/>
            </a:pPr>
            <a:r>
              <a:rPr lang="en-US" sz="1200" dirty="0">
                <a:solidFill>
                  <a:srgbClr val="8FA3C0"/>
                </a:solidFill>
                <a:latin typeface="Calibri" pitchFamily="34" charset="0"/>
                <a:ea typeface="Calibri" pitchFamily="34" charset="-122"/>
                <a:cs typeface="Calibri" pitchFamily="34" charset="-120"/>
              </a:rPr>
              <a:t>A nationwide weather grid tied to partner coverage by area code and exchange. When a cell fires over a county, the partners in that footprint light up and demand routes to them.</a:t>
            </a:r>
            <a:endParaRPr lang="en-US" sz="1200" dirty="0"/>
          </a:p>
        </p:txBody>
      </p:sp>
      <p:sp>
        <p:nvSpPr>
          <p:cNvPr id="14" name="Shape 12"/>
          <p:cNvSpPr/>
          <p:nvPr/>
        </p:nvSpPr>
        <p:spPr>
          <a:xfrm>
            <a:off x="658368" y="3749040"/>
            <a:ext cx="402336" cy="402336"/>
          </a:xfrm>
          <a:prstGeom prst="ellipse">
            <a:avLst/>
          </a:prstGeom>
          <a:solidFill>
            <a:srgbClr val="16233F"/>
          </a:solidFill>
          <a:ln w="15875">
            <a:solidFill>
              <a:srgbClr val="00FF88"/>
            </a:solidFill>
            <a:prstDash val="solid"/>
          </a:ln>
        </p:spPr>
      </p:sp>
      <p:sp>
        <p:nvSpPr>
          <p:cNvPr id="15" name="Text 13"/>
          <p:cNvSpPr/>
          <p:nvPr/>
        </p:nvSpPr>
        <p:spPr>
          <a:xfrm>
            <a:off x="658368" y="3749040"/>
            <a:ext cx="402336" cy="402336"/>
          </a:xfrm>
          <a:prstGeom prst="rect">
            <a:avLst/>
          </a:prstGeom>
          <a:noFill/>
          <a:ln/>
        </p:spPr>
        <p:txBody>
          <a:bodyPr wrap="square" lIns="0" tIns="0" rIns="0" bIns="0" rtlCol="0" anchor="ctr"/>
          <a:lstStyle/>
          <a:p>
            <a:pPr algn="ctr" indent="0" marL="0">
              <a:buNone/>
            </a:pPr>
            <a:r>
              <a:rPr lang="en-US" sz="1500" b="1" dirty="0">
                <a:solidFill>
                  <a:srgbClr val="00FF88"/>
                </a:solidFill>
                <a:latin typeface="Calibri" pitchFamily="34" charset="0"/>
                <a:ea typeface="Calibri" pitchFamily="34" charset="-122"/>
                <a:cs typeface="Calibri" pitchFamily="34" charset="-120"/>
              </a:rPr>
              <a:t>7</a:t>
            </a:r>
            <a:endParaRPr lang="en-US" sz="1500" dirty="0"/>
          </a:p>
        </p:txBody>
      </p:sp>
      <p:sp>
        <p:nvSpPr>
          <p:cNvPr id="16" name="Text 14"/>
          <p:cNvSpPr/>
          <p:nvPr/>
        </p:nvSpPr>
        <p:spPr>
          <a:xfrm>
            <a:off x="1316736" y="3694176"/>
            <a:ext cx="2743200" cy="201168"/>
          </a:xfrm>
          <a:prstGeom prst="rect">
            <a:avLst/>
          </a:prstGeom>
          <a:noFill/>
          <a:ln/>
        </p:spPr>
        <p:txBody>
          <a:bodyPr wrap="square" lIns="0" tIns="0" rIns="0" bIns="0" rtlCol="0" anchor="ctr"/>
          <a:lstStyle/>
          <a:p>
            <a:pPr indent="0" marL="0">
              <a:buNone/>
            </a:pPr>
            <a:r>
              <a:rPr lang="en-US" sz="950" b="1" spc="160" kern="0" dirty="0">
                <a:solidFill>
                  <a:srgbClr val="FFC24B"/>
                </a:solidFill>
                <a:latin typeface="Calibri" pitchFamily="34" charset="0"/>
                <a:ea typeface="Calibri" pitchFamily="34" charset="-122"/>
                <a:cs typeface="Calibri" pitchFamily="34" charset="-120"/>
              </a:rPr>
              <a:t>DAY 4 — SUNDAY</a:t>
            </a:r>
            <a:endParaRPr lang="en-US" sz="950" dirty="0"/>
          </a:p>
        </p:txBody>
      </p:sp>
      <p:sp>
        <p:nvSpPr>
          <p:cNvPr id="17" name="Text 15"/>
          <p:cNvSpPr/>
          <p:nvPr/>
        </p:nvSpPr>
        <p:spPr>
          <a:xfrm>
            <a:off x="1316736" y="3877056"/>
            <a:ext cx="3931920" cy="274320"/>
          </a:xfrm>
          <a:prstGeom prst="rect">
            <a:avLst/>
          </a:prstGeom>
          <a:noFill/>
          <a:ln/>
        </p:spPr>
        <p:txBody>
          <a:bodyPr wrap="square" lIns="0" tIns="0" rIns="0" bIns="0" rtlCol="0" anchor="ctr"/>
          <a:lstStyle/>
          <a:p>
            <a:pPr indent="0" marL="0">
              <a:buNone/>
            </a:pPr>
            <a:r>
              <a:rPr lang="en-US" sz="1600" b="1" dirty="0">
                <a:solidFill>
                  <a:srgbClr val="EAF2FF"/>
                </a:solidFill>
                <a:latin typeface="Calibri" pitchFamily="34" charset="0"/>
                <a:ea typeface="Calibri" pitchFamily="34" charset="-122"/>
                <a:cs typeface="Calibri" pitchFamily="34" charset="-120"/>
              </a:rPr>
              <a:t>Plan, prospectus, hub</a:t>
            </a:r>
            <a:endParaRPr lang="en-US" sz="1600" dirty="0"/>
          </a:p>
        </p:txBody>
      </p:sp>
      <p:sp>
        <p:nvSpPr>
          <p:cNvPr id="18" name="Text 16"/>
          <p:cNvSpPr/>
          <p:nvPr/>
        </p:nvSpPr>
        <p:spPr>
          <a:xfrm>
            <a:off x="5367528" y="3712464"/>
            <a:ext cx="6163056" cy="786384"/>
          </a:xfrm>
          <a:prstGeom prst="rect">
            <a:avLst/>
          </a:prstGeom>
          <a:noFill/>
          <a:ln/>
        </p:spPr>
        <p:txBody>
          <a:bodyPr wrap="square" lIns="0" tIns="0" rIns="0" bIns="0" rtlCol="0" anchor="ctr"/>
          <a:lstStyle/>
          <a:p>
            <a:pPr indent="0" marL="0">
              <a:lnSpc>
                <a:spcPts val="1600"/>
              </a:lnSpc>
              <a:buNone/>
            </a:pPr>
            <a:r>
              <a:rPr lang="en-US" sz="1200" dirty="0">
                <a:solidFill>
                  <a:srgbClr val="8FA3C0"/>
                </a:solidFill>
                <a:latin typeface="Calibri" pitchFamily="34" charset="0"/>
                <a:ea typeface="Calibri" pitchFamily="34" charset="-122"/>
                <a:cs typeface="Calibri" pitchFamily="34" charset="-120"/>
              </a:rPr>
              <a:t>The revenue model written down, the master business plan and flywheel, and the Sub-Network Hub — the single presentation that carries the whole argument.</a:t>
            </a:r>
            <a:endParaRPr lang="en-US" sz="1200" dirty="0"/>
          </a:p>
        </p:txBody>
      </p:sp>
      <p:sp>
        <p:nvSpPr>
          <p:cNvPr id="19" name="Shape 17"/>
          <p:cNvSpPr/>
          <p:nvPr/>
        </p:nvSpPr>
        <p:spPr>
          <a:xfrm>
            <a:off x="658368" y="4681728"/>
            <a:ext cx="402336" cy="402336"/>
          </a:xfrm>
          <a:prstGeom prst="ellipse">
            <a:avLst/>
          </a:prstGeom>
          <a:solidFill>
            <a:srgbClr val="16233F"/>
          </a:solidFill>
          <a:ln w="15875">
            <a:solidFill>
              <a:srgbClr val="FFC24B"/>
            </a:solidFill>
            <a:prstDash val="solid"/>
          </a:ln>
        </p:spPr>
      </p:sp>
      <p:sp>
        <p:nvSpPr>
          <p:cNvPr id="20" name="Text 18"/>
          <p:cNvSpPr/>
          <p:nvPr/>
        </p:nvSpPr>
        <p:spPr>
          <a:xfrm>
            <a:off x="658368" y="4681728"/>
            <a:ext cx="402336" cy="402336"/>
          </a:xfrm>
          <a:prstGeom prst="rect">
            <a:avLst/>
          </a:prstGeom>
          <a:noFill/>
          <a:ln/>
        </p:spPr>
        <p:txBody>
          <a:bodyPr wrap="square" lIns="0" tIns="0" rIns="0" bIns="0" rtlCol="0" anchor="ctr"/>
          <a:lstStyle/>
          <a:p>
            <a:pPr algn="ctr" indent="0" marL="0">
              <a:buNone/>
            </a:pPr>
            <a:r>
              <a:rPr lang="en-US" sz="1500" b="1" dirty="0">
                <a:solidFill>
                  <a:srgbClr val="FFC24B"/>
                </a:solidFill>
                <a:latin typeface="Calibri" pitchFamily="34" charset="0"/>
                <a:ea typeface="Calibri" pitchFamily="34" charset="-122"/>
                <a:cs typeface="Calibri" pitchFamily="34" charset="-120"/>
              </a:rPr>
              <a:t>8</a:t>
            </a:r>
            <a:endParaRPr lang="en-US" sz="1500" dirty="0"/>
          </a:p>
        </p:txBody>
      </p:sp>
      <p:sp>
        <p:nvSpPr>
          <p:cNvPr id="21" name="Text 19"/>
          <p:cNvSpPr/>
          <p:nvPr/>
        </p:nvSpPr>
        <p:spPr>
          <a:xfrm>
            <a:off x="1316736" y="4626864"/>
            <a:ext cx="2743200" cy="201168"/>
          </a:xfrm>
          <a:prstGeom prst="rect">
            <a:avLst/>
          </a:prstGeom>
          <a:noFill/>
          <a:ln/>
        </p:spPr>
        <p:txBody>
          <a:bodyPr wrap="square" lIns="0" tIns="0" rIns="0" bIns="0" rtlCol="0" anchor="ctr"/>
          <a:lstStyle/>
          <a:p>
            <a:pPr indent="0" marL="0">
              <a:buNone/>
            </a:pPr>
            <a:r>
              <a:rPr lang="en-US" sz="950" b="1" spc="160" kern="0" dirty="0">
                <a:solidFill>
                  <a:srgbClr val="FFC24B"/>
                </a:solidFill>
                <a:latin typeface="Calibri" pitchFamily="34" charset="0"/>
                <a:ea typeface="Calibri" pitchFamily="34" charset="-122"/>
                <a:cs typeface="Calibri" pitchFamily="34" charset="-120"/>
              </a:rPr>
              <a:t>TODAY — MONDAY</a:t>
            </a:r>
            <a:endParaRPr lang="en-US" sz="950" dirty="0"/>
          </a:p>
        </p:txBody>
      </p:sp>
      <p:sp>
        <p:nvSpPr>
          <p:cNvPr id="22" name="Text 20"/>
          <p:cNvSpPr/>
          <p:nvPr/>
        </p:nvSpPr>
        <p:spPr>
          <a:xfrm>
            <a:off x="1316736" y="4809744"/>
            <a:ext cx="3931920" cy="274320"/>
          </a:xfrm>
          <a:prstGeom prst="rect">
            <a:avLst/>
          </a:prstGeom>
          <a:noFill/>
          <a:ln/>
        </p:spPr>
        <p:txBody>
          <a:bodyPr wrap="square" lIns="0" tIns="0" rIns="0" bIns="0" rtlCol="0" anchor="ctr"/>
          <a:lstStyle/>
          <a:p>
            <a:pPr indent="0" marL="0">
              <a:buNone/>
            </a:pPr>
            <a:r>
              <a:rPr lang="en-US" sz="1600" b="1" dirty="0">
                <a:solidFill>
                  <a:srgbClr val="EAF2FF"/>
                </a:solidFill>
                <a:latin typeface="Calibri" pitchFamily="34" charset="0"/>
                <a:ea typeface="Calibri" pitchFamily="34" charset="-122"/>
                <a:cs typeface="Calibri" pitchFamily="34" charset="-120"/>
              </a:rPr>
              <a:t>Deployment and runbook</a:t>
            </a:r>
            <a:endParaRPr lang="en-US" sz="1600" dirty="0"/>
          </a:p>
        </p:txBody>
      </p:sp>
      <p:sp>
        <p:nvSpPr>
          <p:cNvPr id="23" name="Text 21"/>
          <p:cNvSpPr/>
          <p:nvPr/>
        </p:nvSpPr>
        <p:spPr>
          <a:xfrm>
            <a:off x="5367528" y="4645152"/>
            <a:ext cx="6163056" cy="786384"/>
          </a:xfrm>
          <a:prstGeom prst="rect">
            <a:avLst/>
          </a:prstGeom>
          <a:noFill/>
          <a:ln/>
        </p:spPr>
        <p:txBody>
          <a:bodyPr wrap="square" lIns="0" tIns="0" rIns="0" bIns="0" rtlCol="0" anchor="ctr"/>
          <a:lstStyle/>
          <a:p>
            <a:pPr indent="0" marL="0">
              <a:lnSpc>
                <a:spcPts val="1600"/>
              </a:lnSpc>
              <a:buNone/>
            </a:pPr>
            <a:r>
              <a:rPr lang="en-US" sz="1200" dirty="0">
                <a:solidFill>
                  <a:srgbClr val="8FA3C0"/>
                </a:solidFill>
                <a:latin typeface="Calibri" pitchFamily="34" charset="0"/>
                <a:ea typeface="Calibri" pitchFamily="34" charset="-122"/>
                <a:cs typeface="Calibri" pitchFamily="34" charset="-120"/>
              </a:rPr>
              <a:t>All of it staged to one domain behind a clean directory, plus the go-live runbook: targets, caller-ID strategy, verbatim script, compliance rules, morning checklist.</a:t>
            </a:r>
            <a:endParaRPr lang="en-US" sz="1200" dirty="0"/>
          </a:p>
        </p:txBody>
      </p:sp>
      <p:sp>
        <p:nvSpPr>
          <p:cNvPr id="24" name="Text 22"/>
          <p:cNvSpPr/>
          <p:nvPr/>
        </p:nvSpPr>
        <p:spPr>
          <a:xfrm>
            <a:off x="658368" y="6291072"/>
            <a:ext cx="10872216" cy="237744"/>
          </a:xfrm>
          <a:prstGeom prst="rect">
            <a:avLst/>
          </a:prstGeom>
          <a:noFill/>
          <a:ln/>
        </p:spPr>
        <p:txBody>
          <a:bodyPr wrap="square" lIns="0" tIns="0" rIns="0" bIns="0" rtlCol="0" anchor="ctr"/>
          <a:lstStyle/>
          <a:p>
            <a:pPr indent="0" marL="0">
              <a:buNone/>
            </a:pPr>
            <a:r>
              <a:rPr lang="en-US" sz="900" dirty="0">
                <a:solidFill>
                  <a:srgbClr val="54658A"/>
                </a:solidFill>
                <a:latin typeface="Calibri" pitchFamily="34" charset="0"/>
                <a:ea typeface="Calibri" pitchFamily="34" charset="-122"/>
                <a:cs typeface="Calibri" pitchFamily="34" charset="-120"/>
              </a:rPr>
              <a:t>Telvergence, Inc.  ·  Confidential — prepared for Jimmy Mejia</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C18"/>
        </a:solidFill>
      </p:bgPr>
    </p:bg>
    <p:spTree>
      <p:nvGrpSpPr>
        <p:cNvPr id="1" name=""/>
        <p:cNvGrpSpPr/>
        <p:nvPr/>
      </p:nvGrpSpPr>
      <p:grpSpPr>
        <a:xfrm>
          <a:off x="0" y="0"/>
          <a:ext cx="0" cy="0"/>
          <a:chOff x="0" y="0"/>
          <a:chExt cx="0" cy="0"/>
        </a:xfrm>
      </p:grpSpPr>
      <p:sp>
        <p:nvSpPr>
          <p:cNvPr id="2" name="Text 0"/>
          <p:cNvSpPr/>
          <p:nvPr/>
        </p:nvSpPr>
        <p:spPr>
          <a:xfrm>
            <a:off x="658368" y="457200"/>
            <a:ext cx="10872216" cy="256032"/>
          </a:xfrm>
          <a:prstGeom prst="rect">
            <a:avLst/>
          </a:prstGeom>
          <a:noFill/>
          <a:ln/>
        </p:spPr>
        <p:txBody>
          <a:bodyPr wrap="square" lIns="0" tIns="0" rIns="0" bIns="0" rtlCol="0" anchor="ctr"/>
          <a:lstStyle/>
          <a:p>
            <a:pPr indent="0" marL="0">
              <a:buNone/>
            </a:pPr>
            <a:r>
              <a:rPr lang="en-US" sz="1100" b="1" spc="240" kern="0" dirty="0">
                <a:solidFill>
                  <a:srgbClr val="00D4FF"/>
                </a:solidFill>
                <a:latin typeface="Calibri" pitchFamily="34" charset="0"/>
                <a:ea typeface="Calibri" pitchFamily="34" charset="-122"/>
                <a:cs typeface="Calibri" pitchFamily="34" charset="-120"/>
              </a:rPr>
              <a:t>THE PROPERTIES</a:t>
            </a:r>
            <a:endParaRPr lang="en-US" sz="1100" dirty="0"/>
          </a:p>
        </p:txBody>
      </p:sp>
      <p:sp>
        <p:nvSpPr>
          <p:cNvPr id="3" name="Text 1"/>
          <p:cNvSpPr/>
          <p:nvPr/>
        </p:nvSpPr>
        <p:spPr>
          <a:xfrm>
            <a:off x="658368" y="786384"/>
            <a:ext cx="10872216" cy="822960"/>
          </a:xfrm>
          <a:prstGeom prst="rect">
            <a:avLst/>
          </a:prstGeom>
          <a:noFill/>
          <a:ln/>
        </p:spPr>
        <p:txBody>
          <a:bodyPr wrap="square" lIns="0" tIns="0" rIns="0" bIns="0" rtlCol="0" anchor="ctr"/>
          <a:lstStyle/>
          <a:p>
            <a:pPr indent="0" marL="0">
              <a:buNone/>
            </a:pPr>
            <a:r>
              <a:rPr lang="en-US" sz="3400" b="1" spc="-40" kern="0" dirty="0">
                <a:solidFill>
                  <a:srgbClr val="EAF2FF"/>
                </a:solidFill>
                <a:latin typeface="Calibri" pitchFamily="34" charset="0"/>
                <a:ea typeface="Calibri" pitchFamily="34" charset="-122"/>
                <a:cs typeface="Calibri" pitchFamily="34" charset="-120"/>
              </a:rPr>
              <a:t>Four finished sites, one shared pipeline</a:t>
            </a:r>
            <a:endParaRPr lang="en-US" sz="3400" dirty="0"/>
          </a:p>
        </p:txBody>
      </p:sp>
      <p:sp>
        <p:nvSpPr>
          <p:cNvPr id="4" name="Text 2"/>
          <p:cNvSpPr/>
          <p:nvPr/>
        </p:nvSpPr>
        <p:spPr>
          <a:xfrm>
            <a:off x="658368" y="1627632"/>
            <a:ext cx="9350106" cy="658368"/>
          </a:xfrm>
          <a:prstGeom prst="rect">
            <a:avLst/>
          </a:prstGeom>
          <a:noFill/>
          <a:ln/>
        </p:spPr>
        <p:txBody>
          <a:bodyPr wrap="square" lIns="0" tIns="0" rIns="0" bIns="0" rtlCol="0" anchor="ctr"/>
          <a:lstStyle/>
          <a:p>
            <a:pPr indent="0" marL="0">
              <a:lnSpc>
                <a:spcPts val="2200"/>
              </a:lnSpc>
              <a:buNone/>
            </a:pPr>
            <a:r>
              <a:rPr lang="en-US" sz="1500" dirty="0">
                <a:solidFill>
                  <a:srgbClr val="8FA3C0"/>
                </a:solidFill>
                <a:latin typeface="Calibri" pitchFamily="34" charset="0"/>
                <a:ea typeface="Calibri" pitchFamily="34" charset="-122"/>
                <a:cs typeface="Calibri" pitchFamily="34" charset="-120"/>
              </a:rPr>
              <a:t>Each one is a live, standalone page you can send to a prospect today — four nets catching calls in the same footprint.</a:t>
            </a:r>
            <a:endParaRPr lang="en-US" sz="1500" dirty="0"/>
          </a:p>
        </p:txBody>
      </p:sp>
      <p:sp>
        <p:nvSpPr>
          <p:cNvPr id="5" name="Shape 3"/>
          <p:cNvSpPr/>
          <p:nvPr/>
        </p:nvSpPr>
        <p:spPr>
          <a:xfrm>
            <a:off x="658368" y="2487168"/>
            <a:ext cx="2523744" cy="2926080"/>
          </a:xfrm>
          <a:prstGeom prst="roundRect">
            <a:avLst>
              <a:gd name="adj" fmla="val 4348"/>
            </a:avLst>
          </a:prstGeom>
          <a:solidFill>
            <a:srgbClr val="101A33"/>
          </a:solidFill>
          <a:ln w="12700">
            <a:solidFill>
              <a:srgbClr val="1E2E4A"/>
            </a:solidFill>
            <a:prstDash val="solid"/>
          </a:ln>
        </p:spPr>
      </p:sp>
      <p:pic>
        <p:nvPicPr>
          <p:cNvPr id="6" name="Image 0" descr="preencoded.png">    </p:cNvPr>
          <p:cNvPicPr>
            <a:picLocks noChangeAspect="1"/>
          </p:cNvPicPr>
          <p:nvPr/>
        </p:nvPicPr>
        <p:blipFill>
          <a:blip r:embed="rId1"/>
          <a:stretch>
            <a:fillRect/>
          </a:stretch>
        </p:blipFill>
        <p:spPr>
          <a:xfrm>
            <a:off x="804672" y="2633472"/>
            <a:ext cx="2231136" cy="1452470"/>
          </a:xfrm>
          <a:prstGeom prst="rect">
            <a:avLst/>
          </a:prstGeom>
        </p:spPr>
      </p:pic>
      <p:sp>
        <p:nvSpPr>
          <p:cNvPr id="7" name="Shape 4"/>
          <p:cNvSpPr/>
          <p:nvPr/>
        </p:nvSpPr>
        <p:spPr>
          <a:xfrm>
            <a:off x="822960" y="4250534"/>
            <a:ext cx="1803197" cy="237744"/>
          </a:xfrm>
          <a:prstGeom prst="roundRect">
            <a:avLst>
              <a:gd name="adj" fmla="val 23077"/>
            </a:avLst>
          </a:prstGeom>
          <a:solidFill>
            <a:srgbClr val="00D4FF"/>
          </a:solidFill>
          <a:ln w="12700">
            <a:solidFill>
              <a:srgbClr val="00D4FF"/>
            </a:solidFill>
            <a:prstDash val="solid"/>
          </a:ln>
        </p:spPr>
      </p:sp>
      <p:sp>
        <p:nvSpPr>
          <p:cNvPr id="8" name="Text 5"/>
          <p:cNvSpPr/>
          <p:nvPr/>
        </p:nvSpPr>
        <p:spPr>
          <a:xfrm>
            <a:off x="822960" y="4250534"/>
            <a:ext cx="1803197" cy="237744"/>
          </a:xfrm>
          <a:prstGeom prst="rect">
            <a:avLst/>
          </a:prstGeom>
          <a:noFill/>
          <a:ln/>
        </p:spPr>
        <p:txBody>
          <a:bodyPr wrap="square" lIns="0" tIns="0" rIns="0" bIns="0" rtlCol="0" anchor="ctr"/>
          <a:lstStyle/>
          <a:p>
            <a:pPr algn="ctr" indent="0" marL="0">
              <a:buNone/>
            </a:pPr>
            <a:r>
              <a:rPr lang="en-US" sz="900" b="1" spc="140" kern="0" dirty="0">
                <a:solidFill>
                  <a:srgbClr val="04121C"/>
                </a:solidFill>
                <a:latin typeface="Calibri" pitchFamily="34" charset="0"/>
                <a:ea typeface="Calibri" pitchFamily="34" charset="-122"/>
                <a:cs typeface="Calibri" pitchFamily="34" charset="-120"/>
              </a:rPr>
              <a:t>RESTORATION ROYALTY</a:t>
            </a:r>
            <a:endParaRPr lang="en-US" sz="900" dirty="0"/>
          </a:p>
        </p:txBody>
      </p:sp>
      <p:sp>
        <p:nvSpPr>
          <p:cNvPr id="9" name="Text 6"/>
          <p:cNvSpPr/>
          <p:nvPr/>
        </p:nvSpPr>
        <p:spPr>
          <a:xfrm>
            <a:off x="822960" y="4579718"/>
            <a:ext cx="2194560" cy="457200"/>
          </a:xfrm>
          <a:prstGeom prst="rect">
            <a:avLst/>
          </a:prstGeom>
          <a:noFill/>
          <a:ln/>
        </p:spPr>
        <p:txBody>
          <a:bodyPr wrap="square" lIns="0" tIns="0" rIns="0" bIns="0" rtlCol="0" anchor="ctr"/>
          <a:lstStyle/>
          <a:p>
            <a:pPr indent="0" marL="0">
              <a:lnSpc>
                <a:spcPts val="1800"/>
              </a:lnSpc>
              <a:buNone/>
            </a:pPr>
            <a:r>
              <a:rPr lang="en-US" sz="1500" b="1" dirty="0">
                <a:solidFill>
                  <a:srgbClr val="EAF2FF"/>
                </a:solidFill>
                <a:latin typeface="Calibri" pitchFamily="34" charset="0"/>
                <a:ea typeface="Calibri" pitchFamily="34" charset="-122"/>
                <a:cs typeface="Calibri" pitchFamily="34" charset="-120"/>
              </a:rPr>
              <a:t>Restoration Royalties</a:t>
            </a:r>
            <a:endParaRPr lang="en-US" sz="1500" dirty="0"/>
          </a:p>
        </p:txBody>
      </p:sp>
      <p:sp>
        <p:nvSpPr>
          <p:cNvPr id="10" name="Shape 7"/>
          <p:cNvSpPr/>
          <p:nvPr/>
        </p:nvSpPr>
        <p:spPr>
          <a:xfrm>
            <a:off x="3438144" y="2487168"/>
            <a:ext cx="2523744" cy="2926080"/>
          </a:xfrm>
          <a:prstGeom prst="roundRect">
            <a:avLst>
              <a:gd name="adj" fmla="val 4348"/>
            </a:avLst>
          </a:prstGeom>
          <a:solidFill>
            <a:srgbClr val="101A33"/>
          </a:solidFill>
          <a:ln w="12700">
            <a:solidFill>
              <a:srgbClr val="1E2E4A"/>
            </a:solidFill>
            <a:prstDash val="solid"/>
          </a:ln>
        </p:spPr>
      </p:sp>
      <p:pic>
        <p:nvPicPr>
          <p:cNvPr id="11" name="Image 1" descr="preencoded.png">    </p:cNvPr>
          <p:cNvPicPr>
            <a:picLocks noChangeAspect="1"/>
          </p:cNvPicPr>
          <p:nvPr/>
        </p:nvPicPr>
        <p:blipFill>
          <a:blip r:embed="rId2"/>
          <a:stretch>
            <a:fillRect/>
          </a:stretch>
        </p:blipFill>
        <p:spPr>
          <a:xfrm>
            <a:off x="3584448" y="2633472"/>
            <a:ext cx="2231136" cy="1452470"/>
          </a:xfrm>
          <a:prstGeom prst="rect">
            <a:avLst/>
          </a:prstGeom>
        </p:spPr>
      </p:pic>
      <p:sp>
        <p:nvSpPr>
          <p:cNvPr id="12" name="Shape 8"/>
          <p:cNvSpPr/>
          <p:nvPr/>
        </p:nvSpPr>
        <p:spPr>
          <a:xfrm>
            <a:off x="3602736" y="4250534"/>
            <a:ext cx="1561795" cy="237744"/>
          </a:xfrm>
          <a:prstGeom prst="roundRect">
            <a:avLst>
              <a:gd name="adj" fmla="val 23077"/>
            </a:avLst>
          </a:prstGeom>
          <a:solidFill>
            <a:srgbClr val="FFC24B"/>
          </a:solidFill>
          <a:ln w="12700">
            <a:solidFill>
              <a:srgbClr val="FFC24B"/>
            </a:solidFill>
            <a:prstDash val="solid"/>
          </a:ln>
        </p:spPr>
      </p:sp>
      <p:sp>
        <p:nvSpPr>
          <p:cNvPr id="13" name="Text 9"/>
          <p:cNvSpPr/>
          <p:nvPr/>
        </p:nvSpPr>
        <p:spPr>
          <a:xfrm>
            <a:off x="3602736" y="4250534"/>
            <a:ext cx="1561795" cy="237744"/>
          </a:xfrm>
          <a:prstGeom prst="rect">
            <a:avLst/>
          </a:prstGeom>
          <a:noFill/>
          <a:ln/>
        </p:spPr>
        <p:txBody>
          <a:bodyPr wrap="square" lIns="0" tIns="0" rIns="0" bIns="0" rtlCol="0" anchor="ctr"/>
          <a:lstStyle/>
          <a:p>
            <a:pPr algn="ctr" indent="0" marL="0">
              <a:buNone/>
            </a:pPr>
            <a:r>
              <a:rPr lang="en-US" sz="900" b="1" spc="140" kern="0" dirty="0">
                <a:solidFill>
                  <a:srgbClr val="04121C"/>
                </a:solidFill>
                <a:latin typeface="Calibri" pitchFamily="34" charset="0"/>
                <a:ea typeface="Calibri" pitchFamily="34" charset="-122"/>
                <a:cs typeface="Calibri" pitchFamily="34" charset="-120"/>
              </a:rPr>
              <a:t>PUBLIC ADJUSTING</a:t>
            </a:r>
            <a:endParaRPr lang="en-US" sz="900" dirty="0"/>
          </a:p>
        </p:txBody>
      </p:sp>
      <p:sp>
        <p:nvSpPr>
          <p:cNvPr id="14" name="Text 10"/>
          <p:cNvSpPr/>
          <p:nvPr/>
        </p:nvSpPr>
        <p:spPr>
          <a:xfrm>
            <a:off x="3602736" y="4579718"/>
            <a:ext cx="2194560" cy="457200"/>
          </a:xfrm>
          <a:prstGeom prst="rect">
            <a:avLst/>
          </a:prstGeom>
          <a:noFill/>
          <a:ln/>
        </p:spPr>
        <p:txBody>
          <a:bodyPr wrap="square" lIns="0" tIns="0" rIns="0" bIns="0" rtlCol="0" anchor="ctr"/>
          <a:lstStyle/>
          <a:p>
            <a:pPr indent="0" marL="0">
              <a:lnSpc>
                <a:spcPts val="1800"/>
              </a:lnSpc>
              <a:buNone/>
            </a:pPr>
            <a:r>
              <a:rPr lang="en-US" sz="1500" b="1" dirty="0">
                <a:solidFill>
                  <a:srgbClr val="EAF2FF"/>
                </a:solidFill>
                <a:latin typeface="Calibri" pitchFamily="34" charset="0"/>
                <a:ea typeface="Calibri" pitchFamily="34" charset="-122"/>
                <a:cs typeface="Calibri" pitchFamily="34" charset="-120"/>
              </a:rPr>
              <a:t>FAST Adjusting</a:t>
            </a:r>
            <a:endParaRPr lang="en-US" sz="1500" dirty="0"/>
          </a:p>
        </p:txBody>
      </p:sp>
      <p:sp>
        <p:nvSpPr>
          <p:cNvPr id="15" name="Shape 11"/>
          <p:cNvSpPr/>
          <p:nvPr/>
        </p:nvSpPr>
        <p:spPr>
          <a:xfrm>
            <a:off x="6217920" y="2487168"/>
            <a:ext cx="2523744" cy="2926080"/>
          </a:xfrm>
          <a:prstGeom prst="roundRect">
            <a:avLst>
              <a:gd name="adj" fmla="val 4348"/>
            </a:avLst>
          </a:prstGeom>
          <a:solidFill>
            <a:srgbClr val="101A33"/>
          </a:solidFill>
          <a:ln w="12700">
            <a:solidFill>
              <a:srgbClr val="1E2E4A"/>
            </a:solidFill>
            <a:prstDash val="solid"/>
          </a:ln>
        </p:spPr>
      </p:sp>
      <p:pic>
        <p:nvPicPr>
          <p:cNvPr id="16" name="Image 2" descr="preencoded.png">    </p:cNvPr>
          <p:cNvPicPr>
            <a:picLocks noChangeAspect="1"/>
          </p:cNvPicPr>
          <p:nvPr/>
        </p:nvPicPr>
        <p:blipFill>
          <a:blip r:embed="rId3"/>
          <a:stretch>
            <a:fillRect/>
          </a:stretch>
        </p:blipFill>
        <p:spPr>
          <a:xfrm>
            <a:off x="6364224" y="2633472"/>
            <a:ext cx="2231136" cy="1452470"/>
          </a:xfrm>
          <a:prstGeom prst="rect">
            <a:avLst/>
          </a:prstGeom>
        </p:spPr>
      </p:pic>
      <p:sp>
        <p:nvSpPr>
          <p:cNvPr id="17" name="Shape 12"/>
          <p:cNvSpPr/>
          <p:nvPr/>
        </p:nvSpPr>
        <p:spPr>
          <a:xfrm>
            <a:off x="6382512" y="4250534"/>
            <a:ext cx="1078992" cy="237744"/>
          </a:xfrm>
          <a:prstGeom prst="roundRect">
            <a:avLst>
              <a:gd name="adj" fmla="val 23077"/>
            </a:avLst>
          </a:prstGeom>
          <a:solidFill>
            <a:srgbClr val="FF7A45"/>
          </a:solidFill>
          <a:ln w="12700">
            <a:solidFill>
              <a:srgbClr val="FF7A45"/>
            </a:solidFill>
            <a:prstDash val="solid"/>
          </a:ln>
        </p:spPr>
      </p:sp>
      <p:sp>
        <p:nvSpPr>
          <p:cNvPr id="18" name="Text 13"/>
          <p:cNvSpPr/>
          <p:nvPr/>
        </p:nvSpPr>
        <p:spPr>
          <a:xfrm>
            <a:off x="6382512" y="4250534"/>
            <a:ext cx="1078992" cy="237744"/>
          </a:xfrm>
          <a:prstGeom prst="rect">
            <a:avLst/>
          </a:prstGeom>
          <a:noFill/>
          <a:ln/>
        </p:spPr>
        <p:txBody>
          <a:bodyPr wrap="square" lIns="0" tIns="0" rIns="0" bIns="0" rtlCol="0" anchor="ctr"/>
          <a:lstStyle/>
          <a:p>
            <a:pPr algn="ctr" indent="0" marL="0">
              <a:buNone/>
            </a:pPr>
            <a:r>
              <a:rPr lang="en-US" sz="900" b="1" spc="140" kern="0" dirty="0">
                <a:solidFill>
                  <a:srgbClr val="04121C"/>
                </a:solidFill>
                <a:latin typeface="Calibri" pitchFamily="34" charset="0"/>
                <a:ea typeface="Calibri" pitchFamily="34" charset="-122"/>
                <a:cs typeface="Calibri" pitchFamily="34" charset="-120"/>
              </a:rPr>
              <a:t>ELECTRICAL</a:t>
            </a:r>
            <a:endParaRPr lang="en-US" sz="900" dirty="0"/>
          </a:p>
        </p:txBody>
      </p:sp>
      <p:sp>
        <p:nvSpPr>
          <p:cNvPr id="19" name="Text 14"/>
          <p:cNvSpPr/>
          <p:nvPr/>
        </p:nvSpPr>
        <p:spPr>
          <a:xfrm>
            <a:off x="6382512" y="4579718"/>
            <a:ext cx="2194560" cy="457200"/>
          </a:xfrm>
          <a:prstGeom prst="rect">
            <a:avLst/>
          </a:prstGeom>
          <a:noFill/>
          <a:ln/>
        </p:spPr>
        <p:txBody>
          <a:bodyPr wrap="square" lIns="0" tIns="0" rIns="0" bIns="0" rtlCol="0" anchor="ctr"/>
          <a:lstStyle/>
          <a:p>
            <a:pPr indent="0" marL="0">
              <a:lnSpc>
                <a:spcPts val="1800"/>
              </a:lnSpc>
              <a:buNone/>
            </a:pPr>
            <a:r>
              <a:rPr lang="en-US" sz="1500" b="1" dirty="0">
                <a:solidFill>
                  <a:srgbClr val="EAF2FF"/>
                </a:solidFill>
                <a:latin typeface="Calibri" pitchFamily="34" charset="0"/>
                <a:ea typeface="Calibri" pitchFamily="34" charset="-122"/>
                <a:cs typeface="Calibri" pitchFamily="34" charset="-120"/>
              </a:rPr>
              <a:t>YES Electrical</a:t>
            </a:r>
            <a:endParaRPr lang="en-US" sz="1500" dirty="0"/>
          </a:p>
        </p:txBody>
      </p:sp>
      <p:sp>
        <p:nvSpPr>
          <p:cNvPr id="20" name="Shape 15"/>
          <p:cNvSpPr/>
          <p:nvPr/>
        </p:nvSpPr>
        <p:spPr>
          <a:xfrm>
            <a:off x="8997696" y="2487168"/>
            <a:ext cx="2523744" cy="2926080"/>
          </a:xfrm>
          <a:prstGeom prst="roundRect">
            <a:avLst>
              <a:gd name="adj" fmla="val 4348"/>
            </a:avLst>
          </a:prstGeom>
          <a:solidFill>
            <a:srgbClr val="101A33"/>
          </a:solidFill>
          <a:ln w="12700">
            <a:solidFill>
              <a:srgbClr val="1E2E4A"/>
            </a:solidFill>
            <a:prstDash val="solid"/>
          </a:ln>
        </p:spPr>
      </p:sp>
      <p:pic>
        <p:nvPicPr>
          <p:cNvPr id="21" name="Image 3" descr="preencoded.png">    </p:cNvPr>
          <p:cNvPicPr>
            <a:picLocks noChangeAspect="1"/>
          </p:cNvPicPr>
          <p:nvPr/>
        </p:nvPicPr>
        <p:blipFill>
          <a:blip r:embed="rId4"/>
          <a:stretch>
            <a:fillRect/>
          </a:stretch>
        </p:blipFill>
        <p:spPr>
          <a:xfrm>
            <a:off x="9144000" y="2633472"/>
            <a:ext cx="2231136" cy="1452470"/>
          </a:xfrm>
          <a:prstGeom prst="rect">
            <a:avLst/>
          </a:prstGeom>
        </p:spPr>
      </p:pic>
      <p:sp>
        <p:nvSpPr>
          <p:cNvPr id="22" name="Shape 16"/>
          <p:cNvSpPr/>
          <p:nvPr/>
        </p:nvSpPr>
        <p:spPr>
          <a:xfrm>
            <a:off x="9162288" y="4250534"/>
            <a:ext cx="918058" cy="237744"/>
          </a:xfrm>
          <a:prstGeom prst="roundRect">
            <a:avLst>
              <a:gd name="adj" fmla="val 23077"/>
            </a:avLst>
          </a:prstGeom>
          <a:solidFill>
            <a:srgbClr val="00FF88"/>
          </a:solidFill>
          <a:ln w="12700">
            <a:solidFill>
              <a:srgbClr val="00FF88"/>
            </a:solidFill>
            <a:prstDash val="solid"/>
          </a:ln>
        </p:spPr>
      </p:sp>
      <p:sp>
        <p:nvSpPr>
          <p:cNvPr id="23" name="Text 17"/>
          <p:cNvSpPr/>
          <p:nvPr/>
        </p:nvSpPr>
        <p:spPr>
          <a:xfrm>
            <a:off x="9162288" y="4250534"/>
            <a:ext cx="918058" cy="237744"/>
          </a:xfrm>
          <a:prstGeom prst="rect">
            <a:avLst/>
          </a:prstGeom>
          <a:noFill/>
          <a:ln/>
        </p:spPr>
        <p:txBody>
          <a:bodyPr wrap="square" lIns="0" tIns="0" rIns="0" bIns="0" rtlCol="0" anchor="ctr"/>
          <a:lstStyle/>
          <a:p>
            <a:pPr algn="ctr" indent="0" marL="0">
              <a:buNone/>
            </a:pPr>
            <a:r>
              <a:rPr lang="en-US" sz="900" b="1" spc="140" kern="0" dirty="0">
                <a:solidFill>
                  <a:srgbClr val="04121C"/>
                </a:solidFill>
                <a:latin typeface="Calibri" pitchFamily="34" charset="0"/>
                <a:ea typeface="Calibri" pitchFamily="34" charset="-122"/>
                <a:cs typeface="Calibri" pitchFamily="34" charset="-120"/>
              </a:rPr>
              <a:t>PLATFORM</a:t>
            </a:r>
            <a:endParaRPr lang="en-US" sz="900" dirty="0"/>
          </a:p>
        </p:txBody>
      </p:sp>
      <p:sp>
        <p:nvSpPr>
          <p:cNvPr id="24" name="Text 18"/>
          <p:cNvSpPr/>
          <p:nvPr/>
        </p:nvSpPr>
        <p:spPr>
          <a:xfrm>
            <a:off x="9162288" y="4579718"/>
            <a:ext cx="2194560" cy="457200"/>
          </a:xfrm>
          <a:prstGeom prst="rect">
            <a:avLst/>
          </a:prstGeom>
          <a:noFill/>
          <a:ln/>
        </p:spPr>
        <p:txBody>
          <a:bodyPr wrap="square" lIns="0" tIns="0" rIns="0" bIns="0" rtlCol="0" anchor="ctr"/>
          <a:lstStyle/>
          <a:p>
            <a:pPr indent="0" marL="0">
              <a:lnSpc>
                <a:spcPts val="1800"/>
              </a:lnSpc>
              <a:buNone/>
            </a:pPr>
            <a:r>
              <a:rPr lang="en-US" sz="1500" b="1" dirty="0">
                <a:solidFill>
                  <a:srgbClr val="EAF2FF"/>
                </a:solidFill>
                <a:latin typeface="Calibri" pitchFamily="34" charset="0"/>
                <a:ea typeface="Calibri" pitchFamily="34" charset="-122"/>
                <a:cs typeface="Calibri" pitchFamily="34" charset="-120"/>
              </a:rPr>
              <a:t>TELVERGE</a:t>
            </a:r>
            <a:endParaRPr lang="en-US" sz="1500" dirty="0"/>
          </a:p>
        </p:txBody>
      </p:sp>
      <p:sp>
        <p:nvSpPr>
          <p:cNvPr id="25" name="Text 19"/>
          <p:cNvSpPr/>
          <p:nvPr/>
        </p:nvSpPr>
        <p:spPr>
          <a:xfrm>
            <a:off x="658368" y="5632704"/>
            <a:ext cx="10872216" cy="457200"/>
          </a:xfrm>
          <a:prstGeom prst="rect">
            <a:avLst/>
          </a:prstGeom>
          <a:noFill/>
          <a:ln/>
        </p:spPr>
        <p:txBody>
          <a:bodyPr wrap="square" lIns="0" tIns="0" rIns="0" bIns="0" rtlCol="0" anchor="ctr"/>
          <a:lstStyle/>
          <a:p>
            <a:pPr indent="0" marL="0">
              <a:lnSpc>
                <a:spcPts val="2000"/>
              </a:lnSpc>
              <a:buNone/>
            </a:pPr>
            <a:r>
              <a:rPr lang="en-US" sz="1400" i="1" dirty="0">
                <a:solidFill>
                  <a:srgbClr val="EAF2FF"/>
                </a:solidFill>
                <a:latin typeface="Calibri" pitchFamily="34" charset="0"/>
                <a:ea typeface="Calibri" pitchFamily="34" charset="-122"/>
                <a:cs typeface="Calibri" pitchFamily="34" charset="-120"/>
              </a:rPr>
              <a:t>A homeowner who calls the electrical number after a storm has a wet ceiling too. The network shares what it catches, and the partner closest to the work takes it.</a:t>
            </a:r>
            <a:endParaRPr lang="en-US" sz="1400" dirty="0"/>
          </a:p>
        </p:txBody>
      </p:sp>
      <p:sp>
        <p:nvSpPr>
          <p:cNvPr id="26" name="Text 20"/>
          <p:cNvSpPr/>
          <p:nvPr/>
        </p:nvSpPr>
        <p:spPr>
          <a:xfrm>
            <a:off x="658368" y="6291072"/>
            <a:ext cx="10872216" cy="237744"/>
          </a:xfrm>
          <a:prstGeom prst="rect">
            <a:avLst/>
          </a:prstGeom>
          <a:noFill/>
          <a:ln/>
        </p:spPr>
        <p:txBody>
          <a:bodyPr wrap="square" lIns="0" tIns="0" rIns="0" bIns="0" rtlCol="0" anchor="ctr"/>
          <a:lstStyle/>
          <a:p>
            <a:pPr indent="0" marL="0">
              <a:buNone/>
            </a:pPr>
            <a:r>
              <a:rPr lang="en-US" sz="900" dirty="0">
                <a:solidFill>
                  <a:srgbClr val="54658A"/>
                </a:solidFill>
                <a:latin typeface="Calibri" pitchFamily="34" charset="0"/>
                <a:ea typeface="Calibri" pitchFamily="34" charset="-122"/>
                <a:cs typeface="Calibri" pitchFamily="34" charset="-120"/>
              </a:rPr>
              <a:t>Telvergence, Inc.  ·  Confidential — prepared for Jimmy Mejia</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C18"/>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1481328"/>
            <a:ext cx="6675120" cy="4345503"/>
          </a:xfrm>
          <a:prstGeom prst="rect">
            <a:avLst/>
          </a:prstGeom>
        </p:spPr>
      </p:pic>
      <p:sp>
        <p:nvSpPr>
          <p:cNvPr id="3" name="Shape 0"/>
          <p:cNvSpPr/>
          <p:nvPr/>
        </p:nvSpPr>
        <p:spPr>
          <a:xfrm>
            <a:off x="566928" y="1481328"/>
            <a:ext cx="6675120" cy="4345503"/>
          </a:xfrm>
          <a:prstGeom prst="roundRect">
            <a:avLst>
              <a:gd name="adj" fmla="val 1683"/>
            </a:avLst>
          </a:prstGeom>
          <a:solidFill>
            <a:srgbClr val="070C18">
              <a:alpha val="0"/>
            </a:srgbClr>
          </a:solidFill>
          <a:ln w="15875">
            <a:solidFill>
              <a:srgbClr val="2A3F63"/>
            </a:solidFill>
            <a:prstDash val="solid"/>
          </a:ln>
        </p:spPr>
      </p:sp>
      <p:sp>
        <p:nvSpPr>
          <p:cNvPr id="4" name="Text 1"/>
          <p:cNvSpPr/>
          <p:nvPr/>
        </p:nvSpPr>
        <p:spPr>
          <a:xfrm>
            <a:off x="658368" y="457200"/>
            <a:ext cx="10872216" cy="256032"/>
          </a:xfrm>
          <a:prstGeom prst="rect">
            <a:avLst/>
          </a:prstGeom>
          <a:noFill/>
          <a:ln/>
        </p:spPr>
        <p:txBody>
          <a:bodyPr wrap="square" lIns="0" tIns="0" rIns="0" bIns="0" rtlCol="0" anchor="ctr"/>
          <a:lstStyle/>
          <a:p>
            <a:pPr indent="0" marL="0">
              <a:buNone/>
            </a:pPr>
            <a:r>
              <a:rPr lang="en-US" sz="1100" b="1" spc="240" kern="0" dirty="0">
                <a:solidFill>
                  <a:srgbClr val="00D4FF"/>
                </a:solidFill>
                <a:latin typeface="Calibri" pitchFamily="34" charset="0"/>
                <a:ea typeface="Calibri" pitchFamily="34" charset="-122"/>
                <a:cs typeface="Calibri" pitchFamily="34" charset="-120"/>
              </a:rPr>
              <a:t>RESTORATION ROYALTY</a:t>
            </a:r>
            <a:endParaRPr lang="en-US" sz="1100" dirty="0"/>
          </a:p>
        </p:txBody>
      </p:sp>
      <p:sp>
        <p:nvSpPr>
          <p:cNvPr id="5" name="Text 2"/>
          <p:cNvSpPr/>
          <p:nvPr/>
        </p:nvSpPr>
        <p:spPr>
          <a:xfrm>
            <a:off x="658368" y="786384"/>
            <a:ext cx="10872216" cy="822960"/>
          </a:xfrm>
          <a:prstGeom prst="rect">
            <a:avLst/>
          </a:prstGeom>
          <a:noFill/>
          <a:ln/>
        </p:spPr>
        <p:txBody>
          <a:bodyPr wrap="square" lIns="0" tIns="0" rIns="0" bIns="0" rtlCol="0" anchor="ctr"/>
          <a:lstStyle/>
          <a:p>
            <a:pPr indent="0" marL="0">
              <a:buNone/>
            </a:pPr>
            <a:r>
              <a:rPr lang="en-US" sz="3000" b="1" spc="-40" kern="0" dirty="0">
                <a:solidFill>
                  <a:srgbClr val="EAF2FF"/>
                </a:solidFill>
                <a:latin typeface="Calibri" pitchFamily="34" charset="0"/>
                <a:ea typeface="Calibri" pitchFamily="34" charset="-122"/>
                <a:cs typeface="Calibri" pitchFamily="34" charset="-120"/>
              </a:rPr>
              <a:t>Restoration Royalties</a:t>
            </a:r>
            <a:endParaRPr lang="en-US" sz="3000" dirty="0"/>
          </a:p>
        </p:txBody>
      </p:sp>
      <p:sp>
        <p:nvSpPr>
          <p:cNvPr id="6" name="Text 3"/>
          <p:cNvSpPr/>
          <p:nvPr/>
        </p:nvSpPr>
        <p:spPr>
          <a:xfrm>
            <a:off x="658368" y="1225296"/>
            <a:ext cx="10872216" cy="256032"/>
          </a:xfrm>
          <a:prstGeom prst="rect">
            <a:avLst/>
          </a:prstGeom>
          <a:noFill/>
          <a:ln/>
        </p:spPr>
        <p:txBody>
          <a:bodyPr wrap="square" lIns="0" tIns="0" rIns="0" bIns="0" rtlCol="0" anchor="ctr"/>
          <a:lstStyle/>
          <a:p>
            <a:pPr indent="0" marL="0">
              <a:buNone/>
            </a:pPr>
            <a:r>
              <a:rPr lang="en-US" sz="1300" b="1" dirty="0">
                <a:solidFill>
                  <a:srgbClr val="00D4FF"/>
                </a:solidFill>
                <a:latin typeface="Calibri" pitchFamily="34" charset="0"/>
                <a:ea typeface="Calibri" pitchFamily="34" charset="-122"/>
                <a:cs typeface="Calibri" pitchFamily="34" charset="-120"/>
              </a:rPr>
              <a:t>Mold · water damage · roofing — South Florida</a:t>
            </a:r>
            <a:endParaRPr lang="en-US" sz="1300" dirty="0"/>
          </a:p>
        </p:txBody>
      </p:sp>
      <p:sp>
        <p:nvSpPr>
          <p:cNvPr id="7" name="Text 4"/>
          <p:cNvSpPr/>
          <p:nvPr/>
        </p:nvSpPr>
        <p:spPr>
          <a:xfrm>
            <a:off x="7534656" y="1828800"/>
            <a:ext cx="4023360" cy="2286000"/>
          </a:xfrm>
          <a:prstGeom prst="rect">
            <a:avLst/>
          </a:prstGeom>
          <a:noFill/>
          <a:ln/>
        </p:spPr>
        <p:txBody>
          <a:bodyPr wrap="square" lIns="0" tIns="0" rIns="0" bIns="0" rtlCol="0" anchor="ctr"/>
          <a:lstStyle/>
          <a:p>
            <a:pPr marL="342900" indent="-342900">
              <a:lnSpc>
                <a:spcPts val="1800"/>
              </a:lnSpc>
              <a:spcAft>
                <a:spcPts val="1000"/>
              </a:spcAft>
              <a:buSzPct val="100000"/>
              <a:buChar char="•"/>
            </a:pPr>
            <a:r>
              <a:rPr lang="en-US" sz="1300" dirty="0">
                <a:solidFill>
                  <a:srgbClr val="8FA3C0"/>
                </a:solidFill>
                <a:latin typeface="Calibri" pitchFamily="34" charset="0"/>
                <a:ea typeface="Calibri" pitchFamily="34" charset="-122"/>
                <a:cs typeface="Calibri" pitchFamily="34" charset="-120"/>
              </a:rPr>
              <a:t>Ten assigned Smart-DIDs, branded caller ID, forwarding to your cell</a:t>
            </a:r>
            <a:endParaRPr lang="en-US" sz="1300" dirty="0"/>
          </a:p>
          <a:p>
            <a:pPr marL="342900" indent="-342900">
              <a:lnSpc>
                <a:spcPts val="1800"/>
              </a:lnSpc>
              <a:spcAft>
                <a:spcPts val="1000"/>
              </a:spcAft>
              <a:buSzPct val="100000"/>
              <a:buChar char="•"/>
            </a:pPr>
            <a:r>
              <a:rPr lang="en-US" sz="1300" dirty="0">
                <a:solidFill>
                  <a:srgbClr val="8FA3C0"/>
                </a:solidFill>
                <a:latin typeface="Calibri" pitchFamily="34" charset="0"/>
                <a:ea typeface="Calibri" pitchFamily="34" charset="-122"/>
                <a:cs typeface="Calibri" pitchFamily="34" charset="-120"/>
              </a:rPr>
              <a:t>Round-the-clock intake asks the four qualifying questions</a:t>
            </a:r>
            <a:endParaRPr lang="en-US" sz="1300" dirty="0"/>
          </a:p>
          <a:p>
            <a:pPr marL="342900" indent="-342900">
              <a:lnSpc>
                <a:spcPts val="1800"/>
              </a:lnSpc>
              <a:spcAft>
                <a:spcPts val="1000"/>
              </a:spcAft>
              <a:buSzPct val="100000"/>
              <a:buChar char="•"/>
            </a:pPr>
            <a:r>
              <a:rPr lang="en-US" sz="1300" dirty="0">
                <a:solidFill>
                  <a:srgbClr val="8FA3C0"/>
                </a:solidFill>
                <a:latin typeface="Calibri" pitchFamily="34" charset="0"/>
                <a:ea typeface="Calibri" pitchFamily="34" charset="-122"/>
                <a:cs typeface="Calibri" pitchFamily="34" charset="-120"/>
              </a:rPr>
              <a:t>Free moisture, mold, and roof assessment with a written scope</a:t>
            </a:r>
            <a:endParaRPr lang="en-US" sz="1300" dirty="0"/>
          </a:p>
        </p:txBody>
      </p:sp>
      <p:sp>
        <p:nvSpPr>
          <p:cNvPr id="8" name="Text 5">
            <a:hlinkClick r:id="rId2" tooltip=""/>
          </p:cNvPr>
          <p:cNvSpPr/>
          <p:nvPr/>
        </p:nvSpPr>
        <p:spPr>
          <a:xfrm>
            <a:off x="7534656" y="4315968"/>
            <a:ext cx="4023360" cy="310896"/>
          </a:xfrm>
          <a:prstGeom prst="rect">
            <a:avLst/>
          </a:prstGeom>
          <a:noFill/>
          <a:ln/>
        </p:spPr>
        <p:txBody>
          <a:bodyPr wrap="square" lIns="0" tIns="0" rIns="0" bIns="0" rtlCol="0" anchor="ctr"/>
          <a:lstStyle/>
          <a:p>
            <a:pPr indent="0" marL="0">
              <a:buNone/>
            </a:pPr>
            <a:r>
              <a:rPr lang="en-US" sz="1200" u="sng" dirty="0">
                <a:solidFill>
                  <a:srgbClr val="00D4FF"/>
                </a:solidFill>
                <a:latin typeface="Consolas" pitchFamily="34" charset="0"/>
                <a:ea typeface="Consolas" pitchFamily="34" charset="-122"/>
                <a:cs typeface="Consolas" pitchFamily="34" charset="-120"/>
                <a:hlinkClick r:id="rId2" invalidUrl="" action="" tgtFrame="" tooltip="" history="1" highlightClick="0" endSnd="0">
                  <a:extLst>
                    <a:ext uri="{A12FA001-AC4F-418D-AE19-62706E023703}">
                      <ahyp:hlinkClr xmlns:ahyp="http://schemas.microsoft.com/office/drawing/2018/hyperlinkcolor" val="tx"/>
                    </a:ext>
                  </a:extLst>
                </a:hlinkClick>
              </a:rPr>
              <a:t>restorationroyalties.com/rr/</a:t>
            </a:r>
            <a:endParaRPr lang="en-US" sz="1200" dirty="0"/>
          </a:p>
        </p:txBody>
      </p:sp>
      <p:sp>
        <p:nvSpPr>
          <p:cNvPr id="9" name="Text 6"/>
          <p:cNvSpPr/>
          <p:nvPr/>
        </p:nvSpPr>
        <p:spPr>
          <a:xfrm>
            <a:off x="658368" y="6291072"/>
            <a:ext cx="10872216" cy="237744"/>
          </a:xfrm>
          <a:prstGeom prst="rect">
            <a:avLst/>
          </a:prstGeom>
          <a:noFill/>
          <a:ln/>
        </p:spPr>
        <p:txBody>
          <a:bodyPr wrap="square" lIns="0" tIns="0" rIns="0" bIns="0" rtlCol="0" anchor="ctr"/>
          <a:lstStyle/>
          <a:p>
            <a:pPr indent="0" marL="0">
              <a:buNone/>
            </a:pPr>
            <a:r>
              <a:rPr lang="en-US" sz="900" dirty="0">
                <a:solidFill>
                  <a:srgbClr val="54658A"/>
                </a:solidFill>
                <a:latin typeface="Calibri" pitchFamily="34" charset="0"/>
                <a:ea typeface="Calibri" pitchFamily="34" charset="-122"/>
                <a:cs typeface="Calibri" pitchFamily="34" charset="-120"/>
              </a:rPr>
              <a:t>Telvergence, Inc.  ·  Confidential — prepared for Jimmy Mejia</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C18"/>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1481328"/>
            <a:ext cx="6675120" cy="4345503"/>
          </a:xfrm>
          <a:prstGeom prst="rect">
            <a:avLst/>
          </a:prstGeom>
        </p:spPr>
      </p:pic>
      <p:sp>
        <p:nvSpPr>
          <p:cNvPr id="3" name="Shape 0"/>
          <p:cNvSpPr/>
          <p:nvPr/>
        </p:nvSpPr>
        <p:spPr>
          <a:xfrm>
            <a:off x="566928" y="1481328"/>
            <a:ext cx="6675120" cy="4345503"/>
          </a:xfrm>
          <a:prstGeom prst="roundRect">
            <a:avLst>
              <a:gd name="adj" fmla="val 1683"/>
            </a:avLst>
          </a:prstGeom>
          <a:solidFill>
            <a:srgbClr val="070C18">
              <a:alpha val="0"/>
            </a:srgbClr>
          </a:solidFill>
          <a:ln w="15875">
            <a:solidFill>
              <a:srgbClr val="2A3F63"/>
            </a:solidFill>
            <a:prstDash val="solid"/>
          </a:ln>
        </p:spPr>
      </p:sp>
      <p:sp>
        <p:nvSpPr>
          <p:cNvPr id="4" name="Text 1"/>
          <p:cNvSpPr/>
          <p:nvPr/>
        </p:nvSpPr>
        <p:spPr>
          <a:xfrm>
            <a:off x="658368" y="457200"/>
            <a:ext cx="10872216" cy="256032"/>
          </a:xfrm>
          <a:prstGeom prst="rect">
            <a:avLst/>
          </a:prstGeom>
          <a:noFill/>
          <a:ln/>
        </p:spPr>
        <p:txBody>
          <a:bodyPr wrap="square" lIns="0" tIns="0" rIns="0" bIns="0" rtlCol="0" anchor="ctr"/>
          <a:lstStyle/>
          <a:p>
            <a:pPr indent="0" marL="0">
              <a:buNone/>
            </a:pPr>
            <a:r>
              <a:rPr lang="en-US" sz="1100" b="1" spc="240" kern="0" dirty="0">
                <a:solidFill>
                  <a:srgbClr val="FFC24B"/>
                </a:solidFill>
                <a:latin typeface="Calibri" pitchFamily="34" charset="0"/>
                <a:ea typeface="Calibri" pitchFamily="34" charset="-122"/>
                <a:cs typeface="Calibri" pitchFamily="34" charset="-120"/>
              </a:rPr>
              <a:t>PUBLIC ADJUSTING</a:t>
            </a:r>
            <a:endParaRPr lang="en-US" sz="1100" dirty="0"/>
          </a:p>
        </p:txBody>
      </p:sp>
      <p:sp>
        <p:nvSpPr>
          <p:cNvPr id="5" name="Text 2"/>
          <p:cNvSpPr/>
          <p:nvPr/>
        </p:nvSpPr>
        <p:spPr>
          <a:xfrm>
            <a:off x="658368" y="786384"/>
            <a:ext cx="10872216" cy="822960"/>
          </a:xfrm>
          <a:prstGeom prst="rect">
            <a:avLst/>
          </a:prstGeom>
          <a:noFill/>
          <a:ln/>
        </p:spPr>
        <p:txBody>
          <a:bodyPr wrap="square" lIns="0" tIns="0" rIns="0" bIns="0" rtlCol="0" anchor="ctr"/>
          <a:lstStyle/>
          <a:p>
            <a:pPr indent="0" marL="0">
              <a:buNone/>
            </a:pPr>
            <a:r>
              <a:rPr lang="en-US" sz="3000" b="1" spc="-40" kern="0" dirty="0">
                <a:solidFill>
                  <a:srgbClr val="EAF2FF"/>
                </a:solidFill>
                <a:latin typeface="Calibri" pitchFamily="34" charset="0"/>
                <a:ea typeface="Calibri" pitchFamily="34" charset="-122"/>
                <a:cs typeface="Calibri" pitchFamily="34" charset="-120"/>
              </a:rPr>
              <a:t>FAST Adjusting Service</a:t>
            </a:r>
            <a:endParaRPr lang="en-US" sz="3000" dirty="0"/>
          </a:p>
        </p:txBody>
      </p:sp>
      <p:sp>
        <p:nvSpPr>
          <p:cNvPr id="6" name="Text 3"/>
          <p:cNvSpPr/>
          <p:nvPr/>
        </p:nvSpPr>
        <p:spPr>
          <a:xfrm>
            <a:off x="658368" y="1225296"/>
            <a:ext cx="10872216" cy="256032"/>
          </a:xfrm>
          <a:prstGeom prst="rect">
            <a:avLst/>
          </a:prstGeom>
          <a:noFill/>
          <a:ln/>
        </p:spPr>
        <p:txBody>
          <a:bodyPr wrap="square" lIns="0" tIns="0" rIns="0" bIns="0" rtlCol="0" anchor="ctr"/>
          <a:lstStyle/>
          <a:p>
            <a:pPr indent="0" marL="0">
              <a:buNone/>
            </a:pPr>
            <a:r>
              <a:rPr lang="en-US" sz="1300" b="1" dirty="0">
                <a:solidFill>
                  <a:srgbClr val="FFC24B"/>
                </a:solidFill>
                <a:latin typeface="Calibri" pitchFamily="34" charset="0"/>
                <a:ea typeface="Calibri" pitchFamily="34" charset="-122"/>
                <a:cs typeface="Calibri" pitchFamily="34" charset="-120"/>
              </a:rPr>
              <a:t>Claims representation · live claims board</a:t>
            </a:r>
            <a:endParaRPr lang="en-US" sz="1300" dirty="0"/>
          </a:p>
        </p:txBody>
      </p:sp>
      <p:sp>
        <p:nvSpPr>
          <p:cNvPr id="7" name="Text 4"/>
          <p:cNvSpPr/>
          <p:nvPr/>
        </p:nvSpPr>
        <p:spPr>
          <a:xfrm>
            <a:off x="7534656" y="1828800"/>
            <a:ext cx="4023360" cy="2286000"/>
          </a:xfrm>
          <a:prstGeom prst="rect">
            <a:avLst/>
          </a:prstGeom>
          <a:noFill/>
          <a:ln/>
        </p:spPr>
        <p:txBody>
          <a:bodyPr wrap="square" lIns="0" tIns="0" rIns="0" bIns="0" rtlCol="0" anchor="ctr"/>
          <a:lstStyle/>
          <a:p>
            <a:pPr marL="342900" indent="-342900">
              <a:lnSpc>
                <a:spcPts val="1800"/>
              </a:lnSpc>
              <a:spcAft>
                <a:spcPts val="1000"/>
              </a:spcAft>
              <a:buSzPct val="100000"/>
              <a:buChar char="•"/>
            </a:pPr>
            <a:r>
              <a:rPr lang="en-US" sz="1300" dirty="0">
                <a:solidFill>
                  <a:srgbClr val="8FA3C0"/>
                </a:solidFill>
                <a:latin typeface="Calibri" pitchFamily="34" charset="0"/>
                <a:ea typeface="Calibri" pitchFamily="34" charset="-122"/>
                <a:cs typeface="Calibri" pitchFamily="34" charset="-120"/>
              </a:rPr>
              <a:t>Shares one pipeline view with Restoration Royalty</a:t>
            </a:r>
            <a:endParaRPr lang="en-US" sz="1300" dirty="0"/>
          </a:p>
          <a:p>
            <a:pPr marL="342900" indent="-342900">
              <a:lnSpc>
                <a:spcPts val="1800"/>
              </a:lnSpc>
              <a:spcAft>
                <a:spcPts val="1000"/>
              </a:spcAft>
              <a:buSzPct val="100000"/>
              <a:buChar char="•"/>
            </a:pPr>
            <a:r>
              <a:rPr lang="en-US" sz="1300" dirty="0">
                <a:solidFill>
                  <a:srgbClr val="8FA3C0"/>
                </a:solidFill>
                <a:latin typeface="Calibri" pitchFamily="34" charset="0"/>
                <a:ea typeface="Calibri" pitchFamily="34" charset="-122"/>
                <a:cs typeface="Calibri" pitchFamily="34" charset="-120"/>
              </a:rPr>
              <a:t>Live claims command center shows work in progress</a:t>
            </a:r>
            <a:endParaRPr lang="en-US" sz="1300" dirty="0"/>
          </a:p>
          <a:p>
            <a:pPr marL="342900" indent="-342900">
              <a:lnSpc>
                <a:spcPts val="1800"/>
              </a:lnSpc>
              <a:spcAft>
                <a:spcPts val="1000"/>
              </a:spcAft>
              <a:buSzPct val="100000"/>
              <a:buChar char="•"/>
            </a:pPr>
            <a:r>
              <a:rPr lang="en-US" sz="1300" dirty="0">
                <a:solidFill>
                  <a:srgbClr val="8FA3C0"/>
                </a:solidFill>
                <a:latin typeface="Calibri" pitchFamily="34" charset="0"/>
                <a:ea typeface="Calibri" pitchFamily="34" charset="-122"/>
                <a:cs typeface="Calibri" pitchFamily="34" charset="-120"/>
              </a:rPr>
              <a:t>Refer-and-earn ladder adds a channel without adding headcount</a:t>
            </a:r>
            <a:endParaRPr lang="en-US" sz="1300" dirty="0"/>
          </a:p>
        </p:txBody>
      </p:sp>
      <p:sp>
        <p:nvSpPr>
          <p:cNvPr id="8" name="Text 5">
            <a:hlinkClick r:id="rId2" tooltip=""/>
          </p:cNvPr>
          <p:cNvSpPr/>
          <p:nvPr/>
        </p:nvSpPr>
        <p:spPr>
          <a:xfrm>
            <a:off x="7534656" y="4315968"/>
            <a:ext cx="4023360" cy="310896"/>
          </a:xfrm>
          <a:prstGeom prst="rect">
            <a:avLst/>
          </a:prstGeom>
          <a:noFill/>
          <a:ln/>
        </p:spPr>
        <p:txBody>
          <a:bodyPr wrap="square" lIns="0" tIns="0" rIns="0" bIns="0" rtlCol="0" anchor="ctr"/>
          <a:lstStyle/>
          <a:p>
            <a:pPr indent="0" marL="0">
              <a:buNone/>
            </a:pPr>
            <a:r>
              <a:rPr lang="en-US" sz="1200" u="sng" dirty="0">
                <a:solidFill>
                  <a:srgbClr val="FFC24B"/>
                </a:solidFill>
                <a:latin typeface="Consolas" pitchFamily="34" charset="0"/>
                <a:ea typeface="Consolas" pitchFamily="34" charset="-122"/>
                <a:cs typeface="Consolas" pitchFamily="34" charset="-120"/>
                <a:hlinkClick r:id="rId2" invalidUrl="" action="" tgtFrame="" tooltip="" history="1" highlightClick="0" endSnd="0">
                  <a:extLst>
                    <a:ext uri="{A12FA001-AC4F-418D-AE19-62706E023703}">
                      <ahyp:hlinkClr xmlns:ahyp="http://schemas.microsoft.com/office/drawing/2018/hyperlinkcolor" val="tx"/>
                    </a:ext>
                  </a:extLst>
                </a:hlinkClick>
              </a:rPr>
              <a:t>restorationroyalties.com/fast/</a:t>
            </a:r>
            <a:endParaRPr lang="en-US" sz="1200" dirty="0"/>
          </a:p>
        </p:txBody>
      </p:sp>
      <p:sp>
        <p:nvSpPr>
          <p:cNvPr id="9" name="Text 6"/>
          <p:cNvSpPr/>
          <p:nvPr/>
        </p:nvSpPr>
        <p:spPr>
          <a:xfrm>
            <a:off x="658368" y="6291072"/>
            <a:ext cx="10872216" cy="237744"/>
          </a:xfrm>
          <a:prstGeom prst="rect">
            <a:avLst/>
          </a:prstGeom>
          <a:noFill/>
          <a:ln/>
        </p:spPr>
        <p:txBody>
          <a:bodyPr wrap="square" lIns="0" tIns="0" rIns="0" bIns="0" rtlCol="0" anchor="ctr"/>
          <a:lstStyle/>
          <a:p>
            <a:pPr indent="0" marL="0">
              <a:buNone/>
            </a:pPr>
            <a:r>
              <a:rPr lang="en-US" sz="900" dirty="0">
                <a:solidFill>
                  <a:srgbClr val="54658A"/>
                </a:solidFill>
                <a:latin typeface="Calibri" pitchFamily="34" charset="0"/>
                <a:ea typeface="Calibri" pitchFamily="34" charset="-122"/>
                <a:cs typeface="Calibri" pitchFamily="34" charset="-120"/>
              </a:rPr>
              <a:t>Telvergence, Inc.  ·  Confidential — prepared for Jimmy Mejia</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C18"/>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1481328"/>
            <a:ext cx="6675120" cy="4345503"/>
          </a:xfrm>
          <a:prstGeom prst="rect">
            <a:avLst/>
          </a:prstGeom>
        </p:spPr>
      </p:pic>
      <p:sp>
        <p:nvSpPr>
          <p:cNvPr id="3" name="Shape 0"/>
          <p:cNvSpPr/>
          <p:nvPr/>
        </p:nvSpPr>
        <p:spPr>
          <a:xfrm>
            <a:off x="566928" y="1481328"/>
            <a:ext cx="6675120" cy="4345503"/>
          </a:xfrm>
          <a:prstGeom prst="roundRect">
            <a:avLst>
              <a:gd name="adj" fmla="val 1683"/>
            </a:avLst>
          </a:prstGeom>
          <a:solidFill>
            <a:srgbClr val="070C18">
              <a:alpha val="0"/>
            </a:srgbClr>
          </a:solidFill>
          <a:ln w="15875">
            <a:solidFill>
              <a:srgbClr val="2A3F63"/>
            </a:solidFill>
            <a:prstDash val="solid"/>
          </a:ln>
        </p:spPr>
      </p:sp>
      <p:sp>
        <p:nvSpPr>
          <p:cNvPr id="4" name="Text 1"/>
          <p:cNvSpPr/>
          <p:nvPr/>
        </p:nvSpPr>
        <p:spPr>
          <a:xfrm>
            <a:off x="658368" y="457200"/>
            <a:ext cx="10872216" cy="256032"/>
          </a:xfrm>
          <a:prstGeom prst="rect">
            <a:avLst/>
          </a:prstGeom>
          <a:noFill/>
          <a:ln/>
        </p:spPr>
        <p:txBody>
          <a:bodyPr wrap="square" lIns="0" tIns="0" rIns="0" bIns="0" rtlCol="0" anchor="ctr"/>
          <a:lstStyle/>
          <a:p>
            <a:pPr indent="0" marL="0">
              <a:buNone/>
            </a:pPr>
            <a:r>
              <a:rPr lang="en-US" sz="1100" b="1" spc="240" kern="0" dirty="0">
                <a:solidFill>
                  <a:srgbClr val="FF7A45"/>
                </a:solidFill>
                <a:latin typeface="Calibri" pitchFamily="34" charset="0"/>
                <a:ea typeface="Calibri" pitchFamily="34" charset="-122"/>
                <a:cs typeface="Calibri" pitchFamily="34" charset="-120"/>
              </a:rPr>
              <a:t>ELECTRICAL</a:t>
            </a:r>
            <a:endParaRPr lang="en-US" sz="1100" dirty="0"/>
          </a:p>
        </p:txBody>
      </p:sp>
      <p:sp>
        <p:nvSpPr>
          <p:cNvPr id="5" name="Text 2"/>
          <p:cNvSpPr/>
          <p:nvPr/>
        </p:nvSpPr>
        <p:spPr>
          <a:xfrm>
            <a:off x="658368" y="786384"/>
            <a:ext cx="10872216" cy="822960"/>
          </a:xfrm>
          <a:prstGeom prst="rect">
            <a:avLst/>
          </a:prstGeom>
          <a:noFill/>
          <a:ln/>
        </p:spPr>
        <p:txBody>
          <a:bodyPr wrap="square" lIns="0" tIns="0" rIns="0" bIns="0" rtlCol="0" anchor="ctr"/>
          <a:lstStyle/>
          <a:p>
            <a:pPr indent="0" marL="0">
              <a:buNone/>
            </a:pPr>
            <a:r>
              <a:rPr lang="en-US" sz="3000" b="1" spc="-40" kern="0" dirty="0">
                <a:solidFill>
                  <a:srgbClr val="EAF2FF"/>
                </a:solidFill>
                <a:latin typeface="Calibri" pitchFamily="34" charset="0"/>
                <a:ea typeface="Calibri" pitchFamily="34" charset="-122"/>
                <a:cs typeface="Calibri" pitchFamily="34" charset="-120"/>
              </a:rPr>
              <a:t>YES — Your Electrical Solutions</a:t>
            </a:r>
            <a:endParaRPr lang="en-US" sz="3000" dirty="0"/>
          </a:p>
        </p:txBody>
      </p:sp>
      <p:sp>
        <p:nvSpPr>
          <p:cNvPr id="6" name="Text 3"/>
          <p:cNvSpPr/>
          <p:nvPr/>
        </p:nvSpPr>
        <p:spPr>
          <a:xfrm>
            <a:off x="658368" y="1225296"/>
            <a:ext cx="10872216" cy="256032"/>
          </a:xfrm>
          <a:prstGeom prst="rect">
            <a:avLst/>
          </a:prstGeom>
          <a:noFill/>
          <a:ln/>
        </p:spPr>
        <p:txBody>
          <a:bodyPr wrap="square" lIns="0" tIns="0" rIns="0" bIns="0" rtlCol="0" anchor="ctr"/>
          <a:lstStyle/>
          <a:p>
            <a:pPr indent="0" marL="0">
              <a:buNone/>
            </a:pPr>
            <a:r>
              <a:rPr lang="en-US" sz="1300" b="1" dirty="0">
                <a:solidFill>
                  <a:srgbClr val="FF7A45"/>
                </a:solidFill>
                <a:latin typeface="Calibri" pitchFamily="34" charset="0"/>
                <a:ea typeface="Calibri" pitchFamily="34" charset="-122"/>
                <a:cs typeface="Calibri" pitchFamily="34" charset="-120"/>
              </a:rPr>
              <a:t>Miami electrical · storm-power demand</a:t>
            </a:r>
            <a:endParaRPr lang="en-US" sz="1300" dirty="0"/>
          </a:p>
        </p:txBody>
      </p:sp>
      <p:sp>
        <p:nvSpPr>
          <p:cNvPr id="7" name="Text 4"/>
          <p:cNvSpPr/>
          <p:nvPr/>
        </p:nvSpPr>
        <p:spPr>
          <a:xfrm>
            <a:off x="7534656" y="1828800"/>
            <a:ext cx="4023360" cy="2286000"/>
          </a:xfrm>
          <a:prstGeom prst="rect">
            <a:avLst/>
          </a:prstGeom>
          <a:noFill/>
          <a:ln/>
        </p:spPr>
        <p:txBody>
          <a:bodyPr wrap="square" lIns="0" tIns="0" rIns="0" bIns="0" rtlCol="0" anchor="ctr"/>
          <a:lstStyle/>
          <a:p>
            <a:pPr marL="342900" indent="-342900">
              <a:lnSpc>
                <a:spcPts val="1800"/>
              </a:lnSpc>
              <a:spcAft>
                <a:spcPts val="1000"/>
              </a:spcAft>
              <a:buSzPct val="100000"/>
              <a:buChar char="•"/>
            </a:pPr>
            <a:r>
              <a:rPr lang="en-US" sz="1300" dirty="0">
                <a:solidFill>
                  <a:srgbClr val="8FA3C0"/>
                </a:solidFill>
                <a:latin typeface="Calibri" pitchFamily="34" charset="0"/>
                <a:ea typeface="Calibri" pitchFamily="34" charset="-122"/>
                <a:cs typeface="Calibri" pitchFamily="34" charset="-120"/>
              </a:rPr>
              <a:t>Built for a contractor who has not signed yet</a:t>
            </a:r>
            <a:endParaRPr lang="en-US" sz="1300" dirty="0"/>
          </a:p>
          <a:p>
            <a:pPr marL="342900" indent="-342900">
              <a:lnSpc>
                <a:spcPts val="1800"/>
              </a:lnSpc>
              <a:spcAft>
                <a:spcPts val="1000"/>
              </a:spcAft>
              <a:buSzPct val="100000"/>
              <a:buChar char="•"/>
            </a:pPr>
            <a:r>
              <a:rPr lang="en-US" sz="1300" dirty="0">
                <a:solidFill>
                  <a:srgbClr val="8FA3C0"/>
                </a:solidFill>
                <a:latin typeface="Calibri" pitchFamily="34" charset="0"/>
                <a:ea typeface="Calibri" pitchFamily="34" charset="-122"/>
                <a:cs typeface="Calibri" pitchFamily="34" charset="-120"/>
              </a:rPr>
              <a:t>Proves the model reproduces into any trade in an afternoon</a:t>
            </a:r>
            <a:endParaRPr lang="en-US" sz="1300" dirty="0"/>
          </a:p>
          <a:p>
            <a:pPr marL="342900" indent="-342900">
              <a:lnSpc>
                <a:spcPts val="1800"/>
              </a:lnSpc>
              <a:spcAft>
                <a:spcPts val="1000"/>
              </a:spcAft>
              <a:buSzPct val="100000"/>
              <a:buChar char="•"/>
            </a:pPr>
            <a:r>
              <a:rPr lang="en-US" sz="1300" dirty="0">
                <a:solidFill>
                  <a:srgbClr val="8FA3C0"/>
                </a:solidFill>
                <a:latin typeface="Calibri" pitchFamily="34" charset="0"/>
                <a:ea typeface="Calibri" pitchFamily="34" charset="-122"/>
                <a:cs typeface="Calibri" pitchFamily="34" charset="-120"/>
              </a:rPr>
              <a:t>Storm takes power down, electrical demand spikes, calls route</a:t>
            </a:r>
            <a:endParaRPr lang="en-US" sz="1300" dirty="0"/>
          </a:p>
        </p:txBody>
      </p:sp>
      <p:sp>
        <p:nvSpPr>
          <p:cNvPr id="8" name="Text 5">
            <a:hlinkClick r:id="rId2" tooltip=""/>
          </p:cNvPr>
          <p:cNvSpPr/>
          <p:nvPr/>
        </p:nvSpPr>
        <p:spPr>
          <a:xfrm>
            <a:off x="7534656" y="4315968"/>
            <a:ext cx="4023360" cy="310896"/>
          </a:xfrm>
          <a:prstGeom prst="rect">
            <a:avLst/>
          </a:prstGeom>
          <a:noFill/>
          <a:ln/>
        </p:spPr>
        <p:txBody>
          <a:bodyPr wrap="square" lIns="0" tIns="0" rIns="0" bIns="0" rtlCol="0" anchor="ctr"/>
          <a:lstStyle/>
          <a:p>
            <a:pPr indent="0" marL="0">
              <a:buNone/>
            </a:pPr>
            <a:r>
              <a:rPr lang="en-US" sz="1200" u="sng" dirty="0">
                <a:solidFill>
                  <a:srgbClr val="FF7A45"/>
                </a:solidFill>
                <a:latin typeface="Consolas" pitchFamily="34" charset="0"/>
                <a:ea typeface="Consolas" pitchFamily="34" charset="-122"/>
                <a:cs typeface="Consolas" pitchFamily="34" charset="-120"/>
                <a:hlinkClick r:id="rId2" invalidUrl="" action="" tgtFrame="" tooltip="" history="1" highlightClick="0" endSnd="0">
                  <a:extLst>
                    <a:ext uri="{A12FA001-AC4F-418D-AE19-62706E023703}">
                      <ahyp:hlinkClr xmlns:ahyp="http://schemas.microsoft.com/office/drawing/2018/hyperlinkcolor" val="tx"/>
                    </a:ext>
                  </a:extLst>
                </a:hlinkClick>
              </a:rPr>
              <a:t>restorationroyalties.com/yes/</a:t>
            </a:r>
            <a:endParaRPr lang="en-US" sz="1200" dirty="0"/>
          </a:p>
        </p:txBody>
      </p:sp>
      <p:sp>
        <p:nvSpPr>
          <p:cNvPr id="9" name="Text 6"/>
          <p:cNvSpPr/>
          <p:nvPr/>
        </p:nvSpPr>
        <p:spPr>
          <a:xfrm>
            <a:off x="658368" y="6291072"/>
            <a:ext cx="10872216" cy="237744"/>
          </a:xfrm>
          <a:prstGeom prst="rect">
            <a:avLst/>
          </a:prstGeom>
          <a:noFill/>
          <a:ln/>
        </p:spPr>
        <p:txBody>
          <a:bodyPr wrap="square" lIns="0" tIns="0" rIns="0" bIns="0" rtlCol="0" anchor="ctr"/>
          <a:lstStyle/>
          <a:p>
            <a:pPr indent="0" marL="0">
              <a:buNone/>
            </a:pPr>
            <a:r>
              <a:rPr lang="en-US" sz="900" dirty="0">
                <a:solidFill>
                  <a:srgbClr val="54658A"/>
                </a:solidFill>
                <a:latin typeface="Calibri" pitchFamily="34" charset="0"/>
                <a:ea typeface="Calibri" pitchFamily="34" charset="-122"/>
                <a:cs typeface="Calibri" pitchFamily="34" charset="-120"/>
              </a:rPr>
              <a:t>Telvergence, Inc.  ·  Confidential — prepared for Jimmy Mejia</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C18"/>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1481328"/>
            <a:ext cx="6675120" cy="4345503"/>
          </a:xfrm>
          <a:prstGeom prst="rect">
            <a:avLst/>
          </a:prstGeom>
        </p:spPr>
      </p:pic>
      <p:sp>
        <p:nvSpPr>
          <p:cNvPr id="3" name="Shape 0"/>
          <p:cNvSpPr/>
          <p:nvPr/>
        </p:nvSpPr>
        <p:spPr>
          <a:xfrm>
            <a:off x="566928" y="1481328"/>
            <a:ext cx="6675120" cy="4345503"/>
          </a:xfrm>
          <a:prstGeom prst="roundRect">
            <a:avLst>
              <a:gd name="adj" fmla="val 1683"/>
            </a:avLst>
          </a:prstGeom>
          <a:solidFill>
            <a:srgbClr val="070C18">
              <a:alpha val="0"/>
            </a:srgbClr>
          </a:solidFill>
          <a:ln w="15875">
            <a:solidFill>
              <a:srgbClr val="2A3F63"/>
            </a:solidFill>
            <a:prstDash val="solid"/>
          </a:ln>
        </p:spPr>
      </p:sp>
      <p:sp>
        <p:nvSpPr>
          <p:cNvPr id="4" name="Text 1"/>
          <p:cNvSpPr/>
          <p:nvPr/>
        </p:nvSpPr>
        <p:spPr>
          <a:xfrm>
            <a:off x="658368" y="457200"/>
            <a:ext cx="10872216" cy="256032"/>
          </a:xfrm>
          <a:prstGeom prst="rect">
            <a:avLst/>
          </a:prstGeom>
          <a:noFill/>
          <a:ln/>
        </p:spPr>
        <p:txBody>
          <a:bodyPr wrap="square" lIns="0" tIns="0" rIns="0" bIns="0" rtlCol="0" anchor="ctr"/>
          <a:lstStyle/>
          <a:p>
            <a:pPr indent="0" marL="0">
              <a:buNone/>
            </a:pPr>
            <a:r>
              <a:rPr lang="en-US" sz="1100" b="1" spc="240" kern="0" dirty="0">
                <a:solidFill>
                  <a:srgbClr val="00FF88"/>
                </a:solidFill>
                <a:latin typeface="Calibri" pitchFamily="34" charset="0"/>
                <a:ea typeface="Calibri" pitchFamily="34" charset="-122"/>
                <a:cs typeface="Calibri" pitchFamily="34" charset="-120"/>
              </a:rPr>
              <a:t>PLATFORM</a:t>
            </a:r>
            <a:endParaRPr lang="en-US" sz="1100" dirty="0"/>
          </a:p>
        </p:txBody>
      </p:sp>
      <p:sp>
        <p:nvSpPr>
          <p:cNvPr id="5" name="Text 2"/>
          <p:cNvSpPr/>
          <p:nvPr/>
        </p:nvSpPr>
        <p:spPr>
          <a:xfrm>
            <a:off x="658368" y="786384"/>
            <a:ext cx="10872216" cy="822960"/>
          </a:xfrm>
          <a:prstGeom prst="rect">
            <a:avLst/>
          </a:prstGeom>
          <a:noFill/>
          <a:ln/>
        </p:spPr>
        <p:txBody>
          <a:bodyPr wrap="square" lIns="0" tIns="0" rIns="0" bIns="0" rtlCol="0" anchor="ctr"/>
          <a:lstStyle/>
          <a:p>
            <a:pPr indent="0" marL="0">
              <a:buNone/>
            </a:pPr>
            <a:r>
              <a:rPr lang="en-US" sz="3000" b="1" spc="-40" kern="0" dirty="0">
                <a:solidFill>
                  <a:srgbClr val="EAF2FF"/>
                </a:solidFill>
                <a:latin typeface="Calibri" pitchFamily="34" charset="0"/>
                <a:ea typeface="Calibri" pitchFamily="34" charset="-122"/>
                <a:cs typeface="Calibri" pitchFamily="34" charset="-120"/>
              </a:rPr>
              <a:t>TELVERGE</a:t>
            </a:r>
            <a:endParaRPr lang="en-US" sz="3000" dirty="0"/>
          </a:p>
        </p:txBody>
      </p:sp>
      <p:sp>
        <p:nvSpPr>
          <p:cNvPr id="6" name="Text 3"/>
          <p:cNvSpPr/>
          <p:nvPr/>
        </p:nvSpPr>
        <p:spPr>
          <a:xfrm>
            <a:off x="658368" y="1225296"/>
            <a:ext cx="10872216" cy="256032"/>
          </a:xfrm>
          <a:prstGeom prst="rect">
            <a:avLst/>
          </a:prstGeom>
          <a:noFill/>
          <a:ln/>
        </p:spPr>
        <p:txBody>
          <a:bodyPr wrap="square" lIns="0" tIns="0" rIns="0" bIns="0" rtlCol="0" anchor="ctr"/>
          <a:lstStyle/>
          <a:p>
            <a:pPr indent="0" marL="0">
              <a:buNone/>
            </a:pPr>
            <a:r>
              <a:rPr lang="en-US" sz="1300" b="1" dirty="0">
                <a:solidFill>
                  <a:srgbClr val="00FF88"/>
                </a:solidFill>
                <a:latin typeface="Calibri" pitchFamily="34" charset="0"/>
                <a:ea typeface="Calibri" pitchFamily="34" charset="-122"/>
                <a:cs typeface="Calibri" pitchFamily="34" charset="-120"/>
              </a:rPr>
              <a:t>The platform itself · ten vanity examples</a:t>
            </a:r>
            <a:endParaRPr lang="en-US" sz="1300" dirty="0"/>
          </a:p>
        </p:txBody>
      </p:sp>
      <p:sp>
        <p:nvSpPr>
          <p:cNvPr id="7" name="Text 4"/>
          <p:cNvSpPr/>
          <p:nvPr/>
        </p:nvSpPr>
        <p:spPr>
          <a:xfrm>
            <a:off x="7534656" y="1828800"/>
            <a:ext cx="4023360" cy="2286000"/>
          </a:xfrm>
          <a:prstGeom prst="rect">
            <a:avLst/>
          </a:prstGeom>
          <a:noFill/>
          <a:ln/>
        </p:spPr>
        <p:txBody>
          <a:bodyPr wrap="square" lIns="0" tIns="0" rIns="0" bIns="0" rtlCol="0" anchor="ctr"/>
          <a:lstStyle/>
          <a:p>
            <a:pPr marL="342900" indent="-342900">
              <a:lnSpc>
                <a:spcPts val="1800"/>
              </a:lnSpc>
              <a:spcAft>
                <a:spcPts val="1000"/>
              </a:spcAft>
              <a:buSzPct val="100000"/>
              <a:buChar char="•"/>
            </a:pPr>
            <a:r>
              <a:rPr lang="en-US" sz="1300" dirty="0">
                <a:solidFill>
                  <a:srgbClr val="8FA3C0"/>
                </a:solidFill>
                <a:latin typeface="Calibri" pitchFamily="34" charset="0"/>
                <a:ea typeface="Calibri" pitchFamily="34" charset="-122"/>
                <a:cs typeface="Calibri" pitchFamily="34" charset="-120"/>
              </a:rPr>
              <a:t>Turns a curious contractor into an enrolled partner</a:t>
            </a:r>
            <a:endParaRPr lang="en-US" sz="1300" dirty="0"/>
          </a:p>
          <a:p>
            <a:pPr marL="342900" indent="-342900">
              <a:lnSpc>
                <a:spcPts val="1800"/>
              </a:lnSpc>
              <a:spcAft>
                <a:spcPts val="1000"/>
              </a:spcAft>
              <a:buSzPct val="100000"/>
              <a:buChar char="•"/>
            </a:pPr>
            <a:r>
              <a:rPr lang="en-US" sz="1300" dirty="0">
                <a:solidFill>
                  <a:srgbClr val="8FA3C0"/>
                </a:solidFill>
                <a:latin typeface="Calibri" pitchFamily="34" charset="0"/>
                <a:ea typeface="Calibri" pitchFamily="34" charset="-122"/>
                <a:cs typeface="Calibri" pitchFamily="34" charset="-120"/>
              </a:rPr>
              <a:t>Ten example vanity numbers so they can picture their own set</a:t>
            </a:r>
            <a:endParaRPr lang="en-US" sz="1300" dirty="0"/>
          </a:p>
          <a:p>
            <a:pPr marL="342900" indent="-342900">
              <a:lnSpc>
                <a:spcPts val="1800"/>
              </a:lnSpc>
              <a:spcAft>
                <a:spcPts val="1000"/>
              </a:spcAft>
              <a:buSzPct val="100000"/>
              <a:buChar char="•"/>
            </a:pPr>
            <a:r>
              <a:rPr lang="en-US" sz="1300" dirty="0">
                <a:solidFill>
                  <a:srgbClr val="8FA3C0"/>
                </a:solidFill>
                <a:latin typeface="Calibri" pitchFamily="34" charset="0"/>
                <a:ea typeface="Calibri" pitchFamily="34" charset="-122"/>
                <a:cs typeface="Calibri" pitchFamily="34" charset="-120"/>
              </a:rPr>
              <a:t>Same one-page start: letter of authorization and a card on file</a:t>
            </a:r>
            <a:endParaRPr lang="en-US" sz="1300" dirty="0"/>
          </a:p>
        </p:txBody>
      </p:sp>
      <p:sp>
        <p:nvSpPr>
          <p:cNvPr id="8" name="Text 5">
            <a:hlinkClick r:id="rId2" tooltip=""/>
          </p:cNvPr>
          <p:cNvSpPr/>
          <p:nvPr/>
        </p:nvSpPr>
        <p:spPr>
          <a:xfrm>
            <a:off x="7534656" y="4315968"/>
            <a:ext cx="4023360" cy="310896"/>
          </a:xfrm>
          <a:prstGeom prst="rect">
            <a:avLst/>
          </a:prstGeom>
          <a:noFill/>
          <a:ln/>
        </p:spPr>
        <p:txBody>
          <a:bodyPr wrap="square" lIns="0" tIns="0" rIns="0" bIns="0" rtlCol="0" anchor="ctr"/>
          <a:lstStyle/>
          <a:p>
            <a:pPr indent="0" marL="0">
              <a:buNone/>
            </a:pPr>
            <a:r>
              <a:rPr lang="en-US" sz="1200" u="sng" dirty="0">
                <a:solidFill>
                  <a:srgbClr val="00FF88"/>
                </a:solidFill>
                <a:latin typeface="Consolas" pitchFamily="34" charset="0"/>
                <a:ea typeface="Consolas" pitchFamily="34" charset="-122"/>
                <a:cs typeface="Consolas" pitchFamily="34" charset="-120"/>
                <a:hlinkClick r:id="rId2" invalidUrl="" action="" tgtFrame="" tooltip="" history="1" highlightClick="0" endSnd="0">
                  <a:extLst>
                    <a:ext uri="{A12FA001-AC4F-418D-AE19-62706E023703}">
                      <ahyp:hlinkClr xmlns:ahyp="http://schemas.microsoft.com/office/drawing/2018/hyperlinkcolor" val="tx"/>
                    </a:ext>
                  </a:extLst>
                </a:hlinkClick>
              </a:rPr>
              <a:t>restorationroyalties.com/telverge/</a:t>
            </a:r>
            <a:endParaRPr lang="en-US" sz="1200" dirty="0"/>
          </a:p>
        </p:txBody>
      </p:sp>
      <p:sp>
        <p:nvSpPr>
          <p:cNvPr id="9" name="Text 6"/>
          <p:cNvSpPr/>
          <p:nvPr/>
        </p:nvSpPr>
        <p:spPr>
          <a:xfrm>
            <a:off x="658368" y="6291072"/>
            <a:ext cx="10872216" cy="237744"/>
          </a:xfrm>
          <a:prstGeom prst="rect">
            <a:avLst/>
          </a:prstGeom>
          <a:noFill/>
          <a:ln/>
        </p:spPr>
        <p:txBody>
          <a:bodyPr wrap="square" lIns="0" tIns="0" rIns="0" bIns="0" rtlCol="0" anchor="ctr"/>
          <a:lstStyle/>
          <a:p>
            <a:pPr indent="0" marL="0">
              <a:buNone/>
            </a:pPr>
            <a:r>
              <a:rPr lang="en-US" sz="900" dirty="0">
                <a:solidFill>
                  <a:srgbClr val="54658A"/>
                </a:solidFill>
                <a:latin typeface="Calibri" pitchFamily="34" charset="0"/>
                <a:ea typeface="Calibri" pitchFamily="34" charset="-122"/>
                <a:cs typeface="Calibri" pitchFamily="34" charset="-120"/>
              </a:rPr>
              <a:t>Telvergence, Inc.  ·  Confidential — prepared for Jimmy Mejia</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0C18"/>
        </a:solidFill>
      </p:bgPr>
    </p:bg>
    <p:spTree>
      <p:nvGrpSpPr>
        <p:cNvPr id="1" name=""/>
        <p:cNvGrpSpPr/>
        <p:nvPr/>
      </p:nvGrpSpPr>
      <p:grpSpPr>
        <a:xfrm>
          <a:off x="0" y="0"/>
          <a:ext cx="0" cy="0"/>
          <a:chOff x="0" y="0"/>
          <a:chExt cx="0" cy="0"/>
        </a:xfrm>
      </p:grpSpPr>
      <p:sp>
        <p:nvSpPr>
          <p:cNvPr id="2" name="Text 0"/>
          <p:cNvSpPr/>
          <p:nvPr/>
        </p:nvSpPr>
        <p:spPr>
          <a:xfrm>
            <a:off x="658368" y="457200"/>
            <a:ext cx="10872216" cy="256032"/>
          </a:xfrm>
          <a:prstGeom prst="rect">
            <a:avLst/>
          </a:prstGeom>
          <a:noFill/>
          <a:ln/>
        </p:spPr>
        <p:txBody>
          <a:bodyPr wrap="square" lIns="0" tIns="0" rIns="0" bIns="0" rtlCol="0" anchor="ctr"/>
          <a:lstStyle/>
          <a:p>
            <a:pPr indent="0" marL="0">
              <a:buNone/>
            </a:pPr>
            <a:r>
              <a:rPr lang="en-US" sz="1100" b="1" spc="240" kern="0" dirty="0">
                <a:solidFill>
                  <a:srgbClr val="00D4FF"/>
                </a:solidFill>
                <a:latin typeface="Calibri" pitchFamily="34" charset="0"/>
                <a:ea typeface="Calibri" pitchFamily="34" charset="-122"/>
                <a:cs typeface="Calibri" pitchFamily="34" charset="-120"/>
              </a:rPr>
              <a:t>THE ENGINE</a:t>
            </a:r>
            <a:endParaRPr lang="en-US" sz="1100" dirty="0"/>
          </a:p>
        </p:txBody>
      </p:sp>
      <p:sp>
        <p:nvSpPr>
          <p:cNvPr id="3" name="Text 1"/>
          <p:cNvSpPr/>
          <p:nvPr/>
        </p:nvSpPr>
        <p:spPr>
          <a:xfrm>
            <a:off x="658368" y="786384"/>
            <a:ext cx="10872216" cy="822960"/>
          </a:xfrm>
          <a:prstGeom prst="rect">
            <a:avLst/>
          </a:prstGeom>
          <a:noFill/>
          <a:ln/>
        </p:spPr>
        <p:txBody>
          <a:bodyPr wrap="square" lIns="0" tIns="0" rIns="0" bIns="0" rtlCol="0" anchor="ctr"/>
          <a:lstStyle/>
          <a:p>
            <a:pPr indent="0" marL="0">
              <a:buNone/>
            </a:pPr>
            <a:r>
              <a:rPr lang="en-US" sz="3400" b="1" spc="-40" kern="0" dirty="0">
                <a:solidFill>
                  <a:srgbClr val="EAF2FF"/>
                </a:solidFill>
                <a:latin typeface="Calibri" pitchFamily="34" charset="0"/>
                <a:ea typeface="Calibri" pitchFamily="34" charset="-122"/>
                <a:cs typeface="Calibri" pitchFamily="34" charset="-120"/>
              </a:rPr>
              <a:t>How a ring becomes a job</a:t>
            </a:r>
            <a:endParaRPr lang="en-US" sz="3400" dirty="0"/>
          </a:p>
        </p:txBody>
      </p:sp>
      <p:sp>
        <p:nvSpPr>
          <p:cNvPr id="4" name="Shape 2"/>
          <p:cNvSpPr/>
          <p:nvPr/>
        </p:nvSpPr>
        <p:spPr>
          <a:xfrm>
            <a:off x="658368" y="1874520"/>
            <a:ext cx="402336" cy="402336"/>
          </a:xfrm>
          <a:prstGeom prst="ellipse">
            <a:avLst/>
          </a:prstGeom>
          <a:solidFill>
            <a:srgbClr val="16233F"/>
          </a:solidFill>
          <a:ln w="15875">
            <a:solidFill>
              <a:srgbClr val="00D4FF"/>
            </a:solidFill>
            <a:prstDash val="solid"/>
          </a:ln>
        </p:spPr>
      </p:sp>
      <p:sp>
        <p:nvSpPr>
          <p:cNvPr id="5" name="Text 3"/>
          <p:cNvSpPr/>
          <p:nvPr/>
        </p:nvSpPr>
        <p:spPr>
          <a:xfrm>
            <a:off x="658368" y="1874520"/>
            <a:ext cx="402336" cy="402336"/>
          </a:xfrm>
          <a:prstGeom prst="rect">
            <a:avLst/>
          </a:prstGeom>
          <a:noFill/>
          <a:ln/>
        </p:spPr>
        <p:txBody>
          <a:bodyPr wrap="square" lIns="0" tIns="0" rIns="0" bIns="0" rtlCol="0" anchor="ctr"/>
          <a:lstStyle/>
          <a:p>
            <a:pPr algn="ctr" indent="0" marL="0">
              <a:buNone/>
            </a:pPr>
            <a:r>
              <a:rPr lang="en-US" sz="1500" b="1" dirty="0">
                <a:solidFill>
                  <a:srgbClr val="00D4FF"/>
                </a:solidFill>
                <a:latin typeface="Calibri" pitchFamily="34" charset="0"/>
                <a:ea typeface="Calibri" pitchFamily="34" charset="-122"/>
                <a:cs typeface="Calibri" pitchFamily="34" charset="-120"/>
              </a:rPr>
              <a:t>1</a:t>
            </a:r>
            <a:endParaRPr lang="en-US" sz="1500" dirty="0"/>
          </a:p>
        </p:txBody>
      </p:sp>
      <p:sp>
        <p:nvSpPr>
          <p:cNvPr id="6" name="Text 4"/>
          <p:cNvSpPr/>
          <p:nvPr/>
        </p:nvSpPr>
        <p:spPr>
          <a:xfrm>
            <a:off x="1280160" y="1892808"/>
            <a:ext cx="2377440" cy="365760"/>
          </a:xfrm>
          <a:prstGeom prst="rect">
            <a:avLst/>
          </a:prstGeom>
          <a:noFill/>
          <a:ln/>
        </p:spPr>
        <p:txBody>
          <a:bodyPr wrap="square" lIns="0" tIns="0" rIns="0" bIns="0" rtlCol="0" anchor="ctr"/>
          <a:lstStyle/>
          <a:p>
            <a:pPr indent="0" marL="0">
              <a:buNone/>
            </a:pPr>
            <a:r>
              <a:rPr lang="en-US" sz="1600" b="1" dirty="0">
                <a:solidFill>
                  <a:srgbClr val="EAF2FF"/>
                </a:solidFill>
                <a:latin typeface="Calibri" pitchFamily="34" charset="0"/>
                <a:ea typeface="Calibri" pitchFamily="34" charset="-122"/>
                <a:cs typeface="Calibri" pitchFamily="34" charset="-120"/>
              </a:rPr>
              <a:t>Capture</a:t>
            </a:r>
            <a:endParaRPr lang="en-US" sz="1600" dirty="0"/>
          </a:p>
        </p:txBody>
      </p:sp>
      <p:sp>
        <p:nvSpPr>
          <p:cNvPr id="7" name="Text 5"/>
          <p:cNvSpPr/>
          <p:nvPr/>
        </p:nvSpPr>
        <p:spPr>
          <a:xfrm>
            <a:off x="3767328" y="1856232"/>
            <a:ext cx="7763256" cy="566928"/>
          </a:xfrm>
          <a:prstGeom prst="rect">
            <a:avLst/>
          </a:prstGeom>
          <a:noFill/>
          <a:ln/>
        </p:spPr>
        <p:txBody>
          <a:bodyPr wrap="square" lIns="0" tIns="0" rIns="0" bIns="0" rtlCol="0" anchor="ctr"/>
          <a:lstStyle/>
          <a:p>
            <a:pPr indent="0" marL="0">
              <a:lnSpc>
                <a:spcPts val="1700"/>
              </a:lnSpc>
              <a:buNone/>
            </a:pPr>
            <a:r>
              <a:rPr lang="en-US" sz="1250" dirty="0">
                <a:solidFill>
                  <a:srgbClr val="8FA3C0"/>
                </a:solidFill>
                <a:latin typeface="Calibri" pitchFamily="34" charset="0"/>
                <a:ea typeface="Calibri" pitchFamily="34" charset="-122"/>
                <a:cs typeface="Calibri" pitchFamily="34" charset="-120"/>
              </a:rPr>
              <a:t>Every entry point — site, ad, storm console, tapped card — is a tracked Smart-DID. The source is known before anyone says hello.</a:t>
            </a:r>
            <a:endParaRPr lang="en-US" sz="1250" dirty="0"/>
          </a:p>
        </p:txBody>
      </p:sp>
      <p:sp>
        <p:nvSpPr>
          <p:cNvPr id="8" name="Shape 6"/>
          <p:cNvSpPr/>
          <p:nvPr/>
        </p:nvSpPr>
        <p:spPr>
          <a:xfrm>
            <a:off x="658368" y="2569464"/>
            <a:ext cx="402336" cy="402336"/>
          </a:xfrm>
          <a:prstGeom prst="ellipse">
            <a:avLst/>
          </a:prstGeom>
          <a:solidFill>
            <a:srgbClr val="16233F"/>
          </a:solidFill>
          <a:ln w="15875">
            <a:solidFill>
              <a:srgbClr val="00D4FF"/>
            </a:solidFill>
            <a:prstDash val="solid"/>
          </a:ln>
        </p:spPr>
      </p:sp>
      <p:sp>
        <p:nvSpPr>
          <p:cNvPr id="9" name="Text 7"/>
          <p:cNvSpPr/>
          <p:nvPr/>
        </p:nvSpPr>
        <p:spPr>
          <a:xfrm>
            <a:off x="658368" y="2569464"/>
            <a:ext cx="402336" cy="402336"/>
          </a:xfrm>
          <a:prstGeom prst="rect">
            <a:avLst/>
          </a:prstGeom>
          <a:noFill/>
          <a:ln/>
        </p:spPr>
        <p:txBody>
          <a:bodyPr wrap="square" lIns="0" tIns="0" rIns="0" bIns="0" rtlCol="0" anchor="ctr"/>
          <a:lstStyle/>
          <a:p>
            <a:pPr algn="ctr" indent="0" marL="0">
              <a:buNone/>
            </a:pPr>
            <a:r>
              <a:rPr lang="en-US" sz="1500" b="1" dirty="0">
                <a:solidFill>
                  <a:srgbClr val="00D4FF"/>
                </a:solidFill>
                <a:latin typeface="Calibri" pitchFamily="34" charset="0"/>
                <a:ea typeface="Calibri" pitchFamily="34" charset="-122"/>
                <a:cs typeface="Calibri" pitchFamily="34" charset="-120"/>
              </a:rPr>
              <a:t>2</a:t>
            </a:r>
            <a:endParaRPr lang="en-US" sz="1500" dirty="0"/>
          </a:p>
        </p:txBody>
      </p:sp>
      <p:sp>
        <p:nvSpPr>
          <p:cNvPr id="10" name="Text 8"/>
          <p:cNvSpPr/>
          <p:nvPr/>
        </p:nvSpPr>
        <p:spPr>
          <a:xfrm>
            <a:off x="1280160" y="2587752"/>
            <a:ext cx="2377440" cy="365760"/>
          </a:xfrm>
          <a:prstGeom prst="rect">
            <a:avLst/>
          </a:prstGeom>
          <a:noFill/>
          <a:ln/>
        </p:spPr>
        <p:txBody>
          <a:bodyPr wrap="square" lIns="0" tIns="0" rIns="0" bIns="0" rtlCol="0" anchor="ctr"/>
          <a:lstStyle/>
          <a:p>
            <a:pPr indent="0" marL="0">
              <a:buNone/>
            </a:pPr>
            <a:r>
              <a:rPr lang="en-US" sz="1600" b="1" dirty="0">
                <a:solidFill>
                  <a:srgbClr val="EAF2FF"/>
                </a:solidFill>
                <a:latin typeface="Calibri" pitchFamily="34" charset="0"/>
                <a:ea typeface="Calibri" pitchFamily="34" charset="-122"/>
                <a:cs typeface="Calibri" pitchFamily="34" charset="-120"/>
              </a:rPr>
              <a:t>Answer, always</a:t>
            </a:r>
            <a:endParaRPr lang="en-US" sz="1600" dirty="0"/>
          </a:p>
        </p:txBody>
      </p:sp>
      <p:sp>
        <p:nvSpPr>
          <p:cNvPr id="11" name="Text 9"/>
          <p:cNvSpPr/>
          <p:nvPr/>
        </p:nvSpPr>
        <p:spPr>
          <a:xfrm>
            <a:off x="3767328" y="2551176"/>
            <a:ext cx="7763256" cy="566928"/>
          </a:xfrm>
          <a:prstGeom prst="rect">
            <a:avLst/>
          </a:prstGeom>
          <a:noFill/>
          <a:ln/>
        </p:spPr>
        <p:txBody>
          <a:bodyPr wrap="square" lIns="0" tIns="0" rIns="0" bIns="0" rtlCol="0" anchor="ctr"/>
          <a:lstStyle/>
          <a:p>
            <a:pPr indent="0" marL="0">
              <a:lnSpc>
                <a:spcPts val="1700"/>
              </a:lnSpc>
              <a:buNone/>
            </a:pPr>
            <a:r>
              <a:rPr lang="en-US" sz="1250" dirty="0">
                <a:solidFill>
                  <a:srgbClr val="8FA3C0"/>
                </a:solidFill>
                <a:latin typeface="Calibri" pitchFamily="34" charset="0"/>
                <a:ea typeface="Calibri" pitchFamily="34" charset="-122"/>
                <a:cs typeface="Calibri" pitchFamily="34" charset="-120"/>
              </a:rPr>
              <a:t>Intake picks up around the clock and asks the four questions: owner, insurance, claim filed, what is the damage.</a:t>
            </a:r>
            <a:endParaRPr lang="en-US" sz="1250" dirty="0"/>
          </a:p>
        </p:txBody>
      </p:sp>
      <p:sp>
        <p:nvSpPr>
          <p:cNvPr id="12" name="Shape 10"/>
          <p:cNvSpPr/>
          <p:nvPr/>
        </p:nvSpPr>
        <p:spPr>
          <a:xfrm>
            <a:off x="658368" y="3264408"/>
            <a:ext cx="402336" cy="402336"/>
          </a:xfrm>
          <a:prstGeom prst="ellipse">
            <a:avLst/>
          </a:prstGeom>
          <a:solidFill>
            <a:srgbClr val="16233F"/>
          </a:solidFill>
          <a:ln w="15875">
            <a:solidFill>
              <a:srgbClr val="00D4FF"/>
            </a:solidFill>
            <a:prstDash val="solid"/>
          </a:ln>
        </p:spPr>
      </p:sp>
      <p:sp>
        <p:nvSpPr>
          <p:cNvPr id="13" name="Text 11"/>
          <p:cNvSpPr/>
          <p:nvPr/>
        </p:nvSpPr>
        <p:spPr>
          <a:xfrm>
            <a:off x="658368" y="3264408"/>
            <a:ext cx="402336" cy="402336"/>
          </a:xfrm>
          <a:prstGeom prst="rect">
            <a:avLst/>
          </a:prstGeom>
          <a:noFill/>
          <a:ln/>
        </p:spPr>
        <p:txBody>
          <a:bodyPr wrap="square" lIns="0" tIns="0" rIns="0" bIns="0" rtlCol="0" anchor="ctr"/>
          <a:lstStyle/>
          <a:p>
            <a:pPr algn="ctr" indent="0" marL="0">
              <a:buNone/>
            </a:pPr>
            <a:r>
              <a:rPr lang="en-US" sz="1500" b="1" dirty="0">
                <a:solidFill>
                  <a:srgbClr val="00D4FF"/>
                </a:solidFill>
                <a:latin typeface="Calibri" pitchFamily="34" charset="0"/>
                <a:ea typeface="Calibri" pitchFamily="34" charset="-122"/>
                <a:cs typeface="Calibri" pitchFamily="34" charset="-120"/>
              </a:rPr>
              <a:t>3</a:t>
            </a:r>
            <a:endParaRPr lang="en-US" sz="1500" dirty="0"/>
          </a:p>
        </p:txBody>
      </p:sp>
      <p:sp>
        <p:nvSpPr>
          <p:cNvPr id="14" name="Text 12"/>
          <p:cNvSpPr/>
          <p:nvPr/>
        </p:nvSpPr>
        <p:spPr>
          <a:xfrm>
            <a:off x="1280160" y="3282696"/>
            <a:ext cx="2377440" cy="365760"/>
          </a:xfrm>
          <a:prstGeom prst="rect">
            <a:avLst/>
          </a:prstGeom>
          <a:noFill/>
          <a:ln/>
        </p:spPr>
        <p:txBody>
          <a:bodyPr wrap="square" lIns="0" tIns="0" rIns="0" bIns="0" rtlCol="0" anchor="ctr"/>
          <a:lstStyle/>
          <a:p>
            <a:pPr indent="0" marL="0">
              <a:buNone/>
            </a:pPr>
            <a:r>
              <a:rPr lang="en-US" sz="1600" b="1" dirty="0">
                <a:solidFill>
                  <a:srgbClr val="EAF2FF"/>
                </a:solidFill>
                <a:latin typeface="Calibri" pitchFamily="34" charset="0"/>
                <a:ea typeface="Calibri" pitchFamily="34" charset="-122"/>
                <a:cs typeface="Calibri" pitchFamily="34" charset="-120"/>
              </a:rPr>
              <a:t>Qualify and route</a:t>
            </a:r>
            <a:endParaRPr lang="en-US" sz="1600" dirty="0"/>
          </a:p>
        </p:txBody>
      </p:sp>
      <p:sp>
        <p:nvSpPr>
          <p:cNvPr id="15" name="Text 13"/>
          <p:cNvSpPr/>
          <p:nvPr/>
        </p:nvSpPr>
        <p:spPr>
          <a:xfrm>
            <a:off x="3767328" y="3246120"/>
            <a:ext cx="7763256" cy="566928"/>
          </a:xfrm>
          <a:prstGeom prst="rect">
            <a:avLst/>
          </a:prstGeom>
          <a:noFill/>
          <a:ln/>
        </p:spPr>
        <p:txBody>
          <a:bodyPr wrap="square" lIns="0" tIns="0" rIns="0" bIns="0" rtlCol="0" anchor="ctr"/>
          <a:lstStyle/>
          <a:p>
            <a:pPr indent="0" marL="0">
              <a:lnSpc>
                <a:spcPts val="1700"/>
              </a:lnSpc>
              <a:buNone/>
            </a:pPr>
            <a:r>
              <a:rPr lang="en-US" sz="1250" dirty="0">
                <a:solidFill>
                  <a:srgbClr val="8FA3C0"/>
                </a:solidFill>
                <a:latin typeface="Calibri" pitchFamily="34" charset="0"/>
                <a:ea typeface="Calibri" pitchFamily="34" charset="-122"/>
                <a:cs typeface="Calibri" pitchFamily="34" charset="-120"/>
              </a:rPr>
              <a:t>Owner-occupied with coverage goes straight to scheduling. Everything else is captured and tagged instead of lost.</a:t>
            </a:r>
            <a:endParaRPr lang="en-US" sz="1250" dirty="0"/>
          </a:p>
        </p:txBody>
      </p:sp>
      <p:sp>
        <p:nvSpPr>
          <p:cNvPr id="16" name="Shape 14"/>
          <p:cNvSpPr/>
          <p:nvPr/>
        </p:nvSpPr>
        <p:spPr>
          <a:xfrm>
            <a:off x="658368" y="3959352"/>
            <a:ext cx="402336" cy="402336"/>
          </a:xfrm>
          <a:prstGeom prst="ellipse">
            <a:avLst/>
          </a:prstGeom>
          <a:solidFill>
            <a:srgbClr val="16233F"/>
          </a:solidFill>
          <a:ln w="15875">
            <a:solidFill>
              <a:srgbClr val="00D4FF"/>
            </a:solidFill>
            <a:prstDash val="solid"/>
          </a:ln>
        </p:spPr>
      </p:sp>
      <p:sp>
        <p:nvSpPr>
          <p:cNvPr id="17" name="Text 15"/>
          <p:cNvSpPr/>
          <p:nvPr/>
        </p:nvSpPr>
        <p:spPr>
          <a:xfrm>
            <a:off x="658368" y="3959352"/>
            <a:ext cx="402336" cy="402336"/>
          </a:xfrm>
          <a:prstGeom prst="rect">
            <a:avLst/>
          </a:prstGeom>
          <a:noFill/>
          <a:ln/>
        </p:spPr>
        <p:txBody>
          <a:bodyPr wrap="square" lIns="0" tIns="0" rIns="0" bIns="0" rtlCol="0" anchor="ctr"/>
          <a:lstStyle/>
          <a:p>
            <a:pPr algn="ctr" indent="0" marL="0">
              <a:buNone/>
            </a:pPr>
            <a:r>
              <a:rPr lang="en-US" sz="1500" b="1" dirty="0">
                <a:solidFill>
                  <a:srgbClr val="00D4FF"/>
                </a:solidFill>
                <a:latin typeface="Calibri" pitchFamily="34" charset="0"/>
                <a:ea typeface="Calibri" pitchFamily="34" charset="-122"/>
                <a:cs typeface="Calibri" pitchFamily="34" charset="-120"/>
              </a:rPr>
              <a:t>4</a:t>
            </a:r>
            <a:endParaRPr lang="en-US" sz="1500" dirty="0"/>
          </a:p>
        </p:txBody>
      </p:sp>
      <p:sp>
        <p:nvSpPr>
          <p:cNvPr id="18" name="Text 16"/>
          <p:cNvSpPr/>
          <p:nvPr/>
        </p:nvSpPr>
        <p:spPr>
          <a:xfrm>
            <a:off x="1280160" y="3977640"/>
            <a:ext cx="2377440" cy="365760"/>
          </a:xfrm>
          <a:prstGeom prst="rect">
            <a:avLst/>
          </a:prstGeom>
          <a:noFill/>
          <a:ln/>
        </p:spPr>
        <p:txBody>
          <a:bodyPr wrap="square" lIns="0" tIns="0" rIns="0" bIns="0" rtlCol="0" anchor="ctr"/>
          <a:lstStyle/>
          <a:p>
            <a:pPr indent="0" marL="0">
              <a:buNone/>
            </a:pPr>
            <a:r>
              <a:rPr lang="en-US" sz="1600" b="1" dirty="0">
                <a:solidFill>
                  <a:srgbClr val="EAF2FF"/>
                </a:solidFill>
                <a:latin typeface="Calibri" pitchFamily="34" charset="0"/>
                <a:ea typeface="Calibri" pitchFamily="34" charset="-122"/>
                <a:cs typeface="Calibri" pitchFamily="34" charset="-120"/>
              </a:rPr>
              <a:t>Book the assessment</a:t>
            </a:r>
            <a:endParaRPr lang="en-US" sz="1600" dirty="0"/>
          </a:p>
        </p:txBody>
      </p:sp>
      <p:sp>
        <p:nvSpPr>
          <p:cNvPr id="19" name="Text 17"/>
          <p:cNvSpPr/>
          <p:nvPr/>
        </p:nvSpPr>
        <p:spPr>
          <a:xfrm>
            <a:off x="3767328" y="3941064"/>
            <a:ext cx="7763256" cy="566928"/>
          </a:xfrm>
          <a:prstGeom prst="rect">
            <a:avLst/>
          </a:prstGeom>
          <a:noFill/>
          <a:ln/>
        </p:spPr>
        <p:txBody>
          <a:bodyPr wrap="square" lIns="0" tIns="0" rIns="0" bIns="0" rtlCol="0" anchor="ctr"/>
          <a:lstStyle/>
          <a:p>
            <a:pPr indent="0" marL="0">
              <a:lnSpc>
                <a:spcPts val="1700"/>
              </a:lnSpc>
              <a:buNone/>
            </a:pPr>
            <a:r>
              <a:rPr lang="en-US" sz="1250" dirty="0">
                <a:solidFill>
                  <a:srgbClr val="8FA3C0"/>
                </a:solidFill>
                <a:latin typeface="Calibri" pitchFamily="34" charset="0"/>
                <a:ea typeface="Calibri" pitchFamily="34" charset="-122"/>
                <a:cs typeface="Calibri" pitchFamily="34" charset="-120"/>
              </a:rPr>
              <a:t>Free moisture, mold, and roof assessment with a written scope. Low friction to say yes — and the scope is what converts.</a:t>
            </a:r>
            <a:endParaRPr lang="en-US" sz="1250" dirty="0"/>
          </a:p>
        </p:txBody>
      </p:sp>
      <p:sp>
        <p:nvSpPr>
          <p:cNvPr id="20" name="Shape 18"/>
          <p:cNvSpPr/>
          <p:nvPr/>
        </p:nvSpPr>
        <p:spPr>
          <a:xfrm>
            <a:off x="658368" y="4654296"/>
            <a:ext cx="402336" cy="402336"/>
          </a:xfrm>
          <a:prstGeom prst="ellipse">
            <a:avLst/>
          </a:prstGeom>
          <a:solidFill>
            <a:srgbClr val="16233F"/>
          </a:solidFill>
          <a:ln w="15875">
            <a:solidFill>
              <a:srgbClr val="00D4FF"/>
            </a:solidFill>
            <a:prstDash val="solid"/>
          </a:ln>
        </p:spPr>
      </p:sp>
      <p:sp>
        <p:nvSpPr>
          <p:cNvPr id="21" name="Text 19"/>
          <p:cNvSpPr/>
          <p:nvPr/>
        </p:nvSpPr>
        <p:spPr>
          <a:xfrm>
            <a:off x="658368" y="4654296"/>
            <a:ext cx="402336" cy="402336"/>
          </a:xfrm>
          <a:prstGeom prst="rect">
            <a:avLst/>
          </a:prstGeom>
          <a:noFill/>
          <a:ln/>
        </p:spPr>
        <p:txBody>
          <a:bodyPr wrap="square" lIns="0" tIns="0" rIns="0" bIns="0" rtlCol="0" anchor="ctr"/>
          <a:lstStyle/>
          <a:p>
            <a:pPr algn="ctr" indent="0" marL="0">
              <a:buNone/>
            </a:pPr>
            <a:r>
              <a:rPr lang="en-US" sz="1500" b="1" dirty="0">
                <a:solidFill>
                  <a:srgbClr val="00D4FF"/>
                </a:solidFill>
                <a:latin typeface="Calibri" pitchFamily="34" charset="0"/>
                <a:ea typeface="Calibri" pitchFamily="34" charset="-122"/>
                <a:cs typeface="Calibri" pitchFamily="34" charset="-120"/>
              </a:rPr>
              <a:t>5</a:t>
            </a:r>
            <a:endParaRPr lang="en-US" sz="1500" dirty="0"/>
          </a:p>
        </p:txBody>
      </p:sp>
      <p:sp>
        <p:nvSpPr>
          <p:cNvPr id="22" name="Text 20"/>
          <p:cNvSpPr/>
          <p:nvPr/>
        </p:nvSpPr>
        <p:spPr>
          <a:xfrm>
            <a:off x="1280160" y="4672584"/>
            <a:ext cx="2377440" cy="365760"/>
          </a:xfrm>
          <a:prstGeom prst="rect">
            <a:avLst/>
          </a:prstGeom>
          <a:noFill/>
          <a:ln/>
        </p:spPr>
        <p:txBody>
          <a:bodyPr wrap="square" lIns="0" tIns="0" rIns="0" bIns="0" rtlCol="0" anchor="ctr"/>
          <a:lstStyle/>
          <a:p>
            <a:pPr indent="0" marL="0">
              <a:buNone/>
            </a:pPr>
            <a:r>
              <a:rPr lang="en-US" sz="1600" b="1" dirty="0">
                <a:solidFill>
                  <a:srgbClr val="EAF2FF"/>
                </a:solidFill>
                <a:latin typeface="Calibri" pitchFamily="34" charset="0"/>
                <a:ea typeface="Calibri" pitchFamily="34" charset="-122"/>
                <a:cs typeface="Calibri" pitchFamily="34" charset="-120"/>
              </a:rPr>
              <a:t>Document and close</a:t>
            </a:r>
            <a:endParaRPr lang="en-US" sz="1600" dirty="0"/>
          </a:p>
        </p:txBody>
      </p:sp>
      <p:sp>
        <p:nvSpPr>
          <p:cNvPr id="23" name="Text 21"/>
          <p:cNvSpPr/>
          <p:nvPr/>
        </p:nvSpPr>
        <p:spPr>
          <a:xfrm>
            <a:off x="3767328" y="4636008"/>
            <a:ext cx="7763256" cy="566928"/>
          </a:xfrm>
          <a:prstGeom prst="rect">
            <a:avLst/>
          </a:prstGeom>
          <a:noFill/>
          <a:ln/>
        </p:spPr>
        <p:txBody>
          <a:bodyPr wrap="square" lIns="0" tIns="0" rIns="0" bIns="0" rtlCol="0" anchor="ctr"/>
          <a:lstStyle/>
          <a:p>
            <a:pPr indent="0" marL="0">
              <a:lnSpc>
                <a:spcPts val="1700"/>
              </a:lnSpc>
              <a:buNone/>
            </a:pPr>
            <a:r>
              <a:rPr lang="en-US" sz="1250" dirty="0">
                <a:solidFill>
                  <a:srgbClr val="8FA3C0"/>
                </a:solidFill>
                <a:latin typeface="Calibri" pitchFamily="34" charset="0"/>
                <a:ea typeface="Calibri" pitchFamily="34" charset="-122"/>
                <a:cs typeface="Calibri" pitchFamily="34" charset="-120"/>
              </a:rPr>
              <a:t>Every call recorded, every scope written, everything packaged the way an insurer expects it.</a:t>
            </a:r>
            <a:endParaRPr lang="en-US" sz="1250" dirty="0"/>
          </a:p>
        </p:txBody>
      </p:sp>
      <p:sp>
        <p:nvSpPr>
          <p:cNvPr id="24" name="Shape 22"/>
          <p:cNvSpPr/>
          <p:nvPr/>
        </p:nvSpPr>
        <p:spPr>
          <a:xfrm>
            <a:off x="658368" y="5486400"/>
            <a:ext cx="10872216" cy="749808"/>
          </a:xfrm>
          <a:prstGeom prst="roundRect">
            <a:avLst>
              <a:gd name="adj" fmla="val 14634"/>
            </a:avLst>
          </a:prstGeom>
          <a:solidFill>
            <a:srgbClr val="16233F"/>
          </a:solidFill>
          <a:ln w="12700">
            <a:solidFill>
              <a:srgbClr val="1E2E4A"/>
            </a:solidFill>
            <a:prstDash val="solid"/>
          </a:ln>
        </p:spPr>
      </p:sp>
      <p:sp>
        <p:nvSpPr>
          <p:cNvPr id="25" name="Text 23"/>
          <p:cNvSpPr/>
          <p:nvPr/>
        </p:nvSpPr>
        <p:spPr>
          <a:xfrm>
            <a:off x="932688" y="5486400"/>
            <a:ext cx="10323576" cy="749808"/>
          </a:xfrm>
          <a:prstGeom prst="rect">
            <a:avLst/>
          </a:prstGeom>
          <a:noFill/>
          <a:ln/>
        </p:spPr>
        <p:txBody>
          <a:bodyPr wrap="square" lIns="0" tIns="0" rIns="0" bIns="0" rtlCol="0" anchor="ctr"/>
          <a:lstStyle/>
          <a:p>
            <a:pPr indent="0" marL="0">
              <a:buNone/>
            </a:pPr>
            <a:r>
              <a:rPr lang="en-US" sz="1900" b="1" spc="-30" kern="0" dirty="0">
                <a:solidFill>
                  <a:srgbClr val="EAF2FF"/>
                </a:solidFill>
                <a:latin typeface="Calibri" pitchFamily="34" charset="0"/>
                <a:ea typeface="Calibri" pitchFamily="34" charset="-122"/>
                <a:cs typeface="Calibri" pitchFamily="34" charset="-120"/>
              </a:rPr>
              <a:t>Nobody misses a call.  </a:t>
            </a:r>
            <a:pPr indent="0" marL="0">
              <a:buNone/>
            </a:pPr>
            <a:r>
              <a:rPr lang="en-US" sz="1900" b="1" spc="-30" kern="0" dirty="0">
                <a:solidFill>
                  <a:srgbClr val="00FF88"/>
                </a:solidFill>
                <a:latin typeface="Calibri" pitchFamily="34" charset="0"/>
                <a:ea typeface="Calibri" pitchFamily="34" charset="-122"/>
                <a:cs typeface="Calibri" pitchFamily="34" charset="-120"/>
              </a:rPr>
              <a:t>Every ring is a sale — or a reason we learn something.</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0C18"/>
        </a:solidFill>
      </p:bgPr>
    </p:bg>
    <p:spTree>
      <p:nvGrpSpPr>
        <p:cNvPr id="1" name=""/>
        <p:cNvGrpSpPr/>
        <p:nvPr/>
      </p:nvGrpSpPr>
      <p:grpSpPr>
        <a:xfrm>
          <a:off x="0" y="0"/>
          <a:ext cx="0" cy="0"/>
          <a:chOff x="0" y="0"/>
          <a:chExt cx="0" cy="0"/>
        </a:xfrm>
      </p:grpSpPr>
      <p:sp>
        <p:nvSpPr>
          <p:cNvPr id="2" name="Text 0"/>
          <p:cNvSpPr/>
          <p:nvPr/>
        </p:nvSpPr>
        <p:spPr>
          <a:xfrm>
            <a:off x="658368" y="457200"/>
            <a:ext cx="10872216" cy="256032"/>
          </a:xfrm>
          <a:prstGeom prst="rect">
            <a:avLst/>
          </a:prstGeom>
          <a:noFill/>
          <a:ln/>
        </p:spPr>
        <p:txBody>
          <a:bodyPr wrap="square" lIns="0" tIns="0" rIns="0" bIns="0" rtlCol="0" anchor="ctr"/>
          <a:lstStyle/>
          <a:p>
            <a:pPr indent="0" marL="0">
              <a:buNone/>
            </a:pPr>
            <a:r>
              <a:rPr lang="en-US" sz="1100" b="1" spc="240" kern="0" dirty="0">
                <a:solidFill>
                  <a:srgbClr val="00D4FF"/>
                </a:solidFill>
                <a:latin typeface="Calibri" pitchFamily="34" charset="0"/>
                <a:ea typeface="Calibri" pitchFamily="34" charset="-122"/>
                <a:cs typeface="Calibri" pitchFamily="34" charset="-120"/>
              </a:rPr>
              <a:t>THE DASHBOARD</a:t>
            </a:r>
            <a:endParaRPr lang="en-US" sz="1100" dirty="0"/>
          </a:p>
        </p:txBody>
      </p:sp>
      <p:sp>
        <p:nvSpPr>
          <p:cNvPr id="3" name="Text 1"/>
          <p:cNvSpPr/>
          <p:nvPr/>
        </p:nvSpPr>
        <p:spPr>
          <a:xfrm>
            <a:off x="658368" y="786384"/>
            <a:ext cx="10872216" cy="822960"/>
          </a:xfrm>
          <a:prstGeom prst="rect">
            <a:avLst/>
          </a:prstGeom>
          <a:noFill/>
          <a:ln/>
        </p:spPr>
        <p:txBody>
          <a:bodyPr wrap="square" lIns="0" tIns="0" rIns="0" bIns="0" rtlCol="0" anchor="ctr"/>
          <a:lstStyle/>
          <a:p>
            <a:pPr indent="0" marL="0">
              <a:buNone/>
            </a:pPr>
            <a:r>
              <a:rPr lang="en-US" sz="3400" b="1" spc="-40" kern="0" dirty="0">
                <a:solidFill>
                  <a:srgbClr val="EAF2FF"/>
                </a:solidFill>
                <a:latin typeface="Calibri" pitchFamily="34" charset="0"/>
                <a:ea typeface="Calibri" pitchFamily="34" charset="-122"/>
                <a:cs typeface="Calibri" pitchFamily="34" charset="-120"/>
              </a:rPr>
              <a:t>You see the money as it moves</a:t>
            </a:r>
            <a:endParaRPr lang="en-US" sz="3400" dirty="0"/>
          </a:p>
        </p:txBody>
      </p:sp>
      <p:sp>
        <p:nvSpPr>
          <p:cNvPr id="4" name="Text 2"/>
          <p:cNvSpPr/>
          <p:nvPr/>
        </p:nvSpPr>
        <p:spPr>
          <a:xfrm>
            <a:off x="658368" y="1627632"/>
            <a:ext cx="9350106" cy="658368"/>
          </a:xfrm>
          <a:prstGeom prst="rect">
            <a:avLst/>
          </a:prstGeom>
          <a:noFill/>
          <a:ln/>
        </p:spPr>
        <p:txBody>
          <a:bodyPr wrap="square" lIns="0" tIns="0" rIns="0" bIns="0" rtlCol="0" anchor="ctr"/>
          <a:lstStyle/>
          <a:p>
            <a:pPr indent="0" marL="0">
              <a:lnSpc>
                <a:spcPts val="2200"/>
              </a:lnSpc>
              <a:buNone/>
            </a:pPr>
            <a:r>
              <a:rPr lang="en-US" sz="1500" dirty="0">
                <a:solidFill>
                  <a:srgbClr val="8FA3C0"/>
                </a:solidFill>
                <a:latin typeface="Calibri" pitchFamily="34" charset="0"/>
                <a:ea typeface="Calibri" pitchFamily="34" charset="-122"/>
                <a:cs typeface="Calibri" pitchFamily="34" charset="-120"/>
              </a:rPr>
              <a:t>Twenty years running predictive dialers taught one lesson: the operator who watches the numbers hourly keeps the business. The operator who waits for the monthly statement loses it.</a:t>
            </a:r>
            <a:endParaRPr lang="en-US" sz="1500" dirty="0"/>
          </a:p>
        </p:txBody>
      </p:sp>
      <p:sp>
        <p:nvSpPr>
          <p:cNvPr id="5" name="Shape 3"/>
          <p:cNvSpPr/>
          <p:nvPr/>
        </p:nvSpPr>
        <p:spPr>
          <a:xfrm>
            <a:off x="658368" y="2798064"/>
            <a:ext cx="3438144" cy="2432304"/>
          </a:xfrm>
          <a:prstGeom prst="roundRect">
            <a:avLst>
              <a:gd name="adj" fmla="val 4511"/>
            </a:avLst>
          </a:prstGeom>
          <a:solidFill>
            <a:srgbClr val="101A33"/>
          </a:solidFill>
          <a:ln w="12700">
            <a:solidFill>
              <a:srgbClr val="1E2E4A"/>
            </a:solidFill>
            <a:prstDash val="solid"/>
          </a:ln>
        </p:spPr>
      </p:sp>
      <p:sp>
        <p:nvSpPr>
          <p:cNvPr id="6" name="Shape 4"/>
          <p:cNvSpPr/>
          <p:nvPr/>
        </p:nvSpPr>
        <p:spPr>
          <a:xfrm>
            <a:off x="914400" y="3035808"/>
            <a:ext cx="777240" cy="237744"/>
          </a:xfrm>
          <a:prstGeom prst="roundRect">
            <a:avLst>
              <a:gd name="adj" fmla="val 23077"/>
            </a:avLst>
          </a:prstGeom>
          <a:solidFill>
            <a:srgbClr val="00D4FF"/>
          </a:solidFill>
          <a:ln w="12700">
            <a:solidFill>
              <a:srgbClr val="00D4FF"/>
            </a:solidFill>
            <a:prstDash val="solid"/>
          </a:ln>
        </p:spPr>
      </p:sp>
      <p:sp>
        <p:nvSpPr>
          <p:cNvPr id="7" name="Text 5"/>
          <p:cNvSpPr/>
          <p:nvPr/>
        </p:nvSpPr>
        <p:spPr>
          <a:xfrm>
            <a:off x="914400" y="3035808"/>
            <a:ext cx="777240" cy="237744"/>
          </a:xfrm>
          <a:prstGeom prst="rect">
            <a:avLst/>
          </a:prstGeom>
          <a:noFill/>
          <a:ln/>
        </p:spPr>
        <p:txBody>
          <a:bodyPr wrap="square" lIns="0" tIns="0" rIns="0" bIns="0" rtlCol="0" anchor="ctr"/>
          <a:lstStyle/>
          <a:p>
            <a:pPr algn="ctr" indent="0" marL="0">
              <a:buNone/>
            </a:pPr>
            <a:r>
              <a:rPr lang="en-US" sz="900" b="1" spc="140" kern="0" dirty="0">
                <a:solidFill>
                  <a:srgbClr val="04121C"/>
                </a:solidFill>
                <a:latin typeface="Calibri" pitchFamily="34" charset="0"/>
                <a:ea typeface="Calibri" pitchFamily="34" charset="-122"/>
                <a:cs typeface="Calibri" pitchFamily="34" charset="-120"/>
              </a:rPr>
              <a:t>LIVE</a:t>
            </a:r>
            <a:endParaRPr lang="en-US" sz="900" dirty="0"/>
          </a:p>
        </p:txBody>
      </p:sp>
      <p:sp>
        <p:nvSpPr>
          <p:cNvPr id="8" name="Text 6"/>
          <p:cNvSpPr/>
          <p:nvPr/>
        </p:nvSpPr>
        <p:spPr>
          <a:xfrm>
            <a:off x="914400" y="3383280"/>
            <a:ext cx="2926080" cy="329184"/>
          </a:xfrm>
          <a:prstGeom prst="rect">
            <a:avLst/>
          </a:prstGeom>
          <a:noFill/>
          <a:ln/>
        </p:spPr>
        <p:txBody>
          <a:bodyPr wrap="square" lIns="0" tIns="0" rIns="0" bIns="0" rtlCol="0" anchor="ctr"/>
          <a:lstStyle/>
          <a:p>
            <a:pPr indent="0" marL="0">
              <a:buNone/>
            </a:pPr>
            <a:r>
              <a:rPr lang="en-US" sz="1700" b="1" dirty="0">
                <a:solidFill>
                  <a:srgbClr val="EAF2FF"/>
                </a:solidFill>
                <a:latin typeface="Calibri" pitchFamily="34" charset="0"/>
                <a:ea typeface="Calibri" pitchFamily="34" charset="-122"/>
                <a:cs typeface="Calibri" pitchFamily="34" charset="-120"/>
              </a:rPr>
              <a:t>Command center</a:t>
            </a:r>
            <a:endParaRPr lang="en-US" sz="1700" dirty="0"/>
          </a:p>
        </p:txBody>
      </p:sp>
      <p:sp>
        <p:nvSpPr>
          <p:cNvPr id="9" name="Text 7"/>
          <p:cNvSpPr/>
          <p:nvPr/>
        </p:nvSpPr>
        <p:spPr>
          <a:xfrm>
            <a:off x="914400" y="3785616"/>
            <a:ext cx="2926080" cy="1280160"/>
          </a:xfrm>
          <a:prstGeom prst="rect">
            <a:avLst/>
          </a:prstGeom>
          <a:noFill/>
          <a:ln/>
        </p:spPr>
        <p:txBody>
          <a:bodyPr wrap="square" lIns="0" tIns="0" rIns="0" bIns="0" rtlCol="0" anchor="ctr"/>
          <a:lstStyle/>
          <a:p>
            <a:pPr marL="342900" indent="-342900">
              <a:lnSpc>
                <a:spcPts val="1500"/>
              </a:lnSpc>
              <a:spcAft>
                <a:spcPts val="600"/>
              </a:spcAft>
              <a:buSzPct val="100000"/>
              <a:buChar char="•"/>
            </a:pPr>
            <a:r>
              <a:rPr lang="en-US" sz="1150" dirty="0">
                <a:solidFill>
                  <a:srgbClr val="8FA3C0"/>
                </a:solidFill>
                <a:latin typeface="Calibri" pitchFamily="34" charset="0"/>
                <a:ea typeface="Calibri" pitchFamily="34" charset="-122"/>
                <a:cs typeface="Calibri" pitchFamily="34" charset="-120"/>
              </a:rPr>
              <a:t>Calls in, connects, contact rate</a:t>
            </a:r>
            <a:endParaRPr lang="en-US" sz="1150" dirty="0"/>
          </a:p>
          <a:p>
            <a:pPr marL="342900" indent="-342900">
              <a:lnSpc>
                <a:spcPts val="1500"/>
              </a:lnSpc>
              <a:spcAft>
                <a:spcPts val="600"/>
              </a:spcAft>
              <a:buSzPct val="100000"/>
              <a:buChar char="•"/>
            </a:pPr>
            <a:r>
              <a:rPr lang="en-US" sz="1150" dirty="0">
                <a:solidFill>
                  <a:srgbClr val="8FA3C0"/>
                </a:solidFill>
                <a:latin typeface="Calibri" pitchFamily="34" charset="0"/>
                <a:ea typeface="Calibri" pitchFamily="34" charset="-122"/>
                <a:cs typeface="Calibri" pitchFamily="34" charset="-120"/>
              </a:rPr>
              <a:t>Assessments booked and cost each</a:t>
            </a:r>
            <a:endParaRPr lang="en-US" sz="1150" dirty="0"/>
          </a:p>
          <a:p>
            <a:pPr marL="342900" indent="-342900">
              <a:lnSpc>
                <a:spcPts val="1500"/>
              </a:lnSpc>
              <a:spcAft>
                <a:spcPts val="600"/>
              </a:spcAft>
              <a:buSzPct val="100000"/>
              <a:buChar char="•"/>
            </a:pPr>
            <a:r>
              <a:rPr lang="en-US" sz="1150" dirty="0">
                <a:solidFill>
                  <a:srgbClr val="8FA3C0"/>
                </a:solidFill>
                <a:latin typeface="Calibri" pitchFamily="34" charset="0"/>
                <a:ea typeface="Calibri" pitchFamily="34" charset="-122"/>
                <a:cs typeface="Calibri" pitchFamily="34" charset="-120"/>
              </a:rPr>
              <a:t>Average hold time and abandon rate</a:t>
            </a:r>
            <a:endParaRPr lang="en-US" sz="1150" dirty="0"/>
          </a:p>
          <a:p>
            <a:pPr marL="342900" indent="-342900">
              <a:lnSpc>
                <a:spcPts val="1500"/>
              </a:lnSpc>
              <a:spcAft>
                <a:spcPts val="600"/>
              </a:spcAft>
              <a:buSzPct val="100000"/>
              <a:buChar char="•"/>
            </a:pPr>
            <a:r>
              <a:rPr lang="en-US" sz="1150" dirty="0">
                <a:solidFill>
                  <a:srgbClr val="8FA3C0"/>
                </a:solidFill>
                <a:latin typeface="Calibri" pitchFamily="34" charset="0"/>
                <a:ea typeface="Calibri" pitchFamily="34" charset="-122"/>
                <a:cs typeface="Calibri" pitchFamily="34" charset="-120"/>
              </a:rPr>
              <a:t>Revenue in versus spend out</a:t>
            </a:r>
            <a:endParaRPr lang="en-US" sz="1150" dirty="0"/>
          </a:p>
        </p:txBody>
      </p:sp>
      <p:sp>
        <p:nvSpPr>
          <p:cNvPr id="10" name="Shape 8"/>
          <p:cNvSpPr/>
          <p:nvPr/>
        </p:nvSpPr>
        <p:spPr>
          <a:xfrm>
            <a:off x="4370832" y="2798064"/>
            <a:ext cx="3438144" cy="2432304"/>
          </a:xfrm>
          <a:prstGeom prst="roundRect">
            <a:avLst>
              <a:gd name="adj" fmla="val 4511"/>
            </a:avLst>
          </a:prstGeom>
          <a:solidFill>
            <a:srgbClr val="101A33"/>
          </a:solidFill>
          <a:ln w="12700">
            <a:solidFill>
              <a:srgbClr val="1E2E4A"/>
            </a:solidFill>
            <a:prstDash val="solid"/>
          </a:ln>
        </p:spPr>
      </p:sp>
      <p:sp>
        <p:nvSpPr>
          <p:cNvPr id="11" name="Shape 9"/>
          <p:cNvSpPr/>
          <p:nvPr/>
        </p:nvSpPr>
        <p:spPr>
          <a:xfrm>
            <a:off x="4626864" y="3035808"/>
            <a:ext cx="1078992" cy="237744"/>
          </a:xfrm>
          <a:prstGeom prst="roundRect">
            <a:avLst>
              <a:gd name="adj" fmla="val 23077"/>
            </a:avLst>
          </a:prstGeom>
          <a:solidFill>
            <a:srgbClr val="00FF88"/>
          </a:solidFill>
          <a:ln w="12700">
            <a:solidFill>
              <a:srgbClr val="00FF88"/>
            </a:solidFill>
            <a:prstDash val="solid"/>
          </a:ln>
        </p:spPr>
      </p:sp>
      <p:sp>
        <p:nvSpPr>
          <p:cNvPr id="12" name="Text 10"/>
          <p:cNvSpPr/>
          <p:nvPr/>
        </p:nvSpPr>
        <p:spPr>
          <a:xfrm>
            <a:off x="4626864" y="3035808"/>
            <a:ext cx="1078992" cy="237744"/>
          </a:xfrm>
          <a:prstGeom prst="rect">
            <a:avLst/>
          </a:prstGeom>
          <a:noFill/>
          <a:ln/>
        </p:spPr>
        <p:txBody>
          <a:bodyPr wrap="square" lIns="0" tIns="0" rIns="0" bIns="0" rtlCol="0" anchor="ctr"/>
          <a:lstStyle/>
          <a:p>
            <a:pPr algn="ctr" indent="0" marL="0">
              <a:buNone/>
            </a:pPr>
            <a:r>
              <a:rPr lang="en-US" sz="900" b="1" spc="140" kern="0" dirty="0">
                <a:solidFill>
                  <a:srgbClr val="04121C"/>
                </a:solidFill>
                <a:latin typeface="Calibri" pitchFamily="34" charset="0"/>
                <a:ea typeface="Calibri" pitchFamily="34" charset="-122"/>
                <a:cs typeface="Calibri" pitchFamily="34" charset="-120"/>
              </a:rPr>
              <a:t>GUARDRAILS</a:t>
            </a:r>
            <a:endParaRPr lang="en-US" sz="900" dirty="0"/>
          </a:p>
        </p:txBody>
      </p:sp>
      <p:sp>
        <p:nvSpPr>
          <p:cNvPr id="13" name="Text 11"/>
          <p:cNvSpPr/>
          <p:nvPr/>
        </p:nvSpPr>
        <p:spPr>
          <a:xfrm>
            <a:off x="4626864" y="3383280"/>
            <a:ext cx="2926080" cy="329184"/>
          </a:xfrm>
          <a:prstGeom prst="rect">
            <a:avLst/>
          </a:prstGeom>
          <a:noFill/>
          <a:ln/>
        </p:spPr>
        <p:txBody>
          <a:bodyPr wrap="square" lIns="0" tIns="0" rIns="0" bIns="0" rtlCol="0" anchor="ctr"/>
          <a:lstStyle/>
          <a:p>
            <a:pPr indent="0" marL="0">
              <a:buNone/>
            </a:pPr>
            <a:r>
              <a:rPr lang="en-US" sz="1700" b="1" dirty="0">
                <a:solidFill>
                  <a:srgbClr val="EAF2FF"/>
                </a:solidFill>
                <a:latin typeface="Calibri" pitchFamily="34" charset="0"/>
                <a:ea typeface="Calibri" pitchFamily="34" charset="-122"/>
                <a:cs typeface="Calibri" pitchFamily="34" charset="-120"/>
              </a:rPr>
              <a:t>Stop the bleed early</a:t>
            </a:r>
            <a:endParaRPr lang="en-US" sz="1700" dirty="0"/>
          </a:p>
        </p:txBody>
      </p:sp>
      <p:sp>
        <p:nvSpPr>
          <p:cNvPr id="14" name="Text 12"/>
          <p:cNvSpPr/>
          <p:nvPr/>
        </p:nvSpPr>
        <p:spPr>
          <a:xfrm>
            <a:off x="4626864" y="3785616"/>
            <a:ext cx="2926080" cy="1280160"/>
          </a:xfrm>
          <a:prstGeom prst="rect">
            <a:avLst/>
          </a:prstGeom>
          <a:noFill/>
          <a:ln/>
        </p:spPr>
        <p:txBody>
          <a:bodyPr wrap="square" lIns="0" tIns="0" rIns="0" bIns="0" rtlCol="0" anchor="ctr"/>
          <a:lstStyle/>
          <a:p>
            <a:pPr marL="342900" indent="-342900">
              <a:lnSpc>
                <a:spcPts val="1500"/>
              </a:lnSpc>
              <a:spcAft>
                <a:spcPts val="600"/>
              </a:spcAft>
              <a:buSzPct val="100000"/>
              <a:buChar char="•"/>
            </a:pPr>
            <a:r>
              <a:rPr lang="en-US" sz="1150" dirty="0">
                <a:solidFill>
                  <a:srgbClr val="8FA3C0"/>
                </a:solidFill>
                <a:latin typeface="Calibri" pitchFamily="34" charset="0"/>
                <a:ea typeface="Calibri" pitchFamily="34" charset="-122"/>
                <a:cs typeface="Calibri" pitchFamily="34" charset="-120"/>
              </a:rPr>
              <a:t>Alerts when cost per lead crosses your line</a:t>
            </a:r>
            <a:endParaRPr lang="en-US" sz="1150" dirty="0"/>
          </a:p>
          <a:p>
            <a:pPr marL="342900" indent="-342900">
              <a:lnSpc>
                <a:spcPts val="1500"/>
              </a:lnSpc>
              <a:spcAft>
                <a:spcPts val="600"/>
              </a:spcAft>
              <a:buSzPct val="100000"/>
              <a:buChar char="•"/>
            </a:pPr>
            <a:r>
              <a:rPr lang="en-US" sz="1150" dirty="0">
                <a:solidFill>
                  <a:srgbClr val="8FA3C0"/>
                </a:solidFill>
                <a:latin typeface="Calibri" pitchFamily="34" charset="0"/>
                <a:ea typeface="Calibri" pitchFamily="34" charset="-122"/>
                <a:cs typeface="Calibri" pitchFamily="34" charset="-120"/>
              </a:rPr>
              <a:t>Flags the unprofitable source or hour</a:t>
            </a:r>
            <a:endParaRPr lang="en-US" sz="1150" dirty="0"/>
          </a:p>
          <a:p>
            <a:pPr marL="342900" indent="-342900">
              <a:lnSpc>
                <a:spcPts val="1500"/>
              </a:lnSpc>
              <a:spcAft>
                <a:spcPts val="600"/>
              </a:spcAft>
              <a:buSzPct val="100000"/>
              <a:buChar char="•"/>
            </a:pPr>
            <a:r>
              <a:rPr lang="en-US" sz="1150" dirty="0">
                <a:solidFill>
                  <a:srgbClr val="8FA3C0"/>
                </a:solidFill>
                <a:latin typeface="Calibri" pitchFamily="34" charset="0"/>
                <a:ea typeface="Calibri" pitchFamily="34" charset="-122"/>
                <a:cs typeface="Calibri" pitchFamily="34" charset="-120"/>
              </a:rPr>
              <a:t>Pause, fix, resume — same day</a:t>
            </a:r>
            <a:endParaRPr lang="en-US" sz="1150" dirty="0"/>
          </a:p>
        </p:txBody>
      </p:sp>
      <p:sp>
        <p:nvSpPr>
          <p:cNvPr id="15" name="Shape 13"/>
          <p:cNvSpPr/>
          <p:nvPr/>
        </p:nvSpPr>
        <p:spPr>
          <a:xfrm>
            <a:off x="8083296" y="2798064"/>
            <a:ext cx="3438144" cy="2432304"/>
          </a:xfrm>
          <a:prstGeom prst="roundRect">
            <a:avLst>
              <a:gd name="adj" fmla="val 4511"/>
            </a:avLst>
          </a:prstGeom>
          <a:solidFill>
            <a:srgbClr val="101A33"/>
          </a:solidFill>
          <a:ln w="12700">
            <a:solidFill>
              <a:srgbClr val="1E2E4A"/>
            </a:solidFill>
            <a:prstDash val="solid"/>
          </a:ln>
        </p:spPr>
      </p:sp>
      <p:sp>
        <p:nvSpPr>
          <p:cNvPr id="16" name="Shape 14"/>
          <p:cNvSpPr/>
          <p:nvPr/>
        </p:nvSpPr>
        <p:spPr>
          <a:xfrm>
            <a:off x="8339328" y="3035808"/>
            <a:ext cx="837590" cy="237744"/>
          </a:xfrm>
          <a:prstGeom prst="roundRect">
            <a:avLst>
              <a:gd name="adj" fmla="val 23077"/>
            </a:avLst>
          </a:prstGeom>
          <a:solidFill>
            <a:srgbClr val="FFC24B"/>
          </a:solidFill>
          <a:ln w="12700">
            <a:solidFill>
              <a:srgbClr val="FFC24B"/>
            </a:solidFill>
            <a:prstDash val="solid"/>
          </a:ln>
        </p:spPr>
      </p:sp>
      <p:sp>
        <p:nvSpPr>
          <p:cNvPr id="17" name="Text 15"/>
          <p:cNvSpPr/>
          <p:nvPr/>
        </p:nvSpPr>
        <p:spPr>
          <a:xfrm>
            <a:off x="8339328" y="3035808"/>
            <a:ext cx="837590" cy="237744"/>
          </a:xfrm>
          <a:prstGeom prst="rect">
            <a:avLst/>
          </a:prstGeom>
          <a:noFill/>
          <a:ln/>
        </p:spPr>
        <p:txBody>
          <a:bodyPr wrap="square" lIns="0" tIns="0" rIns="0" bIns="0" rtlCol="0" anchor="ctr"/>
          <a:lstStyle/>
          <a:p>
            <a:pPr algn="ctr" indent="0" marL="0">
              <a:buNone/>
            </a:pPr>
            <a:r>
              <a:rPr lang="en-US" sz="900" b="1" spc="140" kern="0" dirty="0">
                <a:solidFill>
                  <a:srgbClr val="04121C"/>
                </a:solidFill>
                <a:latin typeface="Calibri" pitchFamily="34" charset="0"/>
                <a:ea typeface="Calibri" pitchFamily="34" charset="-122"/>
                <a:cs typeface="Calibri" pitchFamily="34" charset="-120"/>
              </a:rPr>
              <a:t>FORWARD</a:t>
            </a:r>
            <a:endParaRPr lang="en-US" sz="900" dirty="0"/>
          </a:p>
        </p:txBody>
      </p:sp>
      <p:sp>
        <p:nvSpPr>
          <p:cNvPr id="18" name="Text 16"/>
          <p:cNvSpPr/>
          <p:nvPr/>
        </p:nvSpPr>
        <p:spPr>
          <a:xfrm>
            <a:off x="8339328" y="3383280"/>
            <a:ext cx="2926080" cy="329184"/>
          </a:xfrm>
          <a:prstGeom prst="rect">
            <a:avLst/>
          </a:prstGeom>
          <a:noFill/>
          <a:ln/>
        </p:spPr>
        <p:txBody>
          <a:bodyPr wrap="square" lIns="0" tIns="0" rIns="0" bIns="0" rtlCol="0" anchor="ctr"/>
          <a:lstStyle/>
          <a:p>
            <a:pPr indent="0" marL="0">
              <a:buNone/>
            </a:pPr>
            <a:r>
              <a:rPr lang="en-US" sz="1700" b="1" dirty="0">
                <a:solidFill>
                  <a:srgbClr val="EAF2FF"/>
                </a:solidFill>
                <a:latin typeface="Calibri" pitchFamily="34" charset="0"/>
                <a:ea typeface="Calibri" pitchFamily="34" charset="-122"/>
                <a:cs typeface="Calibri" pitchFamily="34" charset="-120"/>
              </a:rPr>
              <a:t>Predictive layer</a:t>
            </a:r>
            <a:endParaRPr lang="en-US" sz="1700" dirty="0"/>
          </a:p>
        </p:txBody>
      </p:sp>
      <p:sp>
        <p:nvSpPr>
          <p:cNvPr id="19" name="Text 17"/>
          <p:cNvSpPr/>
          <p:nvPr/>
        </p:nvSpPr>
        <p:spPr>
          <a:xfrm>
            <a:off x="8339328" y="3785616"/>
            <a:ext cx="2926080" cy="1280160"/>
          </a:xfrm>
          <a:prstGeom prst="rect">
            <a:avLst/>
          </a:prstGeom>
          <a:noFill/>
          <a:ln/>
        </p:spPr>
        <p:txBody>
          <a:bodyPr wrap="square" lIns="0" tIns="0" rIns="0" bIns="0" rtlCol="0" anchor="ctr"/>
          <a:lstStyle/>
          <a:p>
            <a:pPr marL="342900" indent="-342900">
              <a:lnSpc>
                <a:spcPts val="1500"/>
              </a:lnSpc>
              <a:spcAft>
                <a:spcPts val="600"/>
              </a:spcAft>
              <a:buSzPct val="100000"/>
              <a:buChar char="•"/>
            </a:pPr>
            <a:r>
              <a:rPr lang="en-US" sz="1150" dirty="0">
                <a:solidFill>
                  <a:srgbClr val="8FA3C0"/>
                </a:solidFill>
                <a:latin typeface="Calibri" pitchFamily="34" charset="0"/>
                <a:ea typeface="Calibri" pitchFamily="34" charset="-122"/>
                <a:cs typeface="Calibri" pitchFamily="34" charset="-120"/>
              </a:rPr>
              <a:t>Weather-driven demand by market</a:t>
            </a:r>
            <a:endParaRPr lang="en-US" sz="1150" dirty="0"/>
          </a:p>
          <a:p>
            <a:pPr marL="342900" indent="-342900">
              <a:lnSpc>
                <a:spcPts val="1500"/>
              </a:lnSpc>
              <a:spcAft>
                <a:spcPts val="600"/>
              </a:spcAft>
              <a:buSzPct val="100000"/>
              <a:buChar char="•"/>
            </a:pPr>
            <a:r>
              <a:rPr lang="en-US" sz="1150" dirty="0">
                <a:solidFill>
                  <a:srgbClr val="8FA3C0"/>
                </a:solidFill>
                <a:latin typeface="Calibri" pitchFamily="34" charset="0"/>
                <a:ea typeface="Calibri" pitchFamily="34" charset="-122"/>
                <a:cs typeface="Calibri" pitchFamily="34" charset="-120"/>
              </a:rPr>
              <a:t>Capacity planned ahead of the surge</a:t>
            </a:r>
            <a:endParaRPr lang="en-US" sz="1150" dirty="0"/>
          </a:p>
          <a:p>
            <a:pPr marL="342900" indent="-342900">
              <a:lnSpc>
                <a:spcPts val="1500"/>
              </a:lnSpc>
              <a:spcAft>
                <a:spcPts val="600"/>
              </a:spcAft>
              <a:buSzPct val="100000"/>
              <a:buChar char="•"/>
            </a:pPr>
            <a:r>
              <a:rPr lang="en-US" sz="1150" dirty="0">
                <a:solidFill>
                  <a:srgbClr val="8FA3C0"/>
                </a:solidFill>
                <a:latin typeface="Calibri" pitchFamily="34" charset="0"/>
                <a:ea typeface="Calibri" pitchFamily="34" charset="-122"/>
                <a:cs typeface="Calibri" pitchFamily="34" charset="-120"/>
              </a:rPr>
              <a:t>Which zip codes are about to get busy</a:t>
            </a:r>
            <a:endParaRPr lang="en-US" sz="1150" dirty="0"/>
          </a:p>
        </p:txBody>
      </p:sp>
      <p:sp>
        <p:nvSpPr>
          <p:cNvPr id="20" name="Text 18"/>
          <p:cNvSpPr/>
          <p:nvPr/>
        </p:nvSpPr>
        <p:spPr>
          <a:xfrm>
            <a:off x="658368" y="5541264"/>
            <a:ext cx="10872216" cy="548640"/>
          </a:xfrm>
          <a:prstGeom prst="rect">
            <a:avLst/>
          </a:prstGeom>
          <a:noFill/>
          <a:ln/>
        </p:spPr>
        <p:txBody>
          <a:bodyPr wrap="square" lIns="0" tIns="0" rIns="0" bIns="0" rtlCol="0" anchor="ctr"/>
          <a:lstStyle/>
          <a:p>
            <a:pPr indent="0" marL="0">
              <a:lnSpc>
                <a:spcPts val="1900"/>
              </a:lnSpc>
              <a:buNone/>
            </a:pPr>
            <a:r>
              <a:rPr lang="en-US" sz="1350" i="1" dirty="0">
                <a:solidFill>
                  <a:srgbClr val="EAF2FF"/>
                </a:solidFill>
                <a:latin typeface="Calibri" pitchFamily="34" charset="0"/>
                <a:ea typeface="Calibri" pitchFamily="34" charset="-122"/>
                <a:cs typeface="Calibri" pitchFamily="34" charset="-120"/>
              </a:rPr>
              <a:t>And the system compounds: every recorded call improves the script, every booking teaches the routing. Month twelve outperforms month one without you doing anything differently.</a:t>
            </a:r>
            <a:endParaRPr lang="en-US" sz="1350" dirty="0"/>
          </a:p>
        </p:txBody>
      </p:sp>
      <p:sp>
        <p:nvSpPr>
          <p:cNvPr id="21" name="Text 19"/>
          <p:cNvSpPr/>
          <p:nvPr/>
        </p:nvSpPr>
        <p:spPr>
          <a:xfrm>
            <a:off x="658368" y="6291072"/>
            <a:ext cx="10872216" cy="237744"/>
          </a:xfrm>
          <a:prstGeom prst="rect">
            <a:avLst/>
          </a:prstGeom>
          <a:noFill/>
          <a:ln/>
        </p:spPr>
        <p:txBody>
          <a:bodyPr wrap="square" lIns="0" tIns="0" rIns="0" bIns="0" rtlCol="0" anchor="ctr"/>
          <a:lstStyle/>
          <a:p>
            <a:pPr indent="0" marL="0">
              <a:buNone/>
            </a:pPr>
            <a:r>
              <a:rPr lang="en-US" sz="900" dirty="0">
                <a:solidFill>
                  <a:srgbClr val="54658A"/>
                </a:solidFill>
                <a:latin typeface="Calibri" pitchFamily="34" charset="0"/>
                <a:ea typeface="Calibri" pitchFamily="34" charset="-122"/>
                <a:cs typeface="Calibri" pitchFamily="34" charset="-120"/>
              </a:rPr>
              <a:t>Telvergence, Inc.  ·  Confidential — prepared for Jimmy Mejia</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70C18"/>
        </a:solidFill>
      </p:bgPr>
    </p:bg>
    <p:spTree>
      <p:nvGrpSpPr>
        <p:cNvPr id="1" name=""/>
        <p:cNvGrpSpPr/>
        <p:nvPr/>
      </p:nvGrpSpPr>
      <p:grpSpPr>
        <a:xfrm>
          <a:off x="0" y="0"/>
          <a:ext cx="0" cy="0"/>
          <a:chOff x="0" y="0"/>
          <a:chExt cx="0" cy="0"/>
        </a:xfrm>
      </p:grpSpPr>
      <p:sp>
        <p:nvSpPr>
          <p:cNvPr id="2" name="Text 0"/>
          <p:cNvSpPr/>
          <p:nvPr/>
        </p:nvSpPr>
        <p:spPr>
          <a:xfrm>
            <a:off x="658368" y="457200"/>
            <a:ext cx="10872216" cy="256032"/>
          </a:xfrm>
          <a:prstGeom prst="rect">
            <a:avLst/>
          </a:prstGeom>
          <a:noFill/>
          <a:ln/>
        </p:spPr>
        <p:txBody>
          <a:bodyPr wrap="square" lIns="0" tIns="0" rIns="0" bIns="0" rtlCol="0" anchor="ctr"/>
          <a:lstStyle/>
          <a:p>
            <a:pPr indent="0" marL="0">
              <a:buNone/>
            </a:pPr>
            <a:r>
              <a:rPr lang="en-US" sz="1100" b="1" spc="240" kern="0" dirty="0">
                <a:solidFill>
                  <a:srgbClr val="00D4FF"/>
                </a:solidFill>
                <a:latin typeface="Calibri" pitchFamily="34" charset="0"/>
                <a:ea typeface="Calibri" pitchFamily="34" charset="-122"/>
                <a:cs typeface="Calibri" pitchFamily="34" charset="-120"/>
              </a:rPr>
              <a:t>GROWTH</a:t>
            </a:r>
            <a:endParaRPr lang="en-US" sz="1100" dirty="0"/>
          </a:p>
        </p:txBody>
      </p:sp>
      <p:sp>
        <p:nvSpPr>
          <p:cNvPr id="3" name="Text 1"/>
          <p:cNvSpPr/>
          <p:nvPr/>
        </p:nvSpPr>
        <p:spPr>
          <a:xfrm>
            <a:off x="658368" y="786384"/>
            <a:ext cx="10872216" cy="822960"/>
          </a:xfrm>
          <a:prstGeom prst="rect">
            <a:avLst/>
          </a:prstGeom>
          <a:noFill/>
          <a:ln/>
        </p:spPr>
        <p:txBody>
          <a:bodyPr wrap="square" lIns="0" tIns="0" rIns="0" bIns="0" rtlCol="0" anchor="ctr"/>
          <a:lstStyle/>
          <a:p>
            <a:pPr indent="0" marL="0">
              <a:buNone/>
            </a:pPr>
            <a:r>
              <a:rPr lang="en-US" sz="3400" b="1" spc="-40" kern="0" dirty="0">
                <a:solidFill>
                  <a:srgbClr val="EAF2FF"/>
                </a:solidFill>
                <a:latin typeface="Calibri" pitchFamily="34" charset="0"/>
                <a:ea typeface="Calibri" pitchFamily="34" charset="-122"/>
                <a:cs typeface="Calibri" pitchFamily="34" charset="-120"/>
              </a:rPr>
              <a:t>Where this goes for you</a:t>
            </a:r>
            <a:endParaRPr lang="en-US" sz="3400" dirty="0"/>
          </a:p>
        </p:txBody>
      </p:sp>
      <p:sp>
        <p:nvSpPr>
          <p:cNvPr id="4" name="Text 2"/>
          <p:cNvSpPr/>
          <p:nvPr/>
        </p:nvSpPr>
        <p:spPr>
          <a:xfrm>
            <a:off x="658368" y="1920240"/>
            <a:ext cx="2103120" cy="274320"/>
          </a:xfrm>
          <a:prstGeom prst="rect">
            <a:avLst/>
          </a:prstGeom>
          <a:noFill/>
          <a:ln/>
        </p:spPr>
        <p:txBody>
          <a:bodyPr wrap="square" lIns="0" tIns="0" rIns="0" bIns="0" rtlCol="0" anchor="ctr"/>
          <a:lstStyle/>
          <a:p>
            <a:pPr indent="0" marL="0">
              <a:buNone/>
            </a:pPr>
            <a:r>
              <a:rPr lang="en-US" sz="1000" b="1" spc="160" kern="0" dirty="0">
                <a:solidFill>
                  <a:srgbClr val="8FA3C0"/>
                </a:solidFill>
                <a:latin typeface="Calibri" pitchFamily="34" charset="0"/>
                <a:ea typeface="Calibri" pitchFamily="34" charset="-122"/>
                <a:cs typeface="Calibri" pitchFamily="34" charset="-120"/>
              </a:rPr>
              <a:t>STAGE</a:t>
            </a:r>
            <a:endParaRPr lang="en-US" sz="1000" dirty="0"/>
          </a:p>
        </p:txBody>
      </p:sp>
      <p:sp>
        <p:nvSpPr>
          <p:cNvPr id="5" name="Text 3"/>
          <p:cNvSpPr/>
          <p:nvPr/>
        </p:nvSpPr>
        <p:spPr>
          <a:xfrm>
            <a:off x="2944368" y="1920240"/>
            <a:ext cx="4023360" cy="274320"/>
          </a:xfrm>
          <a:prstGeom prst="rect">
            <a:avLst/>
          </a:prstGeom>
          <a:noFill/>
          <a:ln/>
        </p:spPr>
        <p:txBody>
          <a:bodyPr wrap="square" lIns="0" tIns="0" rIns="0" bIns="0" rtlCol="0" anchor="ctr"/>
          <a:lstStyle/>
          <a:p>
            <a:pPr indent="0" marL="0">
              <a:buNone/>
            </a:pPr>
            <a:r>
              <a:rPr lang="en-US" sz="1000" b="1" spc="160" kern="0" dirty="0">
                <a:solidFill>
                  <a:srgbClr val="8FA3C0"/>
                </a:solidFill>
                <a:latin typeface="Calibri" pitchFamily="34" charset="0"/>
                <a:ea typeface="Calibri" pitchFamily="34" charset="-122"/>
                <a:cs typeface="Calibri" pitchFamily="34" charset="-120"/>
              </a:rPr>
              <a:t>WHAT YOU DO</a:t>
            </a:r>
            <a:endParaRPr lang="en-US" sz="1000" dirty="0"/>
          </a:p>
        </p:txBody>
      </p:sp>
      <p:sp>
        <p:nvSpPr>
          <p:cNvPr id="6" name="Text 4"/>
          <p:cNvSpPr/>
          <p:nvPr/>
        </p:nvSpPr>
        <p:spPr>
          <a:xfrm>
            <a:off x="7150608" y="1920240"/>
            <a:ext cx="4379976" cy="274320"/>
          </a:xfrm>
          <a:prstGeom prst="rect">
            <a:avLst/>
          </a:prstGeom>
          <a:noFill/>
          <a:ln/>
        </p:spPr>
        <p:txBody>
          <a:bodyPr wrap="square" lIns="0" tIns="0" rIns="0" bIns="0" rtlCol="0" anchor="ctr"/>
          <a:lstStyle/>
          <a:p>
            <a:pPr indent="0" marL="0">
              <a:buNone/>
            </a:pPr>
            <a:r>
              <a:rPr lang="en-US" sz="1000" b="1" spc="160" kern="0" dirty="0">
                <a:solidFill>
                  <a:srgbClr val="8FA3C0"/>
                </a:solidFill>
                <a:latin typeface="Calibri" pitchFamily="34" charset="0"/>
                <a:ea typeface="Calibri" pitchFamily="34" charset="-122"/>
                <a:cs typeface="Calibri" pitchFamily="34" charset="-120"/>
              </a:rPr>
              <a:t>WHAT IT PRODUCES</a:t>
            </a:r>
            <a:endParaRPr lang="en-US" sz="1000" dirty="0"/>
          </a:p>
        </p:txBody>
      </p:sp>
      <p:sp>
        <p:nvSpPr>
          <p:cNvPr id="7" name="Shape 5"/>
          <p:cNvSpPr/>
          <p:nvPr/>
        </p:nvSpPr>
        <p:spPr>
          <a:xfrm>
            <a:off x="658368" y="2249424"/>
            <a:ext cx="10872216" cy="10973"/>
          </a:xfrm>
          <a:prstGeom prst="rect">
            <a:avLst/>
          </a:prstGeom>
          <a:solidFill>
            <a:srgbClr val="1E2E4A"/>
          </a:solidFill>
          <a:ln w="12700">
            <a:solidFill>
              <a:srgbClr val="333333"/>
            </a:solidFill>
            <a:prstDash val="solid"/>
          </a:ln>
        </p:spPr>
      </p:sp>
      <p:sp>
        <p:nvSpPr>
          <p:cNvPr id="8" name="Text 6"/>
          <p:cNvSpPr/>
          <p:nvPr/>
        </p:nvSpPr>
        <p:spPr>
          <a:xfrm>
            <a:off x="658368" y="2450592"/>
            <a:ext cx="2103120" cy="329184"/>
          </a:xfrm>
          <a:prstGeom prst="rect">
            <a:avLst/>
          </a:prstGeom>
          <a:noFill/>
          <a:ln/>
        </p:spPr>
        <p:txBody>
          <a:bodyPr wrap="square" lIns="0" tIns="0" rIns="0" bIns="0" rtlCol="0" anchor="ctr"/>
          <a:lstStyle/>
          <a:p>
            <a:pPr indent="0" marL="0">
              <a:buNone/>
            </a:pPr>
            <a:r>
              <a:rPr lang="en-US" sz="1600" b="1" dirty="0">
                <a:solidFill>
                  <a:srgbClr val="00D4FF"/>
                </a:solidFill>
                <a:latin typeface="Calibri" pitchFamily="34" charset="0"/>
                <a:ea typeface="Calibri" pitchFamily="34" charset="-122"/>
                <a:cs typeface="Calibri" pitchFamily="34" charset="-120"/>
              </a:rPr>
              <a:t>Partner</a:t>
            </a:r>
            <a:endParaRPr lang="en-US" sz="1600" dirty="0"/>
          </a:p>
        </p:txBody>
      </p:sp>
      <p:sp>
        <p:nvSpPr>
          <p:cNvPr id="9" name="Text 7"/>
          <p:cNvSpPr/>
          <p:nvPr/>
        </p:nvSpPr>
        <p:spPr>
          <a:xfrm>
            <a:off x="2944368" y="2450592"/>
            <a:ext cx="4023360" cy="457200"/>
          </a:xfrm>
          <a:prstGeom prst="rect">
            <a:avLst/>
          </a:prstGeom>
          <a:noFill/>
          <a:ln/>
        </p:spPr>
        <p:txBody>
          <a:bodyPr wrap="square" lIns="0" tIns="0" rIns="0" bIns="0" rtlCol="0" anchor="ctr"/>
          <a:lstStyle/>
          <a:p>
            <a:pPr indent="0" marL="0">
              <a:lnSpc>
                <a:spcPts val="1700"/>
              </a:lnSpc>
              <a:buNone/>
            </a:pPr>
            <a:r>
              <a:rPr lang="en-US" sz="1250" dirty="0">
                <a:solidFill>
                  <a:srgbClr val="EAF2FF"/>
                </a:solidFill>
                <a:latin typeface="Calibri" pitchFamily="34" charset="0"/>
                <a:ea typeface="Calibri" pitchFamily="34" charset="-122"/>
                <a:cs typeface="Calibri" pitchFamily="34" charset="-120"/>
              </a:rPr>
              <a:t>Run your ten lines; take the calls the network routes you</a:t>
            </a:r>
            <a:endParaRPr lang="en-US" sz="1250" dirty="0"/>
          </a:p>
        </p:txBody>
      </p:sp>
      <p:sp>
        <p:nvSpPr>
          <p:cNvPr id="10" name="Text 8"/>
          <p:cNvSpPr/>
          <p:nvPr/>
        </p:nvSpPr>
        <p:spPr>
          <a:xfrm>
            <a:off x="7150608" y="2450592"/>
            <a:ext cx="4379976" cy="457200"/>
          </a:xfrm>
          <a:prstGeom prst="rect">
            <a:avLst/>
          </a:prstGeom>
          <a:noFill/>
          <a:ln/>
        </p:spPr>
        <p:txBody>
          <a:bodyPr wrap="square" lIns="0" tIns="0" rIns="0" bIns="0" rtlCol="0" anchor="ctr"/>
          <a:lstStyle/>
          <a:p>
            <a:pPr indent="0" marL="0">
              <a:lnSpc>
                <a:spcPts val="1700"/>
              </a:lnSpc>
              <a:buNone/>
            </a:pPr>
            <a:r>
              <a:rPr lang="en-US" sz="1250" dirty="0">
                <a:solidFill>
                  <a:srgbClr val="8FA3C0"/>
                </a:solidFill>
                <a:latin typeface="Calibri" pitchFamily="34" charset="0"/>
                <a:ea typeface="Calibri" pitchFamily="34" charset="-122"/>
                <a:cs typeface="Calibri" pitchFamily="34" charset="-120"/>
              </a:rPr>
              <a:t>Booked assessments in your own footprint</a:t>
            </a:r>
            <a:endParaRPr lang="en-US" sz="1250" dirty="0"/>
          </a:p>
        </p:txBody>
      </p:sp>
      <p:sp>
        <p:nvSpPr>
          <p:cNvPr id="11" name="Shape 9"/>
          <p:cNvSpPr/>
          <p:nvPr/>
        </p:nvSpPr>
        <p:spPr>
          <a:xfrm>
            <a:off x="658368" y="3072384"/>
            <a:ext cx="10872216" cy="7315"/>
          </a:xfrm>
          <a:prstGeom prst="rect">
            <a:avLst/>
          </a:prstGeom>
          <a:solidFill>
            <a:srgbClr val="1E2E4A"/>
          </a:solidFill>
          <a:ln w="12700">
            <a:solidFill>
              <a:srgbClr val="333333"/>
            </a:solidFill>
            <a:prstDash val="solid"/>
          </a:ln>
        </p:spPr>
      </p:sp>
      <p:sp>
        <p:nvSpPr>
          <p:cNvPr id="12" name="Text 10"/>
          <p:cNvSpPr/>
          <p:nvPr/>
        </p:nvSpPr>
        <p:spPr>
          <a:xfrm>
            <a:off x="658368" y="3200400"/>
            <a:ext cx="2103120" cy="329184"/>
          </a:xfrm>
          <a:prstGeom prst="rect">
            <a:avLst/>
          </a:prstGeom>
          <a:noFill/>
          <a:ln/>
        </p:spPr>
        <p:txBody>
          <a:bodyPr wrap="square" lIns="0" tIns="0" rIns="0" bIns="0" rtlCol="0" anchor="ctr"/>
          <a:lstStyle/>
          <a:p>
            <a:pPr indent="0" marL="0">
              <a:buNone/>
            </a:pPr>
            <a:r>
              <a:rPr lang="en-US" sz="1600" b="1" dirty="0">
                <a:solidFill>
                  <a:srgbClr val="00D4FF"/>
                </a:solidFill>
                <a:latin typeface="Calibri" pitchFamily="34" charset="0"/>
                <a:ea typeface="Calibri" pitchFamily="34" charset="-122"/>
                <a:cs typeface="Calibri" pitchFamily="34" charset="-120"/>
              </a:rPr>
              <a:t>Referrer</a:t>
            </a:r>
            <a:endParaRPr lang="en-US" sz="1600" dirty="0"/>
          </a:p>
        </p:txBody>
      </p:sp>
      <p:sp>
        <p:nvSpPr>
          <p:cNvPr id="13" name="Text 11"/>
          <p:cNvSpPr/>
          <p:nvPr/>
        </p:nvSpPr>
        <p:spPr>
          <a:xfrm>
            <a:off x="2944368" y="3200400"/>
            <a:ext cx="4023360" cy="457200"/>
          </a:xfrm>
          <a:prstGeom prst="rect">
            <a:avLst/>
          </a:prstGeom>
          <a:noFill/>
          <a:ln/>
        </p:spPr>
        <p:txBody>
          <a:bodyPr wrap="square" lIns="0" tIns="0" rIns="0" bIns="0" rtlCol="0" anchor="ctr"/>
          <a:lstStyle/>
          <a:p>
            <a:pPr indent="0" marL="0">
              <a:lnSpc>
                <a:spcPts val="1700"/>
              </a:lnSpc>
              <a:buNone/>
            </a:pPr>
            <a:r>
              <a:rPr lang="en-US" sz="1250" dirty="0">
                <a:solidFill>
                  <a:srgbClr val="EAF2FF"/>
                </a:solidFill>
                <a:latin typeface="Calibri" pitchFamily="34" charset="0"/>
                <a:ea typeface="Calibri" pitchFamily="34" charset="-122"/>
                <a:cs typeface="Calibri" pitchFamily="34" charset="-120"/>
              </a:rPr>
              <a:t>Introduce the contractors you already work beside</a:t>
            </a:r>
            <a:endParaRPr lang="en-US" sz="1250" dirty="0"/>
          </a:p>
        </p:txBody>
      </p:sp>
      <p:sp>
        <p:nvSpPr>
          <p:cNvPr id="14" name="Text 12"/>
          <p:cNvSpPr/>
          <p:nvPr/>
        </p:nvSpPr>
        <p:spPr>
          <a:xfrm>
            <a:off x="7150608" y="3200400"/>
            <a:ext cx="4379976" cy="457200"/>
          </a:xfrm>
          <a:prstGeom prst="rect">
            <a:avLst/>
          </a:prstGeom>
          <a:noFill/>
          <a:ln/>
        </p:spPr>
        <p:txBody>
          <a:bodyPr wrap="square" lIns="0" tIns="0" rIns="0" bIns="0" rtlCol="0" anchor="ctr"/>
          <a:lstStyle/>
          <a:p>
            <a:pPr indent="0" marL="0">
              <a:lnSpc>
                <a:spcPts val="1700"/>
              </a:lnSpc>
              <a:buNone/>
            </a:pPr>
            <a:r>
              <a:rPr lang="en-US" sz="1250" dirty="0">
                <a:solidFill>
                  <a:srgbClr val="8FA3C0"/>
                </a:solidFill>
                <a:latin typeface="Calibri" pitchFamily="34" charset="0"/>
                <a:ea typeface="Calibri" pitchFamily="34" charset="-122"/>
                <a:cs typeface="Calibri" pitchFamily="34" charset="-120"/>
              </a:rPr>
              <a:t>Ongoing residual on every line they run</a:t>
            </a:r>
            <a:endParaRPr lang="en-US" sz="1250" dirty="0"/>
          </a:p>
        </p:txBody>
      </p:sp>
      <p:sp>
        <p:nvSpPr>
          <p:cNvPr id="15" name="Shape 13"/>
          <p:cNvSpPr/>
          <p:nvPr/>
        </p:nvSpPr>
        <p:spPr>
          <a:xfrm>
            <a:off x="658368" y="3822192"/>
            <a:ext cx="10872216" cy="7315"/>
          </a:xfrm>
          <a:prstGeom prst="rect">
            <a:avLst/>
          </a:prstGeom>
          <a:solidFill>
            <a:srgbClr val="1E2E4A"/>
          </a:solidFill>
          <a:ln w="12700">
            <a:solidFill>
              <a:srgbClr val="333333"/>
            </a:solidFill>
            <a:prstDash val="solid"/>
          </a:ln>
        </p:spPr>
      </p:sp>
      <p:sp>
        <p:nvSpPr>
          <p:cNvPr id="16" name="Text 14"/>
          <p:cNvSpPr/>
          <p:nvPr/>
        </p:nvSpPr>
        <p:spPr>
          <a:xfrm>
            <a:off x="658368" y="3950208"/>
            <a:ext cx="2103120" cy="329184"/>
          </a:xfrm>
          <a:prstGeom prst="rect">
            <a:avLst/>
          </a:prstGeom>
          <a:noFill/>
          <a:ln/>
        </p:spPr>
        <p:txBody>
          <a:bodyPr wrap="square" lIns="0" tIns="0" rIns="0" bIns="0" rtlCol="0" anchor="ctr"/>
          <a:lstStyle/>
          <a:p>
            <a:pPr indent="0" marL="0">
              <a:buNone/>
            </a:pPr>
            <a:r>
              <a:rPr lang="en-US" sz="1600" b="1" dirty="0">
                <a:solidFill>
                  <a:srgbClr val="00D4FF"/>
                </a:solidFill>
                <a:latin typeface="Calibri" pitchFamily="34" charset="0"/>
                <a:ea typeface="Calibri" pitchFamily="34" charset="-122"/>
                <a:cs typeface="Calibri" pitchFamily="34" charset="-120"/>
              </a:rPr>
              <a:t>Distributor</a:t>
            </a:r>
            <a:endParaRPr lang="en-US" sz="1600" dirty="0"/>
          </a:p>
        </p:txBody>
      </p:sp>
      <p:sp>
        <p:nvSpPr>
          <p:cNvPr id="17" name="Text 15"/>
          <p:cNvSpPr/>
          <p:nvPr/>
        </p:nvSpPr>
        <p:spPr>
          <a:xfrm>
            <a:off x="2944368" y="3950208"/>
            <a:ext cx="4023360" cy="457200"/>
          </a:xfrm>
          <a:prstGeom prst="rect">
            <a:avLst/>
          </a:prstGeom>
          <a:noFill/>
          <a:ln/>
        </p:spPr>
        <p:txBody>
          <a:bodyPr wrap="square" lIns="0" tIns="0" rIns="0" bIns="0" rtlCol="0" anchor="ctr"/>
          <a:lstStyle/>
          <a:p>
            <a:pPr indent="0" marL="0">
              <a:lnSpc>
                <a:spcPts val="1700"/>
              </a:lnSpc>
              <a:buNone/>
            </a:pPr>
            <a:r>
              <a:rPr lang="en-US" sz="1250" dirty="0">
                <a:solidFill>
                  <a:srgbClr val="EAF2FF"/>
                </a:solidFill>
                <a:latin typeface="Calibri" pitchFamily="34" charset="0"/>
                <a:ea typeface="Calibri" pitchFamily="34" charset="-122"/>
                <a:cs typeface="Calibri" pitchFamily="34" charset="-120"/>
              </a:rPr>
              <a:t>Hold a trade or a territory and sign under it</a:t>
            </a:r>
            <a:endParaRPr lang="en-US" sz="1250" dirty="0"/>
          </a:p>
        </p:txBody>
      </p:sp>
      <p:sp>
        <p:nvSpPr>
          <p:cNvPr id="18" name="Text 16"/>
          <p:cNvSpPr/>
          <p:nvPr/>
        </p:nvSpPr>
        <p:spPr>
          <a:xfrm>
            <a:off x="7150608" y="3950208"/>
            <a:ext cx="4379976" cy="457200"/>
          </a:xfrm>
          <a:prstGeom prst="rect">
            <a:avLst/>
          </a:prstGeom>
          <a:noFill/>
          <a:ln/>
        </p:spPr>
        <p:txBody>
          <a:bodyPr wrap="square" lIns="0" tIns="0" rIns="0" bIns="0" rtlCol="0" anchor="ctr"/>
          <a:lstStyle/>
          <a:p>
            <a:pPr indent="0" marL="0">
              <a:lnSpc>
                <a:spcPts val="1700"/>
              </a:lnSpc>
              <a:buNone/>
            </a:pPr>
            <a:r>
              <a:rPr lang="en-US" sz="1250" dirty="0">
                <a:solidFill>
                  <a:srgbClr val="8FA3C0"/>
                </a:solidFill>
                <a:latin typeface="Calibri" pitchFamily="34" charset="0"/>
                <a:ea typeface="Calibri" pitchFamily="34" charset="-122"/>
                <a:cs typeface="Calibri" pitchFamily="34" charset="-120"/>
              </a:rPr>
              <a:t>Override on the whole footprint, not one deal</a:t>
            </a:r>
            <a:endParaRPr lang="en-US" sz="1250" dirty="0"/>
          </a:p>
        </p:txBody>
      </p:sp>
      <p:sp>
        <p:nvSpPr>
          <p:cNvPr id="19" name="Shape 17"/>
          <p:cNvSpPr/>
          <p:nvPr/>
        </p:nvSpPr>
        <p:spPr>
          <a:xfrm>
            <a:off x="658368" y="4572000"/>
            <a:ext cx="10872216" cy="7315"/>
          </a:xfrm>
          <a:prstGeom prst="rect">
            <a:avLst/>
          </a:prstGeom>
          <a:solidFill>
            <a:srgbClr val="1E2E4A"/>
          </a:solidFill>
          <a:ln w="12700">
            <a:solidFill>
              <a:srgbClr val="333333"/>
            </a:solidFill>
            <a:prstDash val="solid"/>
          </a:ln>
        </p:spPr>
      </p:sp>
      <p:sp>
        <p:nvSpPr>
          <p:cNvPr id="20" name="Text 18"/>
          <p:cNvSpPr/>
          <p:nvPr/>
        </p:nvSpPr>
        <p:spPr>
          <a:xfrm>
            <a:off x="658368" y="4700016"/>
            <a:ext cx="2103120" cy="329184"/>
          </a:xfrm>
          <a:prstGeom prst="rect">
            <a:avLst/>
          </a:prstGeom>
          <a:noFill/>
          <a:ln/>
        </p:spPr>
        <p:txBody>
          <a:bodyPr wrap="square" lIns="0" tIns="0" rIns="0" bIns="0" rtlCol="0" anchor="ctr"/>
          <a:lstStyle/>
          <a:p>
            <a:pPr indent="0" marL="0">
              <a:buNone/>
            </a:pPr>
            <a:r>
              <a:rPr lang="en-US" sz="1600" b="1" dirty="0">
                <a:solidFill>
                  <a:srgbClr val="00D4FF"/>
                </a:solidFill>
                <a:latin typeface="Calibri" pitchFamily="34" charset="0"/>
                <a:ea typeface="Calibri" pitchFamily="34" charset="-122"/>
                <a:cs typeface="Calibri" pitchFamily="34" charset="-120"/>
              </a:rPr>
              <a:t>White label</a:t>
            </a:r>
            <a:endParaRPr lang="en-US" sz="1600" dirty="0"/>
          </a:p>
        </p:txBody>
      </p:sp>
      <p:sp>
        <p:nvSpPr>
          <p:cNvPr id="21" name="Text 19"/>
          <p:cNvSpPr/>
          <p:nvPr/>
        </p:nvSpPr>
        <p:spPr>
          <a:xfrm>
            <a:off x="2944368" y="4700016"/>
            <a:ext cx="4023360" cy="457200"/>
          </a:xfrm>
          <a:prstGeom prst="rect">
            <a:avLst/>
          </a:prstGeom>
          <a:noFill/>
          <a:ln/>
        </p:spPr>
        <p:txBody>
          <a:bodyPr wrap="square" lIns="0" tIns="0" rIns="0" bIns="0" rtlCol="0" anchor="ctr"/>
          <a:lstStyle/>
          <a:p>
            <a:pPr indent="0" marL="0">
              <a:lnSpc>
                <a:spcPts val="1700"/>
              </a:lnSpc>
              <a:buNone/>
            </a:pPr>
            <a:r>
              <a:rPr lang="en-US" sz="1250" dirty="0">
                <a:solidFill>
                  <a:srgbClr val="EAF2FF"/>
                </a:solidFill>
                <a:latin typeface="Calibri" pitchFamily="34" charset="0"/>
                <a:ea typeface="Calibri" pitchFamily="34" charset="-122"/>
                <a:cs typeface="Calibri" pitchFamily="34" charset="-120"/>
              </a:rPr>
              <a:t>Run the platform under your own brand</a:t>
            </a:r>
            <a:endParaRPr lang="en-US" sz="1250" dirty="0"/>
          </a:p>
        </p:txBody>
      </p:sp>
      <p:sp>
        <p:nvSpPr>
          <p:cNvPr id="22" name="Text 20"/>
          <p:cNvSpPr/>
          <p:nvPr/>
        </p:nvSpPr>
        <p:spPr>
          <a:xfrm>
            <a:off x="7150608" y="4700016"/>
            <a:ext cx="4379976" cy="457200"/>
          </a:xfrm>
          <a:prstGeom prst="rect">
            <a:avLst/>
          </a:prstGeom>
          <a:noFill/>
          <a:ln/>
        </p:spPr>
        <p:txBody>
          <a:bodyPr wrap="square" lIns="0" tIns="0" rIns="0" bIns="0" rtlCol="0" anchor="ctr"/>
          <a:lstStyle/>
          <a:p>
            <a:pPr indent="0" marL="0">
              <a:lnSpc>
                <a:spcPts val="1700"/>
              </a:lnSpc>
              <a:buNone/>
            </a:pPr>
            <a:r>
              <a:rPr lang="en-US" sz="1250" dirty="0">
                <a:solidFill>
                  <a:srgbClr val="8FA3C0"/>
                </a:solidFill>
                <a:latin typeface="Calibri" pitchFamily="34" charset="0"/>
                <a:ea typeface="Calibri" pitchFamily="34" charset="-122"/>
                <a:cs typeface="Calibri" pitchFamily="34" charset="-120"/>
              </a:rPr>
              <a:t>An asset with its own name, book, and value</a:t>
            </a:r>
            <a:endParaRPr lang="en-US" sz="1250" dirty="0"/>
          </a:p>
        </p:txBody>
      </p:sp>
      <p:sp>
        <p:nvSpPr>
          <p:cNvPr id="23" name="Shape 21"/>
          <p:cNvSpPr/>
          <p:nvPr/>
        </p:nvSpPr>
        <p:spPr>
          <a:xfrm>
            <a:off x="658368" y="5138928"/>
            <a:ext cx="10872216" cy="1060704"/>
          </a:xfrm>
          <a:prstGeom prst="roundRect">
            <a:avLst>
              <a:gd name="adj" fmla="val 10345"/>
            </a:avLst>
          </a:prstGeom>
          <a:solidFill>
            <a:srgbClr val="101A33"/>
          </a:solidFill>
          <a:ln w="12700">
            <a:solidFill>
              <a:srgbClr val="1E2E4A"/>
            </a:solidFill>
            <a:prstDash val="solid"/>
          </a:ln>
        </p:spPr>
      </p:sp>
      <p:sp>
        <p:nvSpPr>
          <p:cNvPr id="24" name="Text 22"/>
          <p:cNvSpPr/>
          <p:nvPr/>
        </p:nvSpPr>
        <p:spPr>
          <a:xfrm>
            <a:off x="950976" y="5285232"/>
            <a:ext cx="10287000" cy="274320"/>
          </a:xfrm>
          <a:prstGeom prst="rect">
            <a:avLst/>
          </a:prstGeom>
          <a:noFill/>
          <a:ln/>
        </p:spPr>
        <p:txBody>
          <a:bodyPr wrap="square" lIns="0" tIns="0" rIns="0" bIns="0" rtlCol="0" anchor="ctr"/>
          <a:lstStyle/>
          <a:p>
            <a:pPr indent="0" marL="0">
              <a:buNone/>
            </a:pPr>
            <a:r>
              <a:rPr lang="en-US" sz="1400" b="1" dirty="0">
                <a:solidFill>
                  <a:srgbClr val="FFC24B"/>
                </a:solidFill>
                <a:latin typeface="Calibri" pitchFamily="34" charset="0"/>
                <a:ea typeface="Calibri" pitchFamily="34" charset="-122"/>
                <a:cs typeface="Calibri" pitchFamily="34" charset="-120"/>
              </a:rPr>
              <a:t>The part most people miss</a:t>
            </a:r>
            <a:endParaRPr lang="en-US" sz="1400" dirty="0"/>
          </a:p>
        </p:txBody>
      </p:sp>
      <p:sp>
        <p:nvSpPr>
          <p:cNvPr id="25" name="Text 23"/>
          <p:cNvSpPr/>
          <p:nvPr/>
        </p:nvSpPr>
        <p:spPr>
          <a:xfrm>
            <a:off x="950976" y="5577840"/>
            <a:ext cx="10287000" cy="512064"/>
          </a:xfrm>
          <a:prstGeom prst="rect">
            <a:avLst/>
          </a:prstGeom>
          <a:noFill/>
          <a:ln/>
        </p:spPr>
        <p:txBody>
          <a:bodyPr wrap="square" lIns="0" tIns="0" rIns="0" bIns="0" rtlCol="0" anchor="ctr"/>
          <a:lstStyle/>
          <a:p>
            <a:pPr indent="0" marL="0">
              <a:lnSpc>
                <a:spcPts val="1800"/>
              </a:lnSpc>
              <a:buNone/>
            </a:pPr>
            <a:r>
              <a:rPr lang="en-US" sz="1300" dirty="0">
                <a:solidFill>
                  <a:srgbClr val="8FA3C0"/>
                </a:solidFill>
                <a:latin typeface="Calibri" pitchFamily="34" charset="0"/>
                <a:ea typeface="Calibri" pitchFamily="34" charset="-122"/>
                <a:cs typeface="Calibri" pitchFamily="34" charset="-120"/>
              </a:rPr>
              <a:t>A restoration company with a shoebox of invoices is worth its trucks. One with four years of clean call and claim data is worth a multiple. The record is the asset.</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70C18"/>
        </a:solidFill>
      </p:bgPr>
    </p:bg>
    <p:spTree>
      <p:nvGrpSpPr>
        <p:cNvPr id="1" name=""/>
        <p:cNvGrpSpPr/>
        <p:nvPr/>
      </p:nvGrpSpPr>
      <p:grpSpPr>
        <a:xfrm>
          <a:off x="0" y="0"/>
          <a:ext cx="0" cy="0"/>
          <a:chOff x="0" y="0"/>
          <a:chExt cx="0" cy="0"/>
        </a:xfrm>
      </p:grpSpPr>
      <p:sp>
        <p:nvSpPr>
          <p:cNvPr id="2" name="Text 0"/>
          <p:cNvSpPr/>
          <p:nvPr/>
        </p:nvSpPr>
        <p:spPr>
          <a:xfrm>
            <a:off x="658368" y="457200"/>
            <a:ext cx="10872216" cy="256032"/>
          </a:xfrm>
          <a:prstGeom prst="rect">
            <a:avLst/>
          </a:prstGeom>
          <a:noFill/>
          <a:ln/>
        </p:spPr>
        <p:txBody>
          <a:bodyPr wrap="square" lIns="0" tIns="0" rIns="0" bIns="0" rtlCol="0" anchor="ctr"/>
          <a:lstStyle/>
          <a:p>
            <a:pPr indent="0" marL="0">
              <a:buNone/>
            </a:pPr>
            <a:r>
              <a:rPr lang="en-US" sz="1100" b="1" spc="240" kern="0" dirty="0">
                <a:solidFill>
                  <a:srgbClr val="00D4FF"/>
                </a:solidFill>
                <a:latin typeface="Calibri" pitchFamily="34" charset="0"/>
                <a:ea typeface="Calibri" pitchFamily="34" charset="-122"/>
                <a:cs typeface="Calibri" pitchFamily="34" charset="-120"/>
              </a:rPr>
              <a:t>GO-LIVE</a:t>
            </a:r>
            <a:endParaRPr lang="en-US" sz="1100" dirty="0"/>
          </a:p>
        </p:txBody>
      </p:sp>
      <p:sp>
        <p:nvSpPr>
          <p:cNvPr id="3" name="Text 1"/>
          <p:cNvSpPr/>
          <p:nvPr/>
        </p:nvSpPr>
        <p:spPr>
          <a:xfrm>
            <a:off x="658368" y="786384"/>
            <a:ext cx="10872216" cy="822960"/>
          </a:xfrm>
          <a:prstGeom prst="rect">
            <a:avLst/>
          </a:prstGeom>
          <a:noFill/>
          <a:ln/>
        </p:spPr>
        <p:txBody>
          <a:bodyPr wrap="square" lIns="0" tIns="0" rIns="0" bIns="0" rtlCol="0" anchor="ctr"/>
          <a:lstStyle/>
          <a:p>
            <a:pPr indent="0" marL="0">
              <a:buNone/>
            </a:pPr>
            <a:r>
              <a:rPr lang="en-US" sz="3400" b="1" spc="-40" kern="0" dirty="0">
                <a:solidFill>
                  <a:srgbClr val="EAF2FF"/>
                </a:solidFill>
                <a:latin typeface="Calibri" pitchFamily="34" charset="0"/>
                <a:ea typeface="Calibri" pitchFamily="34" charset="-122"/>
                <a:cs typeface="Calibri" pitchFamily="34" charset="-120"/>
              </a:rPr>
              <a:t>The campaign, ready to run</a:t>
            </a:r>
            <a:endParaRPr lang="en-US" sz="3400" dirty="0"/>
          </a:p>
        </p:txBody>
      </p:sp>
      <p:sp>
        <p:nvSpPr>
          <p:cNvPr id="4" name="Text 2"/>
          <p:cNvSpPr/>
          <p:nvPr/>
        </p:nvSpPr>
        <p:spPr>
          <a:xfrm>
            <a:off x="658368" y="1627632"/>
            <a:ext cx="9350106" cy="658368"/>
          </a:xfrm>
          <a:prstGeom prst="rect">
            <a:avLst/>
          </a:prstGeom>
          <a:noFill/>
          <a:ln/>
        </p:spPr>
        <p:txBody>
          <a:bodyPr wrap="square" lIns="0" tIns="0" rIns="0" bIns="0" rtlCol="0" anchor="ctr"/>
          <a:lstStyle/>
          <a:p>
            <a:pPr indent="0" marL="0">
              <a:lnSpc>
                <a:spcPts val="2200"/>
              </a:lnSpc>
              <a:buNone/>
            </a:pPr>
            <a:r>
              <a:rPr lang="en-US" sz="1500" dirty="0">
                <a:solidFill>
                  <a:srgbClr val="8FA3C0"/>
                </a:solidFill>
                <a:latin typeface="Calibri" pitchFamily="34" charset="0"/>
                <a:ea typeface="Calibri" pitchFamily="34" charset="-122"/>
                <a:cs typeface="Calibri" pitchFamily="34" charset="-120"/>
              </a:rPr>
              <a:t>Both markets are loaded, scripted, and compliance-checked.</a:t>
            </a:r>
            <a:endParaRPr lang="en-US" sz="1500" dirty="0"/>
          </a:p>
        </p:txBody>
      </p:sp>
      <p:sp>
        <p:nvSpPr>
          <p:cNvPr id="5" name="Shape 3"/>
          <p:cNvSpPr/>
          <p:nvPr/>
        </p:nvSpPr>
        <p:spPr>
          <a:xfrm>
            <a:off x="658368" y="2377440"/>
            <a:ext cx="5285232" cy="1975104"/>
          </a:xfrm>
          <a:prstGeom prst="roundRect">
            <a:avLst>
              <a:gd name="adj" fmla="val 5556"/>
            </a:avLst>
          </a:prstGeom>
          <a:solidFill>
            <a:srgbClr val="101A33"/>
          </a:solidFill>
          <a:ln w="12700">
            <a:solidFill>
              <a:srgbClr val="1E2E4A"/>
            </a:solidFill>
            <a:prstDash val="solid"/>
          </a:ln>
        </p:spPr>
      </p:sp>
      <p:sp>
        <p:nvSpPr>
          <p:cNvPr id="6" name="Shape 4"/>
          <p:cNvSpPr/>
          <p:nvPr/>
        </p:nvSpPr>
        <p:spPr>
          <a:xfrm>
            <a:off x="932688" y="2633472"/>
            <a:ext cx="1883664" cy="237744"/>
          </a:xfrm>
          <a:prstGeom prst="roundRect">
            <a:avLst>
              <a:gd name="adj" fmla="val 23077"/>
            </a:avLst>
          </a:prstGeom>
          <a:solidFill>
            <a:srgbClr val="00D4FF"/>
          </a:solidFill>
          <a:ln w="12700">
            <a:solidFill>
              <a:srgbClr val="00D4FF"/>
            </a:solidFill>
            <a:prstDash val="solid"/>
          </a:ln>
        </p:spPr>
      </p:sp>
      <p:sp>
        <p:nvSpPr>
          <p:cNvPr id="7" name="Text 5"/>
          <p:cNvSpPr/>
          <p:nvPr/>
        </p:nvSpPr>
        <p:spPr>
          <a:xfrm>
            <a:off x="932688" y="2633472"/>
            <a:ext cx="1883664" cy="237744"/>
          </a:xfrm>
          <a:prstGeom prst="rect">
            <a:avLst/>
          </a:prstGeom>
          <a:noFill/>
          <a:ln/>
        </p:spPr>
        <p:txBody>
          <a:bodyPr wrap="square" lIns="0" tIns="0" rIns="0" bIns="0" rtlCol="0" anchor="ctr"/>
          <a:lstStyle/>
          <a:p>
            <a:pPr algn="ctr" indent="0" marL="0">
              <a:buNone/>
            </a:pPr>
            <a:r>
              <a:rPr lang="en-US" sz="900" b="1" spc="140" kern="0" dirty="0">
                <a:solidFill>
                  <a:srgbClr val="04121C"/>
                </a:solidFill>
                <a:latin typeface="Calibri" pitchFamily="34" charset="0"/>
                <a:ea typeface="Calibri" pitchFamily="34" charset="-122"/>
                <a:cs typeface="Calibri" pitchFamily="34" charset="-120"/>
              </a:rPr>
              <a:t>ORLANDO / CENTRAL FL</a:t>
            </a:r>
            <a:endParaRPr lang="en-US" sz="900" dirty="0"/>
          </a:p>
        </p:txBody>
      </p:sp>
      <p:sp>
        <p:nvSpPr>
          <p:cNvPr id="8" name="Text 6"/>
          <p:cNvSpPr/>
          <p:nvPr/>
        </p:nvSpPr>
        <p:spPr>
          <a:xfrm>
            <a:off x="932688" y="2999232"/>
            <a:ext cx="4736592" cy="384048"/>
          </a:xfrm>
          <a:prstGeom prst="rect">
            <a:avLst/>
          </a:prstGeom>
          <a:noFill/>
          <a:ln/>
        </p:spPr>
        <p:txBody>
          <a:bodyPr wrap="square" lIns="0" tIns="0" rIns="0" bIns="0" rtlCol="0" anchor="ctr"/>
          <a:lstStyle/>
          <a:p>
            <a:pPr indent="0" marL="0">
              <a:buNone/>
            </a:pPr>
            <a:r>
              <a:rPr lang="en-US" sz="2200" b="1" spc="60" kern="0" dirty="0">
                <a:solidFill>
                  <a:srgbClr val="EAF2FF"/>
                </a:solidFill>
                <a:latin typeface="Calibri" pitchFamily="34" charset="0"/>
                <a:ea typeface="Calibri" pitchFamily="34" charset="-122"/>
                <a:cs typeface="Calibri" pitchFamily="34" charset="-120"/>
              </a:rPr>
              <a:t>407 · 689 · 321 · 352</a:t>
            </a:r>
            <a:endParaRPr lang="en-US" sz="2200" dirty="0"/>
          </a:p>
        </p:txBody>
      </p:sp>
      <p:sp>
        <p:nvSpPr>
          <p:cNvPr id="9" name="Text 7"/>
          <p:cNvSpPr/>
          <p:nvPr/>
        </p:nvSpPr>
        <p:spPr>
          <a:xfrm>
            <a:off x="932688" y="3438144"/>
            <a:ext cx="4736592" cy="822960"/>
          </a:xfrm>
          <a:prstGeom prst="rect">
            <a:avLst/>
          </a:prstGeom>
          <a:noFill/>
          <a:ln/>
        </p:spPr>
        <p:txBody>
          <a:bodyPr wrap="square" lIns="0" tIns="0" rIns="0" bIns="0" rtlCol="0" anchor="ctr"/>
          <a:lstStyle/>
          <a:p>
            <a:pPr indent="0" marL="0">
              <a:lnSpc>
                <a:spcPts val="1550"/>
              </a:lnSpc>
              <a:buNone/>
            </a:pPr>
            <a:r>
              <a:rPr lang="en-US" sz="1150" dirty="0">
                <a:solidFill>
                  <a:srgbClr val="8FA3C0"/>
                </a:solidFill>
                <a:latin typeface="Calibri" pitchFamily="34" charset="0"/>
                <a:ea typeface="Calibri" pitchFamily="34" charset="-122"/>
                <a:cs typeface="Calibri" pitchFamily="34" charset="-120"/>
              </a:rPr>
              <a:t>Orlando, Winter Park, Kissimmee, Clermont, Sanford, Altamonte, Oviedo. Priority order: apartment and multifamily managers, condo and HOA firms, standalone PM firms, then roofers and GCs for overflow.</a:t>
            </a:r>
            <a:endParaRPr lang="en-US" sz="1150" dirty="0"/>
          </a:p>
        </p:txBody>
      </p:sp>
      <p:sp>
        <p:nvSpPr>
          <p:cNvPr id="10" name="Shape 8"/>
          <p:cNvSpPr/>
          <p:nvPr/>
        </p:nvSpPr>
        <p:spPr>
          <a:xfrm>
            <a:off x="6236208" y="2377440"/>
            <a:ext cx="5285232" cy="1975104"/>
          </a:xfrm>
          <a:prstGeom prst="roundRect">
            <a:avLst>
              <a:gd name="adj" fmla="val 5556"/>
            </a:avLst>
          </a:prstGeom>
          <a:solidFill>
            <a:srgbClr val="101A33"/>
          </a:solidFill>
          <a:ln w="12700">
            <a:solidFill>
              <a:srgbClr val="1E2E4A"/>
            </a:solidFill>
            <a:prstDash val="solid"/>
          </a:ln>
        </p:spPr>
      </p:sp>
      <p:sp>
        <p:nvSpPr>
          <p:cNvPr id="11" name="Shape 9"/>
          <p:cNvSpPr/>
          <p:nvPr/>
        </p:nvSpPr>
        <p:spPr>
          <a:xfrm>
            <a:off x="6510528" y="2633472"/>
            <a:ext cx="1320394" cy="237744"/>
          </a:xfrm>
          <a:prstGeom prst="roundRect">
            <a:avLst>
              <a:gd name="adj" fmla="val 23077"/>
            </a:avLst>
          </a:prstGeom>
          <a:solidFill>
            <a:srgbClr val="FFC24B"/>
          </a:solidFill>
          <a:ln w="12700">
            <a:solidFill>
              <a:srgbClr val="FFC24B"/>
            </a:solidFill>
            <a:prstDash val="solid"/>
          </a:ln>
        </p:spPr>
      </p:sp>
      <p:sp>
        <p:nvSpPr>
          <p:cNvPr id="12" name="Text 10"/>
          <p:cNvSpPr/>
          <p:nvPr/>
        </p:nvSpPr>
        <p:spPr>
          <a:xfrm>
            <a:off x="6510528" y="2633472"/>
            <a:ext cx="1320394" cy="237744"/>
          </a:xfrm>
          <a:prstGeom prst="rect">
            <a:avLst/>
          </a:prstGeom>
          <a:noFill/>
          <a:ln/>
        </p:spPr>
        <p:txBody>
          <a:bodyPr wrap="square" lIns="0" tIns="0" rIns="0" bIns="0" rtlCol="0" anchor="ctr"/>
          <a:lstStyle/>
          <a:p>
            <a:pPr algn="ctr" indent="0" marL="0">
              <a:buNone/>
            </a:pPr>
            <a:r>
              <a:rPr lang="en-US" sz="900" b="1" spc="140" kern="0" dirty="0">
                <a:solidFill>
                  <a:srgbClr val="04121C"/>
                </a:solidFill>
                <a:latin typeface="Calibri" pitchFamily="34" charset="0"/>
                <a:ea typeface="Calibri" pitchFamily="34" charset="-122"/>
                <a:cs typeface="Calibri" pitchFamily="34" charset="-120"/>
              </a:rPr>
              <a:t>SOUTH FLORIDA</a:t>
            </a:r>
            <a:endParaRPr lang="en-US" sz="900" dirty="0"/>
          </a:p>
        </p:txBody>
      </p:sp>
      <p:sp>
        <p:nvSpPr>
          <p:cNvPr id="13" name="Text 11"/>
          <p:cNvSpPr/>
          <p:nvPr/>
        </p:nvSpPr>
        <p:spPr>
          <a:xfrm>
            <a:off x="6510528" y="2999232"/>
            <a:ext cx="4736592" cy="384048"/>
          </a:xfrm>
          <a:prstGeom prst="rect">
            <a:avLst/>
          </a:prstGeom>
          <a:noFill/>
          <a:ln/>
        </p:spPr>
        <p:txBody>
          <a:bodyPr wrap="square" lIns="0" tIns="0" rIns="0" bIns="0" rtlCol="0" anchor="ctr"/>
          <a:lstStyle/>
          <a:p>
            <a:pPr indent="0" marL="0">
              <a:buNone/>
            </a:pPr>
            <a:r>
              <a:rPr lang="en-US" sz="2200" b="1" spc="60" kern="0" dirty="0">
                <a:solidFill>
                  <a:srgbClr val="EAF2FF"/>
                </a:solidFill>
                <a:latin typeface="Calibri" pitchFamily="34" charset="0"/>
                <a:ea typeface="Calibri" pitchFamily="34" charset="-122"/>
                <a:cs typeface="Calibri" pitchFamily="34" charset="-120"/>
              </a:rPr>
              <a:t>954 · 754 · 305 · 786</a:t>
            </a:r>
            <a:endParaRPr lang="en-US" sz="2200" dirty="0"/>
          </a:p>
        </p:txBody>
      </p:sp>
      <p:sp>
        <p:nvSpPr>
          <p:cNvPr id="14" name="Text 12"/>
          <p:cNvSpPr/>
          <p:nvPr/>
        </p:nvSpPr>
        <p:spPr>
          <a:xfrm>
            <a:off x="6510528" y="3438144"/>
            <a:ext cx="4736592" cy="822960"/>
          </a:xfrm>
          <a:prstGeom prst="rect">
            <a:avLst/>
          </a:prstGeom>
          <a:noFill/>
          <a:ln/>
        </p:spPr>
        <p:txBody>
          <a:bodyPr wrap="square" lIns="0" tIns="0" rIns="0" bIns="0" rtlCol="0" anchor="ctr"/>
          <a:lstStyle/>
          <a:p>
            <a:pPr indent="0" marL="0">
              <a:lnSpc>
                <a:spcPts val="1550"/>
              </a:lnSpc>
              <a:buNone/>
            </a:pPr>
            <a:r>
              <a:rPr lang="en-US" sz="1150" dirty="0">
                <a:solidFill>
                  <a:srgbClr val="8FA3C0"/>
                </a:solidFill>
                <a:latin typeface="Calibri" pitchFamily="34" charset="0"/>
                <a:ea typeface="Calibri" pitchFamily="34" charset="-122"/>
                <a:cs typeface="Calibri" pitchFamily="34" charset="-120"/>
              </a:rPr>
              <a:t>Severe tier first — Miramar, Pembroke Pines, Weston, Doral, Hialeah — then Miami Lakes, Miami Gardens, North Miami, Sunrise, Plantation, out to Coral Springs.</a:t>
            </a:r>
            <a:endParaRPr lang="en-US" sz="1150" dirty="0"/>
          </a:p>
        </p:txBody>
      </p:sp>
      <p:sp>
        <p:nvSpPr>
          <p:cNvPr id="15" name="Shape 13"/>
          <p:cNvSpPr/>
          <p:nvPr/>
        </p:nvSpPr>
        <p:spPr>
          <a:xfrm>
            <a:off x="658368" y="4626864"/>
            <a:ext cx="5285232" cy="1463040"/>
          </a:xfrm>
          <a:prstGeom prst="roundRect">
            <a:avLst>
              <a:gd name="adj" fmla="val 7500"/>
            </a:avLst>
          </a:prstGeom>
          <a:solidFill>
            <a:srgbClr val="16233F"/>
          </a:solidFill>
          <a:ln w="12700">
            <a:solidFill>
              <a:srgbClr val="1E2E4A"/>
            </a:solidFill>
            <a:prstDash val="solid"/>
          </a:ln>
        </p:spPr>
      </p:sp>
      <p:sp>
        <p:nvSpPr>
          <p:cNvPr id="16" name="Text 14"/>
          <p:cNvSpPr/>
          <p:nvPr/>
        </p:nvSpPr>
        <p:spPr>
          <a:xfrm>
            <a:off x="932688" y="4773168"/>
            <a:ext cx="4736592" cy="274320"/>
          </a:xfrm>
          <a:prstGeom prst="rect">
            <a:avLst/>
          </a:prstGeom>
          <a:noFill/>
          <a:ln/>
        </p:spPr>
        <p:txBody>
          <a:bodyPr wrap="square" lIns="0" tIns="0" rIns="0" bIns="0" rtlCol="0" anchor="ctr"/>
          <a:lstStyle/>
          <a:p>
            <a:pPr indent="0" marL="0">
              <a:buNone/>
            </a:pPr>
            <a:r>
              <a:rPr lang="en-US" sz="1400" b="1" dirty="0">
                <a:solidFill>
                  <a:srgbClr val="00FF88"/>
                </a:solidFill>
                <a:latin typeface="Calibri" pitchFamily="34" charset="0"/>
                <a:ea typeface="Calibri" pitchFamily="34" charset="-122"/>
                <a:cs typeface="Calibri" pitchFamily="34" charset="-120"/>
              </a:rPr>
              <a:t>The pitch, in one breath</a:t>
            </a:r>
            <a:endParaRPr lang="en-US" sz="1400" dirty="0"/>
          </a:p>
        </p:txBody>
      </p:sp>
      <p:sp>
        <p:nvSpPr>
          <p:cNvPr id="17" name="Text 15"/>
          <p:cNvSpPr/>
          <p:nvPr/>
        </p:nvSpPr>
        <p:spPr>
          <a:xfrm>
            <a:off x="932688" y="5065776"/>
            <a:ext cx="4736592" cy="896112"/>
          </a:xfrm>
          <a:prstGeom prst="rect">
            <a:avLst/>
          </a:prstGeom>
          <a:noFill/>
          <a:ln/>
        </p:spPr>
        <p:txBody>
          <a:bodyPr wrap="square" lIns="0" tIns="0" rIns="0" bIns="0" rtlCol="0" anchor="ctr"/>
          <a:lstStyle/>
          <a:p>
            <a:pPr indent="0" marL="0">
              <a:lnSpc>
                <a:spcPts val="1550"/>
              </a:lnSpc>
              <a:buNone/>
            </a:pPr>
            <a:r>
              <a:rPr lang="en-US" sz="1150" dirty="0">
                <a:solidFill>
                  <a:srgbClr val="8FA3C0"/>
                </a:solidFill>
                <a:latin typeface="Calibri" pitchFamily="34" charset="0"/>
                <a:ea typeface="Calibri" pitchFamily="34" charset="-122"/>
                <a:cs typeface="Calibri" pitchFamily="34" charset="-120"/>
              </a:rPr>
              <a:t>Certified water, mold, and roofing restoration. The ask is a free assessment at the manager’s highest-occupancy property this week, with a written scope for ownership or the board.</a:t>
            </a:r>
            <a:endParaRPr lang="en-US" sz="1150" dirty="0"/>
          </a:p>
        </p:txBody>
      </p:sp>
      <p:sp>
        <p:nvSpPr>
          <p:cNvPr id="18" name="Shape 16"/>
          <p:cNvSpPr/>
          <p:nvPr/>
        </p:nvSpPr>
        <p:spPr>
          <a:xfrm>
            <a:off x="6236208" y="4626864"/>
            <a:ext cx="5285232" cy="1463040"/>
          </a:xfrm>
          <a:prstGeom prst="roundRect">
            <a:avLst>
              <a:gd name="adj" fmla="val 7500"/>
            </a:avLst>
          </a:prstGeom>
          <a:solidFill>
            <a:srgbClr val="16233F"/>
          </a:solidFill>
          <a:ln w="12700">
            <a:solidFill>
              <a:srgbClr val="1E2E4A"/>
            </a:solidFill>
            <a:prstDash val="solid"/>
          </a:ln>
        </p:spPr>
      </p:sp>
      <p:sp>
        <p:nvSpPr>
          <p:cNvPr id="19" name="Text 17"/>
          <p:cNvSpPr/>
          <p:nvPr/>
        </p:nvSpPr>
        <p:spPr>
          <a:xfrm>
            <a:off x="6510528" y="4773168"/>
            <a:ext cx="4736592" cy="274320"/>
          </a:xfrm>
          <a:prstGeom prst="rect">
            <a:avLst/>
          </a:prstGeom>
          <a:noFill/>
          <a:ln/>
        </p:spPr>
        <p:txBody>
          <a:bodyPr wrap="square" lIns="0" tIns="0" rIns="0" bIns="0" rtlCol="0" anchor="ctr"/>
          <a:lstStyle/>
          <a:p>
            <a:pPr indent="0" marL="0">
              <a:buNone/>
            </a:pPr>
            <a:r>
              <a:rPr lang="en-US" sz="1400" b="1" dirty="0">
                <a:solidFill>
                  <a:srgbClr val="FF7A45"/>
                </a:solidFill>
                <a:latin typeface="Calibri" pitchFamily="34" charset="0"/>
                <a:ea typeface="Calibri" pitchFamily="34" charset="-122"/>
                <a:cs typeface="Calibri" pitchFamily="34" charset="-120"/>
              </a:rPr>
              <a:t>Compliance is not optional</a:t>
            </a:r>
            <a:endParaRPr lang="en-US" sz="1400" dirty="0"/>
          </a:p>
        </p:txBody>
      </p:sp>
      <p:sp>
        <p:nvSpPr>
          <p:cNvPr id="20" name="Text 18"/>
          <p:cNvSpPr/>
          <p:nvPr/>
        </p:nvSpPr>
        <p:spPr>
          <a:xfrm>
            <a:off x="6510528" y="5065776"/>
            <a:ext cx="4736592" cy="896112"/>
          </a:xfrm>
          <a:prstGeom prst="rect">
            <a:avLst/>
          </a:prstGeom>
          <a:noFill/>
          <a:ln/>
        </p:spPr>
        <p:txBody>
          <a:bodyPr wrap="square" lIns="0" tIns="0" rIns="0" bIns="0" rtlCol="0" anchor="ctr"/>
          <a:lstStyle/>
          <a:p>
            <a:pPr indent="0" marL="0">
              <a:lnSpc>
                <a:spcPts val="1550"/>
              </a:lnSpc>
              <a:buNone/>
            </a:pPr>
            <a:r>
              <a:rPr lang="en-US" sz="1150" dirty="0">
                <a:solidFill>
                  <a:srgbClr val="8FA3C0"/>
                </a:solidFill>
                <a:latin typeface="Calibri" pitchFamily="34" charset="0"/>
                <a:ea typeface="Calibri" pitchFamily="34" charset="-122"/>
                <a:cs typeface="Calibri" pitchFamily="34" charset="-120"/>
              </a:rPr>
              <a:t>Business-to-business only, manually dialed, published lines, recorded with disclosure. Residential comes in through the sites — never cold-called. Do-not-call scrubbed before every list.</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70C18"/>
        </a:solidFill>
      </p:bgPr>
    </p:bg>
    <p:spTree>
      <p:nvGrpSpPr>
        <p:cNvPr id="1" name=""/>
        <p:cNvGrpSpPr/>
        <p:nvPr/>
      </p:nvGrpSpPr>
      <p:grpSpPr>
        <a:xfrm>
          <a:off x="0" y="0"/>
          <a:ext cx="0" cy="0"/>
          <a:chOff x="0" y="0"/>
          <a:chExt cx="0" cy="0"/>
        </a:xfrm>
      </p:grpSpPr>
      <p:sp>
        <p:nvSpPr>
          <p:cNvPr id="2" name="Text 0"/>
          <p:cNvSpPr/>
          <p:nvPr/>
        </p:nvSpPr>
        <p:spPr>
          <a:xfrm>
            <a:off x="658368" y="457200"/>
            <a:ext cx="10872216" cy="256032"/>
          </a:xfrm>
          <a:prstGeom prst="rect">
            <a:avLst/>
          </a:prstGeom>
          <a:noFill/>
          <a:ln/>
        </p:spPr>
        <p:txBody>
          <a:bodyPr wrap="square" lIns="0" tIns="0" rIns="0" bIns="0" rtlCol="0" anchor="ctr"/>
          <a:lstStyle/>
          <a:p>
            <a:pPr indent="0" marL="0">
              <a:buNone/>
            </a:pPr>
            <a:r>
              <a:rPr lang="en-US" sz="1100" b="1" spc="240" kern="0" dirty="0">
                <a:solidFill>
                  <a:srgbClr val="00D4FF"/>
                </a:solidFill>
                <a:latin typeface="Calibri" pitchFamily="34" charset="0"/>
                <a:ea typeface="Calibri" pitchFamily="34" charset="-122"/>
                <a:cs typeface="Calibri" pitchFamily="34" charset="-120"/>
              </a:rPr>
              <a:t>THE PROPERTIES</a:t>
            </a:r>
            <a:endParaRPr lang="en-US" sz="1100" dirty="0"/>
          </a:p>
        </p:txBody>
      </p:sp>
      <p:sp>
        <p:nvSpPr>
          <p:cNvPr id="3" name="Text 1"/>
          <p:cNvSpPr/>
          <p:nvPr/>
        </p:nvSpPr>
        <p:spPr>
          <a:xfrm>
            <a:off x="658368" y="786384"/>
            <a:ext cx="10872216" cy="822960"/>
          </a:xfrm>
          <a:prstGeom prst="rect">
            <a:avLst/>
          </a:prstGeom>
          <a:noFill/>
          <a:ln/>
        </p:spPr>
        <p:txBody>
          <a:bodyPr wrap="square" lIns="0" tIns="0" rIns="0" bIns="0" rtlCol="0" anchor="ctr"/>
          <a:lstStyle/>
          <a:p>
            <a:pPr indent="0" marL="0">
              <a:buNone/>
            </a:pPr>
            <a:r>
              <a:rPr lang="en-US" sz="3400" b="1" spc="-40" kern="0" dirty="0">
                <a:solidFill>
                  <a:srgbClr val="EAF2FF"/>
                </a:solidFill>
                <a:latin typeface="Calibri" pitchFamily="34" charset="0"/>
                <a:ea typeface="Calibri" pitchFamily="34" charset="-122"/>
                <a:cs typeface="Calibri" pitchFamily="34" charset="-120"/>
              </a:rPr>
              <a:t>Live links</a:t>
            </a:r>
            <a:endParaRPr lang="en-US" sz="3400" dirty="0"/>
          </a:p>
        </p:txBody>
      </p:sp>
      <p:sp>
        <p:nvSpPr>
          <p:cNvPr id="4" name="Text 2"/>
          <p:cNvSpPr/>
          <p:nvPr/>
        </p:nvSpPr>
        <p:spPr>
          <a:xfrm>
            <a:off x="658368" y="1627632"/>
            <a:ext cx="9350106" cy="658368"/>
          </a:xfrm>
          <a:prstGeom prst="rect">
            <a:avLst/>
          </a:prstGeom>
          <a:noFill/>
          <a:ln/>
        </p:spPr>
        <p:txBody>
          <a:bodyPr wrap="square" lIns="0" tIns="0" rIns="0" bIns="0" rtlCol="0" anchor="ctr"/>
          <a:lstStyle/>
          <a:p>
            <a:pPr indent="0" marL="0">
              <a:lnSpc>
                <a:spcPts val="2200"/>
              </a:lnSpc>
              <a:buNone/>
            </a:pPr>
            <a:r>
              <a:rPr lang="en-US" sz="1500" dirty="0">
                <a:solidFill>
                  <a:srgbClr val="8FA3C0"/>
                </a:solidFill>
                <a:latin typeface="Calibri" pitchFamily="34" charset="0"/>
                <a:ea typeface="Calibri" pitchFamily="34" charset="-122"/>
                <a:cs typeface="Calibri" pitchFamily="34" charset="-120"/>
              </a:rPr>
              <a:t>All four sites plus the supporting material, on one domain.</a:t>
            </a:r>
            <a:endParaRPr lang="en-US" sz="1500" dirty="0"/>
          </a:p>
        </p:txBody>
      </p:sp>
      <p:sp>
        <p:nvSpPr>
          <p:cNvPr id="5" name="Shape 3"/>
          <p:cNvSpPr/>
          <p:nvPr/>
        </p:nvSpPr>
        <p:spPr>
          <a:xfrm>
            <a:off x="658368" y="2286000"/>
            <a:ext cx="5285232" cy="731520"/>
          </a:xfrm>
          <a:prstGeom prst="roundRect">
            <a:avLst>
              <a:gd name="adj" fmla="val 15000"/>
            </a:avLst>
          </a:prstGeom>
          <a:solidFill>
            <a:srgbClr val="101A33"/>
          </a:solidFill>
          <a:ln w="12700">
            <a:solidFill>
              <a:srgbClr val="1E2E4A"/>
            </a:solidFill>
            <a:prstDash val="solid"/>
          </a:ln>
        </p:spPr>
      </p:sp>
      <p:sp>
        <p:nvSpPr>
          <p:cNvPr id="6" name="Shape 4"/>
          <p:cNvSpPr/>
          <p:nvPr/>
        </p:nvSpPr>
        <p:spPr>
          <a:xfrm>
            <a:off x="932688" y="2569464"/>
            <a:ext cx="164592" cy="164592"/>
          </a:xfrm>
          <a:prstGeom prst="ellipse">
            <a:avLst/>
          </a:prstGeom>
          <a:solidFill>
            <a:srgbClr val="00D4FF"/>
          </a:solidFill>
          <a:ln w="12700">
            <a:solidFill>
              <a:srgbClr val="333333"/>
            </a:solidFill>
            <a:prstDash val="solid"/>
          </a:ln>
        </p:spPr>
      </p:sp>
      <p:sp>
        <p:nvSpPr>
          <p:cNvPr id="7" name="Text 5"/>
          <p:cNvSpPr/>
          <p:nvPr/>
        </p:nvSpPr>
        <p:spPr>
          <a:xfrm>
            <a:off x="1243584" y="2395728"/>
            <a:ext cx="4462272" cy="274320"/>
          </a:xfrm>
          <a:prstGeom prst="rect">
            <a:avLst/>
          </a:prstGeom>
          <a:noFill/>
          <a:ln/>
        </p:spPr>
        <p:txBody>
          <a:bodyPr wrap="square" lIns="0" tIns="0" rIns="0" bIns="0" rtlCol="0" anchor="ctr"/>
          <a:lstStyle/>
          <a:p>
            <a:pPr indent="0" marL="0">
              <a:buNone/>
            </a:pPr>
            <a:r>
              <a:rPr lang="en-US" sz="1400" b="1" dirty="0">
                <a:solidFill>
                  <a:srgbClr val="EAF2FF"/>
                </a:solidFill>
                <a:latin typeface="Calibri" pitchFamily="34" charset="0"/>
                <a:ea typeface="Calibri" pitchFamily="34" charset="-122"/>
                <a:cs typeface="Calibri" pitchFamily="34" charset="-120"/>
              </a:rPr>
              <a:t>Restoration Royalties</a:t>
            </a:r>
            <a:endParaRPr lang="en-US" sz="1400" dirty="0"/>
          </a:p>
        </p:txBody>
      </p:sp>
      <p:sp>
        <p:nvSpPr>
          <p:cNvPr id="8" name="Text 6">
            <a:hlinkClick r:id="rId1" tooltip=""/>
          </p:cNvPr>
          <p:cNvSpPr/>
          <p:nvPr/>
        </p:nvSpPr>
        <p:spPr>
          <a:xfrm>
            <a:off x="1243584" y="2670048"/>
            <a:ext cx="4462272" cy="237744"/>
          </a:xfrm>
          <a:prstGeom prst="rect">
            <a:avLst/>
          </a:prstGeom>
          <a:noFill/>
          <a:ln/>
        </p:spPr>
        <p:txBody>
          <a:bodyPr wrap="square" lIns="0" tIns="0" rIns="0" bIns="0" rtlCol="0" anchor="ctr"/>
          <a:lstStyle/>
          <a:p>
            <a:pPr indent="0" marL="0">
              <a:buNone/>
            </a:pPr>
            <a:r>
              <a:rPr lang="en-US" sz="1100" u="sng" dirty="0">
                <a:solidFill>
                  <a:srgbClr val="00D4FF"/>
                </a:solidFill>
                <a:latin typeface="Consolas" pitchFamily="34" charset="0"/>
                <a:ea typeface="Consolas" pitchFamily="34" charset="-122"/>
                <a:cs typeface="Consolas" pitchFamily="34" charset="-120"/>
                <a:hlinkClick r:id="rId1" invalidUrl="" action="" tgtFrame="" tooltip="" history="1" highlightClick="0" endSnd="0">
                  <a:extLst>
                    <a:ext uri="{A12FA001-AC4F-418D-AE19-62706E023703}">
                      <ahyp:hlinkClr xmlns:ahyp="http://schemas.microsoft.com/office/drawing/2018/hyperlinkcolor" val="tx"/>
                    </a:ext>
                  </a:extLst>
                </a:hlinkClick>
              </a:rPr>
              <a:t>restorationroyalties.com/rr/</a:t>
            </a:r>
            <a:endParaRPr lang="en-US" sz="1100" dirty="0"/>
          </a:p>
        </p:txBody>
      </p:sp>
      <p:sp>
        <p:nvSpPr>
          <p:cNvPr id="9" name="Shape 7"/>
          <p:cNvSpPr/>
          <p:nvPr/>
        </p:nvSpPr>
        <p:spPr>
          <a:xfrm>
            <a:off x="6236208" y="2286000"/>
            <a:ext cx="5285232" cy="731520"/>
          </a:xfrm>
          <a:prstGeom prst="roundRect">
            <a:avLst>
              <a:gd name="adj" fmla="val 15000"/>
            </a:avLst>
          </a:prstGeom>
          <a:solidFill>
            <a:srgbClr val="101A33"/>
          </a:solidFill>
          <a:ln w="12700">
            <a:solidFill>
              <a:srgbClr val="1E2E4A"/>
            </a:solidFill>
            <a:prstDash val="solid"/>
          </a:ln>
        </p:spPr>
      </p:sp>
      <p:sp>
        <p:nvSpPr>
          <p:cNvPr id="10" name="Shape 8"/>
          <p:cNvSpPr/>
          <p:nvPr/>
        </p:nvSpPr>
        <p:spPr>
          <a:xfrm>
            <a:off x="6510528" y="2569464"/>
            <a:ext cx="164592" cy="164592"/>
          </a:xfrm>
          <a:prstGeom prst="ellipse">
            <a:avLst/>
          </a:prstGeom>
          <a:solidFill>
            <a:srgbClr val="FFC24B"/>
          </a:solidFill>
          <a:ln w="12700">
            <a:solidFill>
              <a:srgbClr val="333333"/>
            </a:solidFill>
            <a:prstDash val="solid"/>
          </a:ln>
        </p:spPr>
      </p:sp>
      <p:sp>
        <p:nvSpPr>
          <p:cNvPr id="11" name="Text 9"/>
          <p:cNvSpPr/>
          <p:nvPr/>
        </p:nvSpPr>
        <p:spPr>
          <a:xfrm>
            <a:off x="6821424" y="2395728"/>
            <a:ext cx="4462272" cy="274320"/>
          </a:xfrm>
          <a:prstGeom prst="rect">
            <a:avLst/>
          </a:prstGeom>
          <a:noFill/>
          <a:ln/>
        </p:spPr>
        <p:txBody>
          <a:bodyPr wrap="square" lIns="0" tIns="0" rIns="0" bIns="0" rtlCol="0" anchor="ctr"/>
          <a:lstStyle/>
          <a:p>
            <a:pPr indent="0" marL="0">
              <a:buNone/>
            </a:pPr>
            <a:r>
              <a:rPr lang="en-US" sz="1400" b="1" dirty="0">
                <a:solidFill>
                  <a:srgbClr val="EAF2FF"/>
                </a:solidFill>
                <a:latin typeface="Calibri" pitchFamily="34" charset="0"/>
                <a:ea typeface="Calibri" pitchFamily="34" charset="-122"/>
                <a:cs typeface="Calibri" pitchFamily="34" charset="-120"/>
              </a:rPr>
              <a:t>FAST Adjusting</a:t>
            </a:r>
            <a:endParaRPr lang="en-US" sz="1400" dirty="0"/>
          </a:p>
        </p:txBody>
      </p:sp>
      <p:sp>
        <p:nvSpPr>
          <p:cNvPr id="12" name="Text 10">
            <a:hlinkClick r:id="rId2" tooltip=""/>
          </p:cNvPr>
          <p:cNvSpPr/>
          <p:nvPr/>
        </p:nvSpPr>
        <p:spPr>
          <a:xfrm>
            <a:off x="6821424" y="2670048"/>
            <a:ext cx="4462272" cy="237744"/>
          </a:xfrm>
          <a:prstGeom prst="rect">
            <a:avLst/>
          </a:prstGeom>
          <a:noFill/>
          <a:ln/>
        </p:spPr>
        <p:txBody>
          <a:bodyPr wrap="square" lIns="0" tIns="0" rIns="0" bIns="0" rtlCol="0" anchor="ctr"/>
          <a:lstStyle/>
          <a:p>
            <a:pPr indent="0" marL="0">
              <a:buNone/>
            </a:pPr>
            <a:r>
              <a:rPr lang="en-US" sz="1100" u="sng" dirty="0">
                <a:solidFill>
                  <a:srgbClr val="FFC24B"/>
                </a:solidFill>
                <a:latin typeface="Consolas" pitchFamily="34" charset="0"/>
                <a:ea typeface="Consolas" pitchFamily="34" charset="-122"/>
                <a:cs typeface="Consolas" pitchFamily="34" charset="-120"/>
                <a:hlinkClick r:id="rId2" invalidUrl="" action="" tgtFrame="" tooltip="" history="1" highlightClick="0" endSnd="0">
                  <a:extLst>
                    <a:ext uri="{A12FA001-AC4F-418D-AE19-62706E023703}">
                      <ahyp:hlinkClr xmlns:ahyp="http://schemas.microsoft.com/office/drawing/2018/hyperlinkcolor" val="tx"/>
                    </a:ext>
                  </a:extLst>
                </a:hlinkClick>
              </a:rPr>
              <a:t>restorationroyalties.com/fast/</a:t>
            </a:r>
            <a:endParaRPr lang="en-US" sz="1100" dirty="0"/>
          </a:p>
        </p:txBody>
      </p:sp>
      <p:sp>
        <p:nvSpPr>
          <p:cNvPr id="13" name="Shape 11"/>
          <p:cNvSpPr/>
          <p:nvPr/>
        </p:nvSpPr>
        <p:spPr>
          <a:xfrm>
            <a:off x="658368" y="3182112"/>
            <a:ext cx="5285232" cy="731520"/>
          </a:xfrm>
          <a:prstGeom prst="roundRect">
            <a:avLst>
              <a:gd name="adj" fmla="val 15000"/>
            </a:avLst>
          </a:prstGeom>
          <a:solidFill>
            <a:srgbClr val="101A33"/>
          </a:solidFill>
          <a:ln w="12700">
            <a:solidFill>
              <a:srgbClr val="1E2E4A"/>
            </a:solidFill>
            <a:prstDash val="solid"/>
          </a:ln>
        </p:spPr>
      </p:sp>
      <p:sp>
        <p:nvSpPr>
          <p:cNvPr id="14" name="Shape 12"/>
          <p:cNvSpPr/>
          <p:nvPr/>
        </p:nvSpPr>
        <p:spPr>
          <a:xfrm>
            <a:off x="932688" y="3465576"/>
            <a:ext cx="164592" cy="164592"/>
          </a:xfrm>
          <a:prstGeom prst="ellipse">
            <a:avLst/>
          </a:prstGeom>
          <a:solidFill>
            <a:srgbClr val="FF7A45"/>
          </a:solidFill>
          <a:ln w="12700">
            <a:solidFill>
              <a:srgbClr val="333333"/>
            </a:solidFill>
            <a:prstDash val="solid"/>
          </a:ln>
        </p:spPr>
      </p:sp>
      <p:sp>
        <p:nvSpPr>
          <p:cNvPr id="15" name="Text 13"/>
          <p:cNvSpPr/>
          <p:nvPr/>
        </p:nvSpPr>
        <p:spPr>
          <a:xfrm>
            <a:off x="1243584" y="3291840"/>
            <a:ext cx="4462272" cy="274320"/>
          </a:xfrm>
          <a:prstGeom prst="rect">
            <a:avLst/>
          </a:prstGeom>
          <a:noFill/>
          <a:ln/>
        </p:spPr>
        <p:txBody>
          <a:bodyPr wrap="square" lIns="0" tIns="0" rIns="0" bIns="0" rtlCol="0" anchor="ctr"/>
          <a:lstStyle/>
          <a:p>
            <a:pPr indent="0" marL="0">
              <a:buNone/>
            </a:pPr>
            <a:r>
              <a:rPr lang="en-US" sz="1400" b="1" dirty="0">
                <a:solidFill>
                  <a:srgbClr val="EAF2FF"/>
                </a:solidFill>
                <a:latin typeface="Calibri" pitchFamily="34" charset="0"/>
                <a:ea typeface="Calibri" pitchFamily="34" charset="-122"/>
                <a:cs typeface="Calibri" pitchFamily="34" charset="-120"/>
              </a:rPr>
              <a:t>YES Electrical</a:t>
            </a:r>
            <a:endParaRPr lang="en-US" sz="1400" dirty="0"/>
          </a:p>
        </p:txBody>
      </p:sp>
      <p:sp>
        <p:nvSpPr>
          <p:cNvPr id="16" name="Text 14">
            <a:hlinkClick r:id="rId3" tooltip=""/>
          </p:cNvPr>
          <p:cNvSpPr/>
          <p:nvPr/>
        </p:nvSpPr>
        <p:spPr>
          <a:xfrm>
            <a:off x="1243584" y="3566160"/>
            <a:ext cx="4462272" cy="237744"/>
          </a:xfrm>
          <a:prstGeom prst="rect">
            <a:avLst/>
          </a:prstGeom>
          <a:noFill/>
          <a:ln/>
        </p:spPr>
        <p:txBody>
          <a:bodyPr wrap="square" lIns="0" tIns="0" rIns="0" bIns="0" rtlCol="0" anchor="ctr"/>
          <a:lstStyle/>
          <a:p>
            <a:pPr indent="0" marL="0">
              <a:buNone/>
            </a:pPr>
            <a:r>
              <a:rPr lang="en-US" sz="1100" u="sng" dirty="0">
                <a:solidFill>
                  <a:srgbClr val="FF7A45"/>
                </a:solidFill>
                <a:latin typeface="Consolas" pitchFamily="34" charset="0"/>
                <a:ea typeface="Consolas" pitchFamily="34" charset="-122"/>
                <a:cs typeface="Consolas" pitchFamily="34" charset="-120"/>
                <a:hlinkClick r:id="rId3" invalidUrl="" action="" tgtFrame="" tooltip="" history="1" highlightClick="0" endSnd="0">
                  <a:extLst>
                    <a:ext uri="{A12FA001-AC4F-418D-AE19-62706E023703}">
                      <ahyp:hlinkClr xmlns:ahyp="http://schemas.microsoft.com/office/drawing/2018/hyperlinkcolor" val="tx"/>
                    </a:ext>
                  </a:extLst>
                </a:hlinkClick>
              </a:rPr>
              <a:t>restorationroyalties.com/yes/</a:t>
            </a:r>
            <a:endParaRPr lang="en-US" sz="1100" dirty="0"/>
          </a:p>
        </p:txBody>
      </p:sp>
      <p:sp>
        <p:nvSpPr>
          <p:cNvPr id="17" name="Shape 15"/>
          <p:cNvSpPr/>
          <p:nvPr/>
        </p:nvSpPr>
        <p:spPr>
          <a:xfrm>
            <a:off x="6236208" y="3182112"/>
            <a:ext cx="5285232" cy="731520"/>
          </a:xfrm>
          <a:prstGeom prst="roundRect">
            <a:avLst>
              <a:gd name="adj" fmla="val 15000"/>
            </a:avLst>
          </a:prstGeom>
          <a:solidFill>
            <a:srgbClr val="101A33"/>
          </a:solidFill>
          <a:ln w="12700">
            <a:solidFill>
              <a:srgbClr val="1E2E4A"/>
            </a:solidFill>
            <a:prstDash val="solid"/>
          </a:ln>
        </p:spPr>
      </p:sp>
      <p:sp>
        <p:nvSpPr>
          <p:cNvPr id="18" name="Shape 16"/>
          <p:cNvSpPr/>
          <p:nvPr/>
        </p:nvSpPr>
        <p:spPr>
          <a:xfrm>
            <a:off x="6510528" y="3465576"/>
            <a:ext cx="164592" cy="164592"/>
          </a:xfrm>
          <a:prstGeom prst="ellipse">
            <a:avLst/>
          </a:prstGeom>
          <a:solidFill>
            <a:srgbClr val="00FF88"/>
          </a:solidFill>
          <a:ln w="12700">
            <a:solidFill>
              <a:srgbClr val="333333"/>
            </a:solidFill>
            <a:prstDash val="solid"/>
          </a:ln>
        </p:spPr>
      </p:sp>
      <p:sp>
        <p:nvSpPr>
          <p:cNvPr id="19" name="Text 17"/>
          <p:cNvSpPr/>
          <p:nvPr/>
        </p:nvSpPr>
        <p:spPr>
          <a:xfrm>
            <a:off x="6821424" y="3291840"/>
            <a:ext cx="4462272" cy="274320"/>
          </a:xfrm>
          <a:prstGeom prst="rect">
            <a:avLst/>
          </a:prstGeom>
          <a:noFill/>
          <a:ln/>
        </p:spPr>
        <p:txBody>
          <a:bodyPr wrap="square" lIns="0" tIns="0" rIns="0" bIns="0" rtlCol="0" anchor="ctr"/>
          <a:lstStyle/>
          <a:p>
            <a:pPr indent="0" marL="0">
              <a:buNone/>
            </a:pPr>
            <a:r>
              <a:rPr lang="en-US" sz="1400" b="1" dirty="0">
                <a:solidFill>
                  <a:srgbClr val="EAF2FF"/>
                </a:solidFill>
                <a:latin typeface="Calibri" pitchFamily="34" charset="0"/>
                <a:ea typeface="Calibri" pitchFamily="34" charset="-122"/>
                <a:cs typeface="Calibri" pitchFamily="34" charset="-120"/>
              </a:rPr>
              <a:t>TELVERGE platform</a:t>
            </a:r>
            <a:endParaRPr lang="en-US" sz="1400" dirty="0"/>
          </a:p>
        </p:txBody>
      </p:sp>
      <p:sp>
        <p:nvSpPr>
          <p:cNvPr id="20" name="Text 18">
            <a:hlinkClick r:id="rId4" tooltip=""/>
          </p:cNvPr>
          <p:cNvSpPr/>
          <p:nvPr/>
        </p:nvSpPr>
        <p:spPr>
          <a:xfrm>
            <a:off x="6821424" y="3566160"/>
            <a:ext cx="4462272" cy="237744"/>
          </a:xfrm>
          <a:prstGeom prst="rect">
            <a:avLst/>
          </a:prstGeom>
          <a:noFill/>
          <a:ln/>
        </p:spPr>
        <p:txBody>
          <a:bodyPr wrap="square" lIns="0" tIns="0" rIns="0" bIns="0" rtlCol="0" anchor="ctr"/>
          <a:lstStyle/>
          <a:p>
            <a:pPr indent="0" marL="0">
              <a:buNone/>
            </a:pPr>
            <a:r>
              <a:rPr lang="en-US" sz="1100" u="sng" dirty="0">
                <a:solidFill>
                  <a:srgbClr val="00FF88"/>
                </a:solidFill>
                <a:latin typeface="Consolas" pitchFamily="34" charset="0"/>
                <a:ea typeface="Consolas" pitchFamily="34" charset="-122"/>
                <a:cs typeface="Consolas"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restorationroyalties.com/telverge/</a:t>
            </a:r>
            <a:endParaRPr lang="en-US" sz="1100" dirty="0"/>
          </a:p>
        </p:txBody>
      </p:sp>
      <p:sp>
        <p:nvSpPr>
          <p:cNvPr id="21" name="Shape 19"/>
          <p:cNvSpPr/>
          <p:nvPr/>
        </p:nvSpPr>
        <p:spPr>
          <a:xfrm>
            <a:off x="658368" y="4078224"/>
            <a:ext cx="5285232" cy="731520"/>
          </a:xfrm>
          <a:prstGeom prst="roundRect">
            <a:avLst>
              <a:gd name="adj" fmla="val 15000"/>
            </a:avLst>
          </a:prstGeom>
          <a:solidFill>
            <a:srgbClr val="101A33"/>
          </a:solidFill>
          <a:ln w="12700">
            <a:solidFill>
              <a:srgbClr val="1E2E4A"/>
            </a:solidFill>
            <a:prstDash val="solid"/>
          </a:ln>
        </p:spPr>
      </p:sp>
      <p:sp>
        <p:nvSpPr>
          <p:cNvPr id="22" name="Shape 20"/>
          <p:cNvSpPr/>
          <p:nvPr/>
        </p:nvSpPr>
        <p:spPr>
          <a:xfrm>
            <a:off x="932688" y="4361688"/>
            <a:ext cx="164592" cy="164592"/>
          </a:xfrm>
          <a:prstGeom prst="ellipse">
            <a:avLst/>
          </a:prstGeom>
          <a:solidFill>
            <a:srgbClr val="00D4FF"/>
          </a:solidFill>
          <a:ln w="12700">
            <a:solidFill>
              <a:srgbClr val="333333"/>
            </a:solidFill>
            <a:prstDash val="solid"/>
          </a:ln>
        </p:spPr>
      </p:sp>
      <p:sp>
        <p:nvSpPr>
          <p:cNvPr id="23" name="Text 21"/>
          <p:cNvSpPr/>
          <p:nvPr/>
        </p:nvSpPr>
        <p:spPr>
          <a:xfrm>
            <a:off x="1243584" y="4187952"/>
            <a:ext cx="4462272" cy="274320"/>
          </a:xfrm>
          <a:prstGeom prst="rect">
            <a:avLst/>
          </a:prstGeom>
          <a:noFill/>
          <a:ln/>
        </p:spPr>
        <p:txBody>
          <a:bodyPr wrap="square" lIns="0" tIns="0" rIns="0" bIns="0" rtlCol="0" anchor="ctr"/>
          <a:lstStyle/>
          <a:p>
            <a:pPr indent="0" marL="0">
              <a:buNone/>
            </a:pPr>
            <a:r>
              <a:rPr lang="en-US" sz="1400" b="1" dirty="0">
                <a:solidFill>
                  <a:srgbClr val="EAF2FF"/>
                </a:solidFill>
                <a:latin typeface="Calibri" pitchFamily="34" charset="0"/>
                <a:ea typeface="Calibri" pitchFamily="34" charset="-122"/>
                <a:cs typeface="Calibri" pitchFamily="34" charset="-120"/>
              </a:rPr>
              <a:t>Sub-Network Hub</a:t>
            </a:r>
            <a:endParaRPr lang="en-US" sz="1400" dirty="0"/>
          </a:p>
        </p:txBody>
      </p:sp>
      <p:sp>
        <p:nvSpPr>
          <p:cNvPr id="24" name="Text 22">
            <a:hlinkClick r:id="rId5" tooltip=""/>
          </p:cNvPr>
          <p:cNvSpPr/>
          <p:nvPr/>
        </p:nvSpPr>
        <p:spPr>
          <a:xfrm>
            <a:off x="1243584" y="4462272"/>
            <a:ext cx="4462272" cy="237744"/>
          </a:xfrm>
          <a:prstGeom prst="rect">
            <a:avLst/>
          </a:prstGeom>
          <a:noFill/>
          <a:ln/>
        </p:spPr>
        <p:txBody>
          <a:bodyPr wrap="square" lIns="0" tIns="0" rIns="0" bIns="0" rtlCol="0" anchor="ctr"/>
          <a:lstStyle/>
          <a:p>
            <a:pPr indent="0" marL="0">
              <a:buNone/>
            </a:pPr>
            <a:r>
              <a:rPr lang="en-US" sz="1100" u="sng" dirty="0">
                <a:solidFill>
                  <a:srgbClr val="00D4FF"/>
                </a:solidFill>
                <a:latin typeface="Consolas" pitchFamily="34" charset="0"/>
                <a:ea typeface="Consolas" pitchFamily="34" charset="-122"/>
                <a:cs typeface="Consolas" pitchFamily="34" charset="-120"/>
                <a:hlinkClick r:id="rId5" invalidUrl="" action="" tgtFrame="" tooltip="" history="1" highlightClick="0" endSnd="0">
                  <a:extLst>
                    <a:ext uri="{A12FA001-AC4F-418D-AE19-62706E023703}">
                      <ahyp:hlinkClr xmlns:ahyp="http://schemas.microsoft.com/office/drawing/2018/hyperlinkcolor" val="tx"/>
                    </a:ext>
                  </a:extLst>
                </a:hlinkClick>
              </a:rPr>
              <a:t>restorationroyalties.com/hub/</a:t>
            </a:r>
            <a:endParaRPr lang="en-US" sz="1100" dirty="0"/>
          </a:p>
        </p:txBody>
      </p:sp>
      <p:sp>
        <p:nvSpPr>
          <p:cNvPr id="25" name="Shape 23"/>
          <p:cNvSpPr/>
          <p:nvPr/>
        </p:nvSpPr>
        <p:spPr>
          <a:xfrm>
            <a:off x="6236208" y="4078224"/>
            <a:ext cx="5285232" cy="731520"/>
          </a:xfrm>
          <a:prstGeom prst="roundRect">
            <a:avLst>
              <a:gd name="adj" fmla="val 15000"/>
            </a:avLst>
          </a:prstGeom>
          <a:solidFill>
            <a:srgbClr val="101A33"/>
          </a:solidFill>
          <a:ln w="12700">
            <a:solidFill>
              <a:srgbClr val="1E2E4A"/>
            </a:solidFill>
            <a:prstDash val="solid"/>
          </a:ln>
        </p:spPr>
      </p:sp>
      <p:sp>
        <p:nvSpPr>
          <p:cNvPr id="26" name="Shape 24"/>
          <p:cNvSpPr/>
          <p:nvPr/>
        </p:nvSpPr>
        <p:spPr>
          <a:xfrm>
            <a:off x="6510528" y="4361688"/>
            <a:ext cx="164592" cy="164592"/>
          </a:xfrm>
          <a:prstGeom prst="ellipse">
            <a:avLst/>
          </a:prstGeom>
          <a:solidFill>
            <a:srgbClr val="FFC24B"/>
          </a:solidFill>
          <a:ln w="12700">
            <a:solidFill>
              <a:srgbClr val="333333"/>
            </a:solidFill>
            <a:prstDash val="solid"/>
          </a:ln>
        </p:spPr>
      </p:sp>
      <p:sp>
        <p:nvSpPr>
          <p:cNvPr id="27" name="Text 25"/>
          <p:cNvSpPr/>
          <p:nvPr/>
        </p:nvSpPr>
        <p:spPr>
          <a:xfrm>
            <a:off x="6821424" y="4187952"/>
            <a:ext cx="4462272" cy="274320"/>
          </a:xfrm>
          <a:prstGeom prst="rect">
            <a:avLst/>
          </a:prstGeom>
          <a:noFill/>
          <a:ln/>
        </p:spPr>
        <p:txBody>
          <a:bodyPr wrap="square" lIns="0" tIns="0" rIns="0" bIns="0" rtlCol="0" anchor="ctr"/>
          <a:lstStyle/>
          <a:p>
            <a:pPr indent="0" marL="0">
              <a:buNone/>
            </a:pPr>
            <a:r>
              <a:rPr lang="en-US" sz="1400" b="1" dirty="0">
                <a:solidFill>
                  <a:srgbClr val="EAF2FF"/>
                </a:solidFill>
                <a:latin typeface="Calibri" pitchFamily="34" charset="0"/>
                <a:ea typeface="Calibri" pitchFamily="34" charset="-122"/>
                <a:cs typeface="Calibri" pitchFamily="34" charset="-120"/>
              </a:rPr>
              <a:t>Restoration Royalties — vanity edition</a:t>
            </a:r>
            <a:endParaRPr lang="en-US" sz="1400" dirty="0"/>
          </a:p>
        </p:txBody>
      </p:sp>
      <p:sp>
        <p:nvSpPr>
          <p:cNvPr id="28" name="Text 26">
            <a:hlinkClick r:id="rId6" tooltip=""/>
          </p:cNvPr>
          <p:cNvSpPr/>
          <p:nvPr/>
        </p:nvSpPr>
        <p:spPr>
          <a:xfrm>
            <a:off x="6821424" y="4462272"/>
            <a:ext cx="4462272" cy="237744"/>
          </a:xfrm>
          <a:prstGeom prst="rect">
            <a:avLst/>
          </a:prstGeom>
          <a:noFill/>
          <a:ln/>
        </p:spPr>
        <p:txBody>
          <a:bodyPr wrap="square" lIns="0" tIns="0" rIns="0" bIns="0" rtlCol="0" anchor="ctr"/>
          <a:lstStyle/>
          <a:p>
            <a:pPr indent="0" marL="0">
              <a:buNone/>
            </a:pPr>
            <a:r>
              <a:rPr lang="en-US" sz="1100" u="sng" dirty="0">
                <a:solidFill>
                  <a:srgbClr val="FFC24B"/>
                </a:solidFill>
                <a:latin typeface="Consolas" pitchFamily="34" charset="0"/>
                <a:ea typeface="Consolas" pitchFamily="34" charset="-122"/>
                <a:cs typeface="Consolas" pitchFamily="34" charset="-120"/>
                <a:hlinkClick r:id="rId6" invalidUrl="" action="" tgtFrame="" tooltip="" history="1" highlightClick="0" endSnd="0">
                  <a:extLst>
                    <a:ext uri="{A12FA001-AC4F-418D-AE19-62706E023703}">
                      <ahyp:hlinkClr xmlns:ahyp="http://schemas.microsoft.com/office/drawing/2018/hyperlinkcolor" val="tx"/>
                    </a:ext>
                  </a:extLst>
                </a:hlinkClick>
              </a:rPr>
              <a:t>restorationroyalties.com/vanity/</a:t>
            </a:r>
            <a:endParaRPr lang="en-US" sz="1100" dirty="0"/>
          </a:p>
        </p:txBody>
      </p:sp>
      <p:sp>
        <p:nvSpPr>
          <p:cNvPr id="29" name="Shape 27"/>
          <p:cNvSpPr/>
          <p:nvPr/>
        </p:nvSpPr>
        <p:spPr>
          <a:xfrm>
            <a:off x="658368" y="4974336"/>
            <a:ext cx="5285232" cy="731520"/>
          </a:xfrm>
          <a:prstGeom prst="roundRect">
            <a:avLst>
              <a:gd name="adj" fmla="val 15000"/>
            </a:avLst>
          </a:prstGeom>
          <a:solidFill>
            <a:srgbClr val="101A33"/>
          </a:solidFill>
          <a:ln w="12700">
            <a:solidFill>
              <a:srgbClr val="1E2E4A"/>
            </a:solidFill>
            <a:prstDash val="solid"/>
          </a:ln>
        </p:spPr>
      </p:sp>
      <p:sp>
        <p:nvSpPr>
          <p:cNvPr id="30" name="Shape 28"/>
          <p:cNvSpPr/>
          <p:nvPr/>
        </p:nvSpPr>
        <p:spPr>
          <a:xfrm>
            <a:off x="932688" y="5257800"/>
            <a:ext cx="164592" cy="164592"/>
          </a:xfrm>
          <a:prstGeom prst="ellipse">
            <a:avLst/>
          </a:prstGeom>
          <a:solidFill>
            <a:srgbClr val="00D4FF"/>
          </a:solidFill>
          <a:ln w="12700">
            <a:solidFill>
              <a:srgbClr val="333333"/>
            </a:solidFill>
            <a:prstDash val="solid"/>
          </a:ln>
        </p:spPr>
      </p:sp>
      <p:sp>
        <p:nvSpPr>
          <p:cNvPr id="31" name="Text 29"/>
          <p:cNvSpPr/>
          <p:nvPr/>
        </p:nvSpPr>
        <p:spPr>
          <a:xfrm>
            <a:off x="1243584" y="5084064"/>
            <a:ext cx="4462272" cy="274320"/>
          </a:xfrm>
          <a:prstGeom prst="rect">
            <a:avLst/>
          </a:prstGeom>
          <a:noFill/>
          <a:ln/>
        </p:spPr>
        <p:txBody>
          <a:bodyPr wrap="square" lIns="0" tIns="0" rIns="0" bIns="0" rtlCol="0" anchor="ctr"/>
          <a:lstStyle/>
          <a:p>
            <a:pPr indent="0" marL="0">
              <a:buNone/>
            </a:pPr>
            <a:r>
              <a:rPr lang="en-US" sz="1400" b="1" dirty="0">
                <a:solidFill>
                  <a:srgbClr val="EAF2FF"/>
                </a:solidFill>
                <a:latin typeface="Calibri" pitchFamily="34" charset="0"/>
                <a:ea typeface="Calibri" pitchFamily="34" charset="-122"/>
                <a:cs typeface="Calibri" pitchFamily="34" charset="-120"/>
              </a:rPr>
              <a:t>Showroom / inventory</a:t>
            </a:r>
            <a:endParaRPr lang="en-US" sz="1400" dirty="0"/>
          </a:p>
        </p:txBody>
      </p:sp>
      <p:sp>
        <p:nvSpPr>
          <p:cNvPr id="32" name="Text 30">
            <a:hlinkClick r:id="rId7" tooltip=""/>
          </p:cNvPr>
          <p:cNvSpPr/>
          <p:nvPr/>
        </p:nvSpPr>
        <p:spPr>
          <a:xfrm>
            <a:off x="1243584" y="5358384"/>
            <a:ext cx="4462272" cy="237744"/>
          </a:xfrm>
          <a:prstGeom prst="rect">
            <a:avLst/>
          </a:prstGeom>
          <a:noFill/>
          <a:ln/>
        </p:spPr>
        <p:txBody>
          <a:bodyPr wrap="square" lIns="0" tIns="0" rIns="0" bIns="0" rtlCol="0" anchor="ctr"/>
          <a:lstStyle/>
          <a:p>
            <a:pPr indent="0" marL="0">
              <a:buNone/>
            </a:pPr>
            <a:r>
              <a:rPr lang="en-US" sz="1100" u="sng" dirty="0">
                <a:solidFill>
                  <a:srgbClr val="00D4FF"/>
                </a:solidFill>
                <a:latin typeface="Consolas" pitchFamily="34" charset="0"/>
                <a:ea typeface="Consolas" pitchFamily="34" charset="-122"/>
                <a:cs typeface="Consolas" pitchFamily="34" charset="-120"/>
                <a:hlinkClick r:id="rId7" invalidUrl="" action="" tgtFrame="" tooltip="" history="1" highlightClick="0" endSnd="0">
                  <a:extLst>
                    <a:ext uri="{A12FA001-AC4F-418D-AE19-62706E023703}">
                      <ahyp:hlinkClr xmlns:ahyp="http://schemas.microsoft.com/office/drawing/2018/hyperlinkcolor" val="tx"/>
                    </a:ext>
                  </a:extLst>
                </a:hlinkClick>
              </a:rPr>
              <a:t>restorationroyalties.com/showroom/</a:t>
            </a:r>
            <a:endParaRPr lang="en-US" sz="1100" dirty="0"/>
          </a:p>
        </p:txBody>
      </p:sp>
      <p:sp>
        <p:nvSpPr>
          <p:cNvPr id="33" name="Shape 31"/>
          <p:cNvSpPr/>
          <p:nvPr/>
        </p:nvSpPr>
        <p:spPr>
          <a:xfrm>
            <a:off x="6236208" y="4974336"/>
            <a:ext cx="5285232" cy="731520"/>
          </a:xfrm>
          <a:prstGeom prst="roundRect">
            <a:avLst>
              <a:gd name="adj" fmla="val 15000"/>
            </a:avLst>
          </a:prstGeom>
          <a:solidFill>
            <a:srgbClr val="101A33"/>
          </a:solidFill>
          <a:ln w="12700">
            <a:solidFill>
              <a:srgbClr val="1E2E4A"/>
            </a:solidFill>
            <a:prstDash val="solid"/>
          </a:ln>
        </p:spPr>
      </p:sp>
      <p:sp>
        <p:nvSpPr>
          <p:cNvPr id="34" name="Shape 32"/>
          <p:cNvSpPr/>
          <p:nvPr/>
        </p:nvSpPr>
        <p:spPr>
          <a:xfrm>
            <a:off x="6510528" y="5257800"/>
            <a:ext cx="164592" cy="164592"/>
          </a:xfrm>
          <a:prstGeom prst="ellipse">
            <a:avLst/>
          </a:prstGeom>
          <a:solidFill>
            <a:srgbClr val="00FF88"/>
          </a:solidFill>
          <a:ln w="12700">
            <a:solidFill>
              <a:srgbClr val="333333"/>
            </a:solidFill>
            <a:prstDash val="solid"/>
          </a:ln>
        </p:spPr>
      </p:sp>
      <p:sp>
        <p:nvSpPr>
          <p:cNvPr id="35" name="Text 33"/>
          <p:cNvSpPr/>
          <p:nvPr/>
        </p:nvSpPr>
        <p:spPr>
          <a:xfrm>
            <a:off x="6821424" y="5084064"/>
            <a:ext cx="4462272" cy="274320"/>
          </a:xfrm>
          <a:prstGeom prst="rect">
            <a:avLst/>
          </a:prstGeom>
          <a:noFill/>
          <a:ln/>
        </p:spPr>
        <p:txBody>
          <a:bodyPr wrap="square" lIns="0" tIns="0" rIns="0" bIns="0" rtlCol="0" anchor="ctr"/>
          <a:lstStyle/>
          <a:p>
            <a:pPr indent="0" marL="0">
              <a:buNone/>
            </a:pPr>
            <a:r>
              <a:rPr lang="en-US" sz="1400" b="1" dirty="0">
                <a:solidFill>
                  <a:srgbClr val="EAF2FF"/>
                </a:solidFill>
                <a:latin typeface="Calibri" pitchFamily="34" charset="0"/>
                <a:ea typeface="Calibri" pitchFamily="34" charset="-122"/>
                <a:cs typeface="Calibri" pitchFamily="34" charset="-120"/>
              </a:rPr>
              <a:t>Directory — all of it</a:t>
            </a:r>
            <a:endParaRPr lang="en-US" sz="1400" dirty="0"/>
          </a:p>
        </p:txBody>
      </p:sp>
      <p:sp>
        <p:nvSpPr>
          <p:cNvPr id="36" name="Text 34">
            <a:hlinkClick r:id="rId8" tooltip=""/>
          </p:cNvPr>
          <p:cNvSpPr/>
          <p:nvPr/>
        </p:nvSpPr>
        <p:spPr>
          <a:xfrm>
            <a:off x="6821424" y="5358384"/>
            <a:ext cx="4462272" cy="237744"/>
          </a:xfrm>
          <a:prstGeom prst="rect">
            <a:avLst/>
          </a:prstGeom>
          <a:noFill/>
          <a:ln/>
        </p:spPr>
        <p:txBody>
          <a:bodyPr wrap="square" lIns="0" tIns="0" rIns="0" bIns="0" rtlCol="0" anchor="ctr"/>
          <a:lstStyle/>
          <a:p>
            <a:pPr indent="0" marL="0">
              <a:buNone/>
            </a:pPr>
            <a:r>
              <a:rPr lang="en-US" sz="1100" u="sng" dirty="0">
                <a:solidFill>
                  <a:srgbClr val="00FF88"/>
                </a:solidFill>
                <a:latin typeface="Consolas" pitchFamily="34" charset="0"/>
                <a:ea typeface="Consolas" pitchFamily="34" charset="-122"/>
                <a:cs typeface="Consolas" pitchFamily="34" charset="-120"/>
                <a:hlinkClick r:id="rId8" invalidUrl="" action="" tgtFrame="" tooltip="" history="1" highlightClick="0" endSnd="0">
                  <a:extLst>
                    <a:ext uri="{A12FA001-AC4F-418D-AE19-62706E023703}">
                      <ahyp:hlinkClr xmlns:ahyp="http://schemas.microsoft.com/office/drawing/2018/hyperlinkcolor" val="tx"/>
                    </a:ext>
                  </a:extLst>
                </a:hlinkClick>
              </a:rPr>
              <a:t>restorationroyalties.com</a:t>
            </a:r>
            <a:endParaRPr lang="en-US" sz="1100" dirty="0"/>
          </a:p>
        </p:txBody>
      </p:sp>
      <p:sp>
        <p:nvSpPr>
          <p:cNvPr id="37" name="Text 35"/>
          <p:cNvSpPr/>
          <p:nvPr/>
        </p:nvSpPr>
        <p:spPr>
          <a:xfrm>
            <a:off x="658368" y="6291072"/>
            <a:ext cx="10872216" cy="237744"/>
          </a:xfrm>
          <a:prstGeom prst="rect">
            <a:avLst/>
          </a:prstGeom>
          <a:noFill/>
          <a:ln/>
        </p:spPr>
        <p:txBody>
          <a:bodyPr wrap="square" lIns="0" tIns="0" rIns="0" bIns="0" rtlCol="0" anchor="ctr"/>
          <a:lstStyle/>
          <a:p>
            <a:pPr indent="0" marL="0">
              <a:buNone/>
            </a:pPr>
            <a:r>
              <a:rPr lang="en-US" sz="900" dirty="0">
                <a:solidFill>
                  <a:srgbClr val="54658A"/>
                </a:solidFill>
                <a:latin typeface="Calibri" pitchFamily="34" charset="0"/>
                <a:ea typeface="Calibri" pitchFamily="34" charset="-122"/>
                <a:cs typeface="Calibri" pitchFamily="34" charset="-120"/>
              </a:rPr>
              <a:t>Sites go live on restorationroyalties.com once the domain is pointed. Confidential — prepared for Jimmy Mejia.</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70C18"/>
        </a:solidFill>
      </p:bgPr>
    </p:bg>
    <p:spTree>
      <p:nvGrpSpPr>
        <p:cNvPr id="1" name=""/>
        <p:cNvGrpSpPr/>
        <p:nvPr/>
      </p:nvGrpSpPr>
      <p:grpSpPr>
        <a:xfrm>
          <a:off x="0" y="0"/>
          <a:ext cx="0" cy="0"/>
          <a:chOff x="0" y="0"/>
          <a:chExt cx="0" cy="0"/>
        </a:xfrm>
      </p:grpSpPr>
      <p:sp>
        <p:nvSpPr>
          <p:cNvPr id="2" name="Text 0"/>
          <p:cNvSpPr/>
          <p:nvPr/>
        </p:nvSpPr>
        <p:spPr>
          <a:xfrm>
            <a:off x="658368" y="457200"/>
            <a:ext cx="10872216" cy="256032"/>
          </a:xfrm>
          <a:prstGeom prst="rect">
            <a:avLst/>
          </a:prstGeom>
          <a:noFill/>
          <a:ln/>
        </p:spPr>
        <p:txBody>
          <a:bodyPr wrap="square" lIns="0" tIns="0" rIns="0" bIns="0" rtlCol="0" anchor="ctr"/>
          <a:lstStyle/>
          <a:p>
            <a:pPr indent="0" marL="0">
              <a:buNone/>
            </a:pPr>
            <a:r>
              <a:rPr lang="en-US" sz="1100" b="1" spc="240" kern="0" dirty="0">
                <a:solidFill>
                  <a:srgbClr val="00D4FF"/>
                </a:solidFill>
                <a:latin typeface="Calibri" pitchFamily="34" charset="0"/>
                <a:ea typeface="Calibri" pitchFamily="34" charset="-122"/>
                <a:cs typeface="Calibri" pitchFamily="34" charset="-120"/>
              </a:rPr>
              <a:t>NEXT</a:t>
            </a:r>
            <a:endParaRPr lang="en-US" sz="1100" dirty="0"/>
          </a:p>
        </p:txBody>
      </p:sp>
      <p:sp>
        <p:nvSpPr>
          <p:cNvPr id="3" name="Text 1"/>
          <p:cNvSpPr/>
          <p:nvPr/>
        </p:nvSpPr>
        <p:spPr>
          <a:xfrm>
            <a:off x="658368" y="786384"/>
            <a:ext cx="10872216" cy="822960"/>
          </a:xfrm>
          <a:prstGeom prst="rect">
            <a:avLst/>
          </a:prstGeom>
          <a:noFill/>
          <a:ln/>
        </p:spPr>
        <p:txBody>
          <a:bodyPr wrap="square" lIns="0" tIns="0" rIns="0" bIns="0" rtlCol="0" anchor="ctr"/>
          <a:lstStyle/>
          <a:p>
            <a:pPr indent="0" marL="0">
              <a:buNone/>
            </a:pPr>
            <a:r>
              <a:rPr lang="en-US" sz="3400" b="1" spc="-40" kern="0" dirty="0">
                <a:solidFill>
                  <a:srgbClr val="EAF2FF"/>
                </a:solidFill>
                <a:latin typeface="Calibri" pitchFamily="34" charset="0"/>
                <a:ea typeface="Calibri" pitchFamily="34" charset="-122"/>
                <a:cs typeface="Calibri" pitchFamily="34" charset="-120"/>
              </a:rPr>
              <a:t>The next seven days</a:t>
            </a:r>
            <a:endParaRPr lang="en-US" sz="3400" dirty="0"/>
          </a:p>
        </p:txBody>
      </p:sp>
      <p:sp>
        <p:nvSpPr>
          <p:cNvPr id="4" name="Shape 2"/>
          <p:cNvSpPr/>
          <p:nvPr/>
        </p:nvSpPr>
        <p:spPr>
          <a:xfrm>
            <a:off x="658368" y="1847088"/>
            <a:ext cx="402336" cy="402336"/>
          </a:xfrm>
          <a:prstGeom prst="ellipse">
            <a:avLst/>
          </a:prstGeom>
          <a:solidFill>
            <a:srgbClr val="16233F"/>
          </a:solidFill>
          <a:ln w="15875">
            <a:solidFill>
              <a:srgbClr val="00FF88"/>
            </a:solidFill>
            <a:prstDash val="solid"/>
          </a:ln>
        </p:spPr>
      </p:sp>
      <p:sp>
        <p:nvSpPr>
          <p:cNvPr id="5" name="Text 3"/>
          <p:cNvSpPr/>
          <p:nvPr/>
        </p:nvSpPr>
        <p:spPr>
          <a:xfrm>
            <a:off x="658368" y="1847088"/>
            <a:ext cx="402336" cy="402336"/>
          </a:xfrm>
          <a:prstGeom prst="rect">
            <a:avLst/>
          </a:prstGeom>
          <a:noFill/>
          <a:ln/>
        </p:spPr>
        <p:txBody>
          <a:bodyPr wrap="square" lIns="0" tIns="0" rIns="0" bIns="0" rtlCol="0" anchor="ctr"/>
          <a:lstStyle/>
          <a:p>
            <a:pPr algn="ctr" indent="0" marL="0">
              <a:buNone/>
            </a:pPr>
            <a:r>
              <a:rPr lang="en-US" sz="1500" b="1" dirty="0">
                <a:solidFill>
                  <a:srgbClr val="00FF88"/>
                </a:solidFill>
                <a:latin typeface="Calibri" pitchFamily="34" charset="0"/>
                <a:ea typeface="Calibri" pitchFamily="34" charset="-122"/>
                <a:cs typeface="Calibri" pitchFamily="34" charset="-120"/>
              </a:rPr>
              <a:t>1</a:t>
            </a:r>
            <a:endParaRPr lang="en-US" sz="1500" dirty="0"/>
          </a:p>
        </p:txBody>
      </p:sp>
      <p:sp>
        <p:nvSpPr>
          <p:cNvPr id="6" name="Text 4"/>
          <p:cNvSpPr/>
          <p:nvPr/>
        </p:nvSpPr>
        <p:spPr>
          <a:xfrm>
            <a:off x="1280160" y="1865376"/>
            <a:ext cx="3108960" cy="365760"/>
          </a:xfrm>
          <a:prstGeom prst="rect">
            <a:avLst/>
          </a:prstGeom>
          <a:noFill/>
          <a:ln/>
        </p:spPr>
        <p:txBody>
          <a:bodyPr wrap="square" lIns="0" tIns="0" rIns="0" bIns="0" rtlCol="0" anchor="ctr"/>
          <a:lstStyle/>
          <a:p>
            <a:pPr indent="0" marL="0">
              <a:buNone/>
            </a:pPr>
            <a:r>
              <a:rPr lang="en-US" sz="1600" b="1" dirty="0">
                <a:solidFill>
                  <a:srgbClr val="EAF2FF"/>
                </a:solidFill>
                <a:latin typeface="Calibri" pitchFamily="34" charset="0"/>
                <a:ea typeface="Calibri" pitchFamily="34" charset="-122"/>
                <a:cs typeface="Calibri" pitchFamily="34" charset="-120"/>
              </a:rPr>
              <a:t>Review the four sites</a:t>
            </a:r>
            <a:endParaRPr lang="en-US" sz="1600" dirty="0"/>
          </a:p>
        </p:txBody>
      </p:sp>
      <p:sp>
        <p:nvSpPr>
          <p:cNvPr id="7" name="Text 5"/>
          <p:cNvSpPr/>
          <p:nvPr/>
        </p:nvSpPr>
        <p:spPr>
          <a:xfrm>
            <a:off x="4498848" y="1828800"/>
            <a:ext cx="7031736" cy="585216"/>
          </a:xfrm>
          <a:prstGeom prst="rect">
            <a:avLst/>
          </a:prstGeom>
          <a:noFill/>
          <a:ln/>
        </p:spPr>
        <p:txBody>
          <a:bodyPr wrap="square" lIns="0" tIns="0" rIns="0" bIns="0" rtlCol="0" anchor="ctr"/>
          <a:lstStyle/>
          <a:p>
            <a:pPr indent="0" marL="0">
              <a:lnSpc>
                <a:spcPts val="1700"/>
              </a:lnSpc>
              <a:buNone/>
            </a:pPr>
            <a:r>
              <a:rPr lang="en-US" sz="1250" dirty="0">
                <a:solidFill>
                  <a:srgbClr val="8FA3C0"/>
                </a:solidFill>
                <a:latin typeface="Calibri" pitchFamily="34" charset="0"/>
                <a:ea typeface="Calibri" pitchFamily="34" charset="-122"/>
                <a:cs typeface="Calibri" pitchFamily="34" charset="-120"/>
              </a:rPr>
              <a:t>Look at both Restoration Royalty treatments — assigned block and vanity — and tell me which one goes out. Everything else is copy edits.</a:t>
            </a:r>
            <a:endParaRPr lang="en-US" sz="1250" dirty="0"/>
          </a:p>
        </p:txBody>
      </p:sp>
      <p:sp>
        <p:nvSpPr>
          <p:cNvPr id="8" name="Shape 6"/>
          <p:cNvSpPr/>
          <p:nvPr/>
        </p:nvSpPr>
        <p:spPr>
          <a:xfrm>
            <a:off x="658368" y="2560320"/>
            <a:ext cx="402336" cy="402336"/>
          </a:xfrm>
          <a:prstGeom prst="ellipse">
            <a:avLst/>
          </a:prstGeom>
          <a:solidFill>
            <a:srgbClr val="16233F"/>
          </a:solidFill>
          <a:ln w="15875">
            <a:solidFill>
              <a:srgbClr val="00FF88"/>
            </a:solidFill>
            <a:prstDash val="solid"/>
          </a:ln>
        </p:spPr>
      </p:sp>
      <p:sp>
        <p:nvSpPr>
          <p:cNvPr id="9" name="Text 7"/>
          <p:cNvSpPr/>
          <p:nvPr/>
        </p:nvSpPr>
        <p:spPr>
          <a:xfrm>
            <a:off x="658368" y="2560320"/>
            <a:ext cx="402336" cy="402336"/>
          </a:xfrm>
          <a:prstGeom prst="rect">
            <a:avLst/>
          </a:prstGeom>
          <a:noFill/>
          <a:ln/>
        </p:spPr>
        <p:txBody>
          <a:bodyPr wrap="square" lIns="0" tIns="0" rIns="0" bIns="0" rtlCol="0" anchor="ctr"/>
          <a:lstStyle/>
          <a:p>
            <a:pPr algn="ctr" indent="0" marL="0">
              <a:buNone/>
            </a:pPr>
            <a:r>
              <a:rPr lang="en-US" sz="1500" b="1" dirty="0">
                <a:solidFill>
                  <a:srgbClr val="00FF88"/>
                </a:solidFill>
                <a:latin typeface="Calibri" pitchFamily="34" charset="0"/>
                <a:ea typeface="Calibri" pitchFamily="34" charset="-122"/>
                <a:cs typeface="Calibri" pitchFamily="34" charset="-120"/>
              </a:rPr>
              <a:t>2</a:t>
            </a:r>
            <a:endParaRPr lang="en-US" sz="1500" dirty="0"/>
          </a:p>
        </p:txBody>
      </p:sp>
      <p:sp>
        <p:nvSpPr>
          <p:cNvPr id="10" name="Text 8"/>
          <p:cNvSpPr/>
          <p:nvPr/>
        </p:nvSpPr>
        <p:spPr>
          <a:xfrm>
            <a:off x="1280160" y="2578608"/>
            <a:ext cx="3108960" cy="365760"/>
          </a:xfrm>
          <a:prstGeom prst="rect">
            <a:avLst/>
          </a:prstGeom>
          <a:noFill/>
          <a:ln/>
        </p:spPr>
        <p:txBody>
          <a:bodyPr wrap="square" lIns="0" tIns="0" rIns="0" bIns="0" rtlCol="0" anchor="ctr"/>
          <a:lstStyle/>
          <a:p>
            <a:pPr indent="0" marL="0">
              <a:buNone/>
            </a:pPr>
            <a:r>
              <a:rPr lang="en-US" sz="1600" b="1" dirty="0">
                <a:solidFill>
                  <a:srgbClr val="EAF2FF"/>
                </a:solidFill>
                <a:latin typeface="Calibri" pitchFamily="34" charset="0"/>
                <a:ea typeface="Calibri" pitchFamily="34" charset="-122"/>
                <a:cs typeface="Calibri" pitchFamily="34" charset="-120"/>
              </a:rPr>
              <a:t>Confirm numbers and forward</a:t>
            </a:r>
            <a:endParaRPr lang="en-US" sz="1600" dirty="0"/>
          </a:p>
        </p:txBody>
      </p:sp>
      <p:sp>
        <p:nvSpPr>
          <p:cNvPr id="11" name="Text 9"/>
          <p:cNvSpPr/>
          <p:nvPr/>
        </p:nvSpPr>
        <p:spPr>
          <a:xfrm>
            <a:off x="4498848" y="2542032"/>
            <a:ext cx="7031736" cy="585216"/>
          </a:xfrm>
          <a:prstGeom prst="rect">
            <a:avLst/>
          </a:prstGeom>
          <a:noFill/>
          <a:ln/>
        </p:spPr>
        <p:txBody>
          <a:bodyPr wrap="square" lIns="0" tIns="0" rIns="0" bIns="0" rtlCol="0" anchor="ctr"/>
          <a:lstStyle/>
          <a:p>
            <a:pPr indent="0" marL="0">
              <a:lnSpc>
                <a:spcPts val="1700"/>
              </a:lnSpc>
              <a:buNone/>
            </a:pPr>
            <a:r>
              <a:rPr lang="en-US" sz="1250" dirty="0">
                <a:solidFill>
                  <a:srgbClr val="8FA3C0"/>
                </a:solidFill>
                <a:latin typeface="Calibri" pitchFamily="34" charset="0"/>
                <a:ea typeface="Calibri" pitchFamily="34" charset="-122"/>
                <a:cs typeface="Calibri" pitchFamily="34" charset="-120"/>
              </a:rPr>
              <a:t>Ten lines with branded caller ID forwarding to your cell. Confirm the forward target and we lock it.</a:t>
            </a:r>
            <a:endParaRPr lang="en-US" sz="1250" dirty="0"/>
          </a:p>
        </p:txBody>
      </p:sp>
      <p:sp>
        <p:nvSpPr>
          <p:cNvPr id="12" name="Shape 10"/>
          <p:cNvSpPr/>
          <p:nvPr/>
        </p:nvSpPr>
        <p:spPr>
          <a:xfrm>
            <a:off x="658368" y="3273552"/>
            <a:ext cx="402336" cy="402336"/>
          </a:xfrm>
          <a:prstGeom prst="ellipse">
            <a:avLst/>
          </a:prstGeom>
          <a:solidFill>
            <a:srgbClr val="16233F"/>
          </a:solidFill>
          <a:ln w="15875">
            <a:solidFill>
              <a:srgbClr val="00FF88"/>
            </a:solidFill>
            <a:prstDash val="solid"/>
          </a:ln>
        </p:spPr>
      </p:sp>
      <p:sp>
        <p:nvSpPr>
          <p:cNvPr id="13" name="Text 11"/>
          <p:cNvSpPr/>
          <p:nvPr/>
        </p:nvSpPr>
        <p:spPr>
          <a:xfrm>
            <a:off x="658368" y="3273552"/>
            <a:ext cx="402336" cy="402336"/>
          </a:xfrm>
          <a:prstGeom prst="rect">
            <a:avLst/>
          </a:prstGeom>
          <a:noFill/>
          <a:ln/>
        </p:spPr>
        <p:txBody>
          <a:bodyPr wrap="square" lIns="0" tIns="0" rIns="0" bIns="0" rtlCol="0" anchor="ctr"/>
          <a:lstStyle/>
          <a:p>
            <a:pPr algn="ctr" indent="0" marL="0">
              <a:buNone/>
            </a:pPr>
            <a:r>
              <a:rPr lang="en-US" sz="1500" b="1" dirty="0">
                <a:solidFill>
                  <a:srgbClr val="00FF88"/>
                </a:solidFill>
                <a:latin typeface="Calibri" pitchFamily="34" charset="0"/>
                <a:ea typeface="Calibri" pitchFamily="34" charset="-122"/>
                <a:cs typeface="Calibri" pitchFamily="34" charset="-120"/>
              </a:rPr>
              <a:t>3</a:t>
            </a:r>
            <a:endParaRPr lang="en-US" sz="1500" dirty="0"/>
          </a:p>
        </p:txBody>
      </p:sp>
      <p:sp>
        <p:nvSpPr>
          <p:cNvPr id="14" name="Text 12"/>
          <p:cNvSpPr/>
          <p:nvPr/>
        </p:nvSpPr>
        <p:spPr>
          <a:xfrm>
            <a:off x="1280160" y="3291840"/>
            <a:ext cx="3108960" cy="365760"/>
          </a:xfrm>
          <a:prstGeom prst="rect">
            <a:avLst/>
          </a:prstGeom>
          <a:noFill/>
          <a:ln/>
        </p:spPr>
        <p:txBody>
          <a:bodyPr wrap="square" lIns="0" tIns="0" rIns="0" bIns="0" rtlCol="0" anchor="ctr"/>
          <a:lstStyle/>
          <a:p>
            <a:pPr indent="0" marL="0">
              <a:buNone/>
            </a:pPr>
            <a:r>
              <a:rPr lang="en-US" sz="1600" b="1" dirty="0">
                <a:solidFill>
                  <a:srgbClr val="EAF2FF"/>
                </a:solidFill>
                <a:latin typeface="Calibri" pitchFamily="34" charset="0"/>
                <a:ea typeface="Calibri" pitchFamily="34" charset="-122"/>
                <a:cs typeface="Calibri" pitchFamily="34" charset="-120"/>
              </a:rPr>
              <a:t>Start the calls</a:t>
            </a:r>
            <a:endParaRPr lang="en-US" sz="1600" dirty="0"/>
          </a:p>
        </p:txBody>
      </p:sp>
      <p:sp>
        <p:nvSpPr>
          <p:cNvPr id="15" name="Text 13"/>
          <p:cNvSpPr/>
          <p:nvPr/>
        </p:nvSpPr>
        <p:spPr>
          <a:xfrm>
            <a:off x="4498848" y="3255264"/>
            <a:ext cx="7031736" cy="585216"/>
          </a:xfrm>
          <a:prstGeom prst="rect">
            <a:avLst/>
          </a:prstGeom>
          <a:noFill/>
          <a:ln/>
        </p:spPr>
        <p:txBody>
          <a:bodyPr wrap="square" lIns="0" tIns="0" rIns="0" bIns="0" rtlCol="0" anchor="ctr"/>
          <a:lstStyle/>
          <a:p>
            <a:pPr indent="0" marL="0">
              <a:lnSpc>
                <a:spcPts val="1700"/>
              </a:lnSpc>
              <a:buNone/>
            </a:pPr>
            <a:r>
              <a:rPr lang="en-US" sz="1250" dirty="0">
                <a:solidFill>
                  <a:srgbClr val="8FA3C0"/>
                </a:solidFill>
                <a:latin typeface="Calibri" pitchFamily="34" charset="0"/>
                <a:ea typeface="Calibri" pitchFamily="34" charset="-122"/>
                <a:cs typeface="Calibri" pitchFamily="34" charset="-120"/>
              </a:rPr>
              <a:t>Orlando and South Florida. Mold, water, roofing. Free assessment. Both lists loaded, script written.</a:t>
            </a:r>
            <a:endParaRPr lang="en-US" sz="1250" dirty="0"/>
          </a:p>
        </p:txBody>
      </p:sp>
      <p:sp>
        <p:nvSpPr>
          <p:cNvPr id="16" name="Shape 14"/>
          <p:cNvSpPr/>
          <p:nvPr/>
        </p:nvSpPr>
        <p:spPr>
          <a:xfrm>
            <a:off x="658368" y="3986784"/>
            <a:ext cx="402336" cy="402336"/>
          </a:xfrm>
          <a:prstGeom prst="ellipse">
            <a:avLst/>
          </a:prstGeom>
          <a:solidFill>
            <a:srgbClr val="16233F"/>
          </a:solidFill>
          <a:ln w="15875">
            <a:solidFill>
              <a:srgbClr val="00D4FF"/>
            </a:solidFill>
            <a:prstDash val="solid"/>
          </a:ln>
        </p:spPr>
      </p:sp>
      <p:sp>
        <p:nvSpPr>
          <p:cNvPr id="17" name="Text 15"/>
          <p:cNvSpPr/>
          <p:nvPr/>
        </p:nvSpPr>
        <p:spPr>
          <a:xfrm>
            <a:off x="658368" y="3986784"/>
            <a:ext cx="402336" cy="402336"/>
          </a:xfrm>
          <a:prstGeom prst="rect">
            <a:avLst/>
          </a:prstGeom>
          <a:noFill/>
          <a:ln/>
        </p:spPr>
        <p:txBody>
          <a:bodyPr wrap="square" lIns="0" tIns="0" rIns="0" bIns="0" rtlCol="0" anchor="ctr"/>
          <a:lstStyle/>
          <a:p>
            <a:pPr algn="ctr" indent="0" marL="0">
              <a:buNone/>
            </a:pPr>
            <a:r>
              <a:rPr lang="en-US" sz="1500" b="1" dirty="0">
                <a:solidFill>
                  <a:srgbClr val="00D4FF"/>
                </a:solidFill>
                <a:latin typeface="Calibri" pitchFamily="34" charset="0"/>
                <a:ea typeface="Calibri" pitchFamily="34" charset="-122"/>
                <a:cs typeface="Calibri" pitchFamily="34" charset="-120"/>
              </a:rPr>
              <a:t>4</a:t>
            </a:r>
            <a:endParaRPr lang="en-US" sz="1500" dirty="0"/>
          </a:p>
        </p:txBody>
      </p:sp>
      <p:sp>
        <p:nvSpPr>
          <p:cNvPr id="18" name="Text 16"/>
          <p:cNvSpPr/>
          <p:nvPr/>
        </p:nvSpPr>
        <p:spPr>
          <a:xfrm>
            <a:off x="1280160" y="4005072"/>
            <a:ext cx="3108960" cy="365760"/>
          </a:xfrm>
          <a:prstGeom prst="rect">
            <a:avLst/>
          </a:prstGeom>
          <a:noFill/>
          <a:ln/>
        </p:spPr>
        <p:txBody>
          <a:bodyPr wrap="square" lIns="0" tIns="0" rIns="0" bIns="0" rtlCol="0" anchor="ctr"/>
          <a:lstStyle/>
          <a:p>
            <a:pPr indent="0" marL="0">
              <a:buNone/>
            </a:pPr>
            <a:r>
              <a:rPr lang="en-US" sz="1600" b="1" dirty="0">
                <a:solidFill>
                  <a:srgbClr val="EAF2FF"/>
                </a:solidFill>
                <a:latin typeface="Calibri" pitchFamily="34" charset="0"/>
                <a:ea typeface="Calibri" pitchFamily="34" charset="-122"/>
                <a:cs typeface="Calibri" pitchFamily="34" charset="-120"/>
              </a:rPr>
              <a:t>Watch the board together</a:t>
            </a:r>
            <a:endParaRPr lang="en-US" sz="1600" dirty="0"/>
          </a:p>
        </p:txBody>
      </p:sp>
      <p:sp>
        <p:nvSpPr>
          <p:cNvPr id="19" name="Text 17"/>
          <p:cNvSpPr/>
          <p:nvPr/>
        </p:nvSpPr>
        <p:spPr>
          <a:xfrm>
            <a:off x="4498848" y="3968496"/>
            <a:ext cx="7031736" cy="585216"/>
          </a:xfrm>
          <a:prstGeom prst="rect">
            <a:avLst/>
          </a:prstGeom>
          <a:noFill/>
          <a:ln/>
        </p:spPr>
        <p:txBody>
          <a:bodyPr wrap="square" lIns="0" tIns="0" rIns="0" bIns="0" rtlCol="0" anchor="ctr"/>
          <a:lstStyle/>
          <a:p>
            <a:pPr indent="0" marL="0">
              <a:lnSpc>
                <a:spcPts val="1700"/>
              </a:lnSpc>
              <a:buNone/>
            </a:pPr>
            <a:r>
              <a:rPr lang="en-US" sz="1250" dirty="0">
                <a:solidFill>
                  <a:srgbClr val="8FA3C0"/>
                </a:solidFill>
                <a:latin typeface="Calibri" pitchFamily="34" charset="0"/>
                <a:ea typeface="Calibri" pitchFamily="34" charset="-122"/>
                <a:cs typeface="Calibri" pitchFamily="34" charset="-120"/>
              </a:rPr>
              <a:t>First week we read the dashboard daily — connects, bookings, cost per booking — and tune the script and hours off what it shows.</a:t>
            </a:r>
            <a:endParaRPr lang="en-US" sz="1250" dirty="0"/>
          </a:p>
        </p:txBody>
      </p:sp>
      <p:sp>
        <p:nvSpPr>
          <p:cNvPr id="20" name="Shape 18"/>
          <p:cNvSpPr/>
          <p:nvPr/>
        </p:nvSpPr>
        <p:spPr>
          <a:xfrm>
            <a:off x="658368" y="4700016"/>
            <a:ext cx="402336" cy="402336"/>
          </a:xfrm>
          <a:prstGeom prst="ellipse">
            <a:avLst/>
          </a:prstGeom>
          <a:solidFill>
            <a:srgbClr val="16233F"/>
          </a:solidFill>
          <a:ln w="15875">
            <a:solidFill>
              <a:srgbClr val="00D4FF"/>
            </a:solidFill>
            <a:prstDash val="solid"/>
          </a:ln>
        </p:spPr>
      </p:sp>
      <p:sp>
        <p:nvSpPr>
          <p:cNvPr id="21" name="Text 19"/>
          <p:cNvSpPr/>
          <p:nvPr/>
        </p:nvSpPr>
        <p:spPr>
          <a:xfrm>
            <a:off x="658368" y="4700016"/>
            <a:ext cx="402336" cy="402336"/>
          </a:xfrm>
          <a:prstGeom prst="rect">
            <a:avLst/>
          </a:prstGeom>
          <a:noFill/>
          <a:ln/>
        </p:spPr>
        <p:txBody>
          <a:bodyPr wrap="square" lIns="0" tIns="0" rIns="0" bIns="0" rtlCol="0" anchor="ctr"/>
          <a:lstStyle/>
          <a:p>
            <a:pPr algn="ctr" indent="0" marL="0">
              <a:buNone/>
            </a:pPr>
            <a:r>
              <a:rPr lang="en-US" sz="1500" b="1" dirty="0">
                <a:solidFill>
                  <a:srgbClr val="00D4FF"/>
                </a:solidFill>
                <a:latin typeface="Calibri" pitchFamily="34" charset="0"/>
                <a:ea typeface="Calibri" pitchFamily="34" charset="-122"/>
                <a:cs typeface="Calibri" pitchFamily="34" charset="-120"/>
              </a:rPr>
              <a:t>5</a:t>
            </a:r>
            <a:endParaRPr lang="en-US" sz="1500" dirty="0"/>
          </a:p>
        </p:txBody>
      </p:sp>
      <p:sp>
        <p:nvSpPr>
          <p:cNvPr id="22" name="Text 20"/>
          <p:cNvSpPr/>
          <p:nvPr/>
        </p:nvSpPr>
        <p:spPr>
          <a:xfrm>
            <a:off x="1280160" y="4718304"/>
            <a:ext cx="3108960" cy="365760"/>
          </a:xfrm>
          <a:prstGeom prst="rect">
            <a:avLst/>
          </a:prstGeom>
          <a:noFill/>
          <a:ln/>
        </p:spPr>
        <p:txBody>
          <a:bodyPr wrap="square" lIns="0" tIns="0" rIns="0" bIns="0" rtlCol="0" anchor="ctr"/>
          <a:lstStyle/>
          <a:p>
            <a:pPr indent="0" marL="0">
              <a:buNone/>
            </a:pPr>
            <a:r>
              <a:rPr lang="en-US" sz="1600" b="1" dirty="0">
                <a:solidFill>
                  <a:srgbClr val="EAF2FF"/>
                </a:solidFill>
                <a:latin typeface="Calibri" pitchFamily="34" charset="0"/>
                <a:ea typeface="Calibri" pitchFamily="34" charset="-122"/>
                <a:cs typeface="Calibri" pitchFamily="34" charset="-120"/>
              </a:rPr>
              <a:t>Then add trades</a:t>
            </a:r>
            <a:endParaRPr lang="en-US" sz="1600" dirty="0"/>
          </a:p>
        </p:txBody>
      </p:sp>
      <p:sp>
        <p:nvSpPr>
          <p:cNvPr id="23" name="Text 21"/>
          <p:cNvSpPr/>
          <p:nvPr/>
        </p:nvSpPr>
        <p:spPr>
          <a:xfrm>
            <a:off x="4498848" y="4681728"/>
            <a:ext cx="7031736" cy="585216"/>
          </a:xfrm>
          <a:prstGeom prst="rect">
            <a:avLst/>
          </a:prstGeom>
          <a:noFill/>
          <a:ln/>
        </p:spPr>
        <p:txBody>
          <a:bodyPr wrap="square" lIns="0" tIns="0" rIns="0" bIns="0" rtlCol="0" anchor="ctr"/>
          <a:lstStyle/>
          <a:p>
            <a:pPr indent="0" marL="0">
              <a:lnSpc>
                <a:spcPts val="1700"/>
              </a:lnSpc>
              <a:buNone/>
            </a:pPr>
            <a:r>
              <a:rPr lang="en-US" sz="1250" dirty="0">
                <a:solidFill>
                  <a:srgbClr val="8FA3C0"/>
                </a:solidFill>
                <a:latin typeface="Calibri" pitchFamily="34" charset="0"/>
                <a:ea typeface="Calibri" pitchFamily="34" charset="-122"/>
                <a:cs typeface="Calibri" pitchFamily="34" charset="-120"/>
              </a:rPr>
              <a:t>Every contractor you know who wants their phone to ring is a candidate. That is where the residual side starts for you.</a:t>
            </a:r>
            <a:endParaRPr lang="en-US" sz="1250" dirty="0"/>
          </a:p>
        </p:txBody>
      </p:sp>
      <p:sp>
        <p:nvSpPr>
          <p:cNvPr id="24" name="Text 22"/>
          <p:cNvSpPr/>
          <p:nvPr/>
        </p:nvSpPr>
        <p:spPr>
          <a:xfrm>
            <a:off x="658368" y="6291072"/>
            <a:ext cx="10872216" cy="237744"/>
          </a:xfrm>
          <a:prstGeom prst="rect">
            <a:avLst/>
          </a:prstGeom>
          <a:noFill/>
          <a:ln/>
        </p:spPr>
        <p:txBody>
          <a:bodyPr wrap="square" lIns="0" tIns="0" rIns="0" bIns="0" rtlCol="0" anchor="ctr"/>
          <a:lstStyle/>
          <a:p>
            <a:pPr indent="0" marL="0">
              <a:buNone/>
            </a:pPr>
            <a:r>
              <a:rPr lang="en-US" sz="900" dirty="0">
                <a:solidFill>
                  <a:srgbClr val="54658A"/>
                </a:solidFill>
                <a:latin typeface="Calibri" pitchFamily="34" charset="0"/>
                <a:ea typeface="Calibri" pitchFamily="34" charset="-122"/>
                <a:cs typeface="Calibri" pitchFamily="34" charset="-120"/>
              </a:rPr>
              <a:t>Telvergence, Inc.  ·  Confidential — prepared for Jimmy Mejia</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70C18"/>
        </a:solidFill>
      </p:bgPr>
    </p:bg>
    <p:spTree>
      <p:nvGrpSpPr>
        <p:cNvPr id="1" name=""/>
        <p:cNvGrpSpPr/>
        <p:nvPr/>
      </p:nvGrpSpPr>
      <p:grpSpPr>
        <a:xfrm>
          <a:off x="0" y="0"/>
          <a:ext cx="0" cy="0"/>
          <a:chOff x="0" y="0"/>
          <a:chExt cx="0" cy="0"/>
        </a:xfrm>
      </p:grpSpPr>
      <p:sp>
        <p:nvSpPr>
          <p:cNvPr id="2" name="Shape 0"/>
          <p:cNvSpPr/>
          <p:nvPr/>
        </p:nvSpPr>
        <p:spPr>
          <a:xfrm>
            <a:off x="-2743200" y="1280160"/>
            <a:ext cx="10058400" cy="10058400"/>
          </a:xfrm>
          <a:prstGeom prst="ellipse">
            <a:avLst/>
          </a:prstGeom>
          <a:solidFill>
            <a:srgbClr val="00FF88">
              <a:alpha val="5000"/>
            </a:srgbClr>
          </a:solidFill>
          <a:ln w="12700">
            <a:solidFill>
              <a:srgbClr val="333333"/>
            </a:solidFill>
            <a:prstDash val="solid"/>
          </a:ln>
        </p:spPr>
      </p:sp>
      <p:sp>
        <p:nvSpPr>
          <p:cNvPr id="3" name="Text 1"/>
          <p:cNvSpPr/>
          <p:nvPr/>
        </p:nvSpPr>
        <p:spPr>
          <a:xfrm>
            <a:off x="658368" y="2286000"/>
            <a:ext cx="10424160" cy="1828800"/>
          </a:xfrm>
          <a:prstGeom prst="rect">
            <a:avLst/>
          </a:prstGeom>
          <a:noFill/>
          <a:ln/>
        </p:spPr>
        <p:txBody>
          <a:bodyPr wrap="square" lIns="0" tIns="0" rIns="0" bIns="0" rtlCol="0" anchor="ctr"/>
          <a:lstStyle/>
          <a:p>
            <a:pPr indent="0" marL="0">
              <a:lnSpc>
                <a:spcPts val="5600"/>
              </a:lnSpc>
              <a:buNone/>
            </a:pPr>
            <a:r>
              <a:rPr lang="en-US" sz="4600" b="1" spc="-110" kern="0" dirty="0">
                <a:solidFill>
                  <a:srgbClr val="EAF2FF"/>
                </a:solidFill>
                <a:latin typeface="Calibri" pitchFamily="34" charset="0"/>
                <a:ea typeface="Calibri" pitchFamily="34" charset="-122"/>
                <a:cs typeface="Calibri" pitchFamily="34" charset="-120"/>
              </a:rPr>
              <a:t>You fulfill the work.
</a:t>
            </a:r>
            <a:pPr indent="0" marL="0">
              <a:lnSpc>
                <a:spcPts val="5600"/>
              </a:lnSpc>
              <a:buNone/>
            </a:pPr>
            <a:r>
              <a:rPr lang="en-US" sz="4600" b="1" spc="-110" kern="0" dirty="0">
                <a:solidFill>
                  <a:srgbClr val="00FF88"/>
                </a:solidFill>
                <a:latin typeface="Calibri" pitchFamily="34" charset="0"/>
                <a:ea typeface="Calibri" pitchFamily="34" charset="-122"/>
                <a:cs typeface="Calibri" pitchFamily="34" charset="-120"/>
              </a:rPr>
              <a:t>We make the phone ring.</a:t>
            </a:r>
            <a:endParaRPr lang="en-US" sz="4600" dirty="0"/>
          </a:p>
        </p:txBody>
      </p:sp>
      <p:sp>
        <p:nvSpPr>
          <p:cNvPr id="4" name="Text 2"/>
          <p:cNvSpPr/>
          <p:nvPr/>
        </p:nvSpPr>
        <p:spPr>
          <a:xfrm>
            <a:off x="658368" y="4480560"/>
            <a:ext cx="10872216" cy="292608"/>
          </a:xfrm>
          <a:prstGeom prst="rect">
            <a:avLst/>
          </a:prstGeom>
          <a:noFill/>
          <a:ln/>
        </p:spPr>
        <p:txBody>
          <a:bodyPr wrap="square" lIns="0" tIns="0" rIns="0" bIns="0" rtlCol="0" anchor="ctr"/>
          <a:lstStyle/>
          <a:p>
            <a:pPr indent="0" marL="0">
              <a:buNone/>
            </a:pPr>
            <a:r>
              <a:rPr lang="en-US" sz="1400" dirty="0">
                <a:solidFill>
                  <a:srgbClr val="8FA3C0"/>
                </a:solidFill>
                <a:latin typeface="Calibri" pitchFamily="34" charset="0"/>
                <a:ea typeface="Calibri" pitchFamily="34" charset="-122"/>
                <a:cs typeface="Calibri" pitchFamily="34" charset="-120"/>
              </a:rPr>
              <a:t>David Drew Allen  ·  Telvergence, Inc.  ·  689-242-1041  ·  contact@telvergence.com</a:t>
            </a:r>
            <a:endParaRPr lang="en-US" sz="1400" dirty="0"/>
          </a:p>
        </p:txBody>
      </p:sp>
      <p:sp>
        <p:nvSpPr>
          <p:cNvPr id="5" name="Text 3"/>
          <p:cNvSpPr/>
          <p:nvPr/>
        </p:nvSpPr>
        <p:spPr>
          <a:xfrm>
            <a:off x="658368" y="5504688"/>
            <a:ext cx="10872216" cy="822960"/>
          </a:xfrm>
          <a:prstGeom prst="rect">
            <a:avLst/>
          </a:prstGeom>
          <a:noFill/>
          <a:ln/>
        </p:spPr>
        <p:txBody>
          <a:bodyPr wrap="square" lIns="0" tIns="0" rIns="0" bIns="0" rtlCol="0" anchor="ctr"/>
          <a:lstStyle/>
          <a:p>
            <a:pPr indent="0" marL="0">
              <a:lnSpc>
                <a:spcPts val="1300"/>
              </a:lnSpc>
              <a:buNone/>
            </a:pPr>
            <a:r>
              <a:rPr lang="en-US" sz="950" dirty="0">
                <a:solidFill>
                  <a:srgbClr val="54658A"/>
                </a:solidFill>
                <a:latin typeface="Calibri" pitchFamily="34" charset="0"/>
                <a:ea typeface="Calibri" pitchFamily="34" charset="-122"/>
                <a:cs typeface="Calibri" pitchFamily="34" charset="-120"/>
              </a:rPr>
              <a:t>Confidential. Prepared for Jimmy Mejia, Restoration Royalty LLC. Not for redistribution. Telephone numbers shown on the YES Electrical and TELVERGE pages are illustrative examples pending assignment. Storm Dispatch coverage and predictive forecasting are described as product roadmap and are delivered in stages. Pricing and provisioning timelines are subject to carrier confirmation.</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Telvergence,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Master Packet — Restoration Royalty x Telvergence</dc:title>
  <dc:subject>PptxGenJS Presentation</dc:subject>
  <dc:creator>Telvergence, Inc.</dc:creator>
  <cp:lastModifiedBy>Telvergence, Inc.</cp:lastModifiedBy>
  <cp:revision>1</cp:revision>
  <dcterms:created xsi:type="dcterms:W3CDTF">2026-08-17T18:48:37Z</dcterms:created>
  <dcterms:modified xsi:type="dcterms:W3CDTF">2026-08-17T18:48:37Z</dcterms:modified>
</cp:coreProperties>
</file>