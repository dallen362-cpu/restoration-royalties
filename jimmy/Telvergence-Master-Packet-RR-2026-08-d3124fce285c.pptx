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Four working days of build, presented as one system. Jimmy is enrolled and funded; this packet shows him everything that exists today and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status, not promises. Ten numbers assigned, price locked at $22.95, four sites live, two markets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properties, one shared pipeline. The cross-sell between trades is the whole point of running more than one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core. The four qualifying questions are the ones Melissa already uses on inbound.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ViciDial discipline translated into the platform — the dashboard that keeps inflows ahead of outflows every payday.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is optional for Jimmy but it is where the residual side starts. The data point at the bottom is the exit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slide is deliberate — it is what keeps the program alive past month one and it reassures a client who has been burned by lead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action, with the first item being a decision only Jimmy can make — which RR treatment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division of labor, then the disclaimer. Leave the contact line on screen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restorationroyalties.com/rr/" TargetMode="External"/><Relationship Id="rId2" Type="http://schemas.openxmlformats.org/officeDocument/2006/relationships/hyperlink" Target="https://restorationroyalties.com/fast/" TargetMode="External"/><Relationship Id="rId3" Type="http://schemas.openxmlformats.org/officeDocument/2006/relationships/hyperlink" Target="https://restorationroyalties.com/yes/" TargetMode="External"/><Relationship Id="rId4" Type="http://schemas.openxmlformats.org/officeDocument/2006/relationships/hyperlink" Target="https://restorationroyalties.com/telverge/" TargetMode="External"/><Relationship Id="rId5" Type="http://schemas.openxmlformats.org/officeDocument/2006/relationships/hyperlink" Target="https://restorationroyalties.com/hub/" TargetMode="External"/><Relationship Id="rId6" Type="http://schemas.openxmlformats.org/officeDocument/2006/relationships/hyperlink" Target="https://restorationroyalties.com/vanity/" TargetMode="External"/><Relationship Id="rId7" Type="http://schemas.openxmlformats.org/officeDocument/2006/relationships/hyperlink" Target="https://restorationroyalties.com/showroom/" TargetMode="External"/><Relationship Id="rId8" Type="http://schemas.openxmlformats.org/officeDocument/2006/relationships/hyperlink" Target="https://restorationroyalties.com" TargetMode="External"/><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6766560" y="-2286000"/>
            <a:ext cx="8412480" cy="8412480"/>
          </a:xfrm>
          <a:prstGeom prst="ellipse">
            <a:avLst/>
          </a:prstGeom>
          <a:solidFill>
            <a:srgbClr val="00D4FF">
              <a:alpha val="7000"/>
            </a:srgbClr>
          </a:solidFill>
          <a:ln w="12700">
            <a:solidFill>
              <a:srgbClr val="333333"/>
            </a:solidFill>
            <a:prstDash val="solid"/>
          </a:ln>
        </p:spPr>
      </p:sp>
      <p:sp>
        <p:nvSpPr>
          <p:cNvPr id="3" name="Shape 1"/>
          <p:cNvSpPr/>
          <p:nvPr/>
        </p:nvSpPr>
        <p:spPr>
          <a:xfrm>
            <a:off x="8229600" y="-1097280"/>
            <a:ext cx="5486400" cy="5486400"/>
          </a:xfrm>
          <a:prstGeom prst="ellipse">
            <a:avLst/>
          </a:prstGeom>
          <a:solidFill>
            <a:srgbClr val="00FF88">
              <a:alpha val="5000"/>
            </a:srgbClr>
          </a:solidFill>
          <a:ln w="12700">
            <a:solidFill>
              <a:srgbClr val="333333"/>
            </a:solidFill>
            <a:prstDash val="solid"/>
          </a:ln>
        </p:spPr>
      </p:sp>
      <p:sp>
        <p:nvSpPr>
          <p:cNvPr id="4" name="Text 2"/>
          <p:cNvSpPr/>
          <p:nvPr/>
        </p:nvSpPr>
        <p:spPr>
          <a:xfrm>
            <a:off x="658368" y="566928"/>
            <a:ext cx="10872216" cy="274320"/>
          </a:xfrm>
          <a:prstGeom prst="rect">
            <a:avLst/>
          </a:prstGeom>
          <a:noFill/>
          <a:ln/>
        </p:spPr>
        <p:txBody>
          <a:bodyPr wrap="square" lIns="0" tIns="0" rIns="0" bIns="0" rtlCol="0" anchor="ctr"/>
          <a:lstStyle/>
          <a:p>
            <a:pPr indent="0" marL="0">
              <a:buNone/>
            </a:pPr>
            <a:r>
              <a:rPr lang="en-US" sz="1200" b="1" spc="260" kern="0" dirty="0">
                <a:solidFill>
                  <a:srgbClr val="00D4FF"/>
                </a:solidFill>
                <a:latin typeface="Calibri" pitchFamily="34" charset="0"/>
                <a:ea typeface="Calibri" pitchFamily="34" charset="-122"/>
                <a:cs typeface="Calibri" pitchFamily="34" charset="-120"/>
              </a:rPr>
              <a:t>TEL</a:t>
            </a:r>
            <a:pPr indent="0" marL="0">
              <a:buNone/>
            </a:pPr>
            <a:r>
              <a:rPr lang="en-US" sz="1200" b="1" spc="260" kern="0" dirty="0">
                <a:solidFill>
                  <a:srgbClr val="8FA3C0"/>
                </a:solidFill>
                <a:latin typeface="Calibri" pitchFamily="34" charset="0"/>
                <a:ea typeface="Calibri" pitchFamily="34" charset="-122"/>
                <a:cs typeface="Calibri" pitchFamily="34" charset="-120"/>
              </a:rPr>
              <a:t>VERGENCE   ×   RESTORATION ROYALTY</a:t>
            </a:r>
            <a:endParaRPr lang="en-US" sz="1200" dirty="0"/>
          </a:p>
        </p:txBody>
      </p:sp>
      <p:sp>
        <p:nvSpPr>
          <p:cNvPr id="5" name="Text 3"/>
          <p:cNvSpPr/>
          <p:nvPr/>
        </p:nvSpPr>
        <p:spPr>
          <a:xfrm>
            <a:off x="658368" y="2084832"/>
            <a:ext cx="10872216" cy="274320"/>
          </a:xfrm>
          <a:prstGeom prst="rect">
            <a:avLst/>
          </a:prstGeom>
          <a:noFill/>
          <a:ln/>
        </p:spPr>
        <p:txBody>
          <a:bodyPr wrap="square" lIns="0" tIns="0" rIns="0" bIns="0" rtlCol="0" anchor="ctr"/>
          <a:lstStyle/>
          <a:p>
            <a:pPr indent="0" marL="0">
              <a:buNone/>
            </a:pPr>
            <a:r>
              <a:rPr lang="en-US" sz="1200" b="1" spc="260" kern="0" dirty="0">
                <a:solidFill>
                  <a:srgbClr val="FFC24B"/>
                </a:solidFill>
                <a:latin typeface="Calibri" pitchFamily="34" charset="0"/>
                <a:ea typeface="Calibri" pitchFamily="34" charset="-122"/>
                <a:cs typeface="Calibri" pitchFamily="34" charset="-120"/>
              </a:rPr>
              <a:t>MASTER PACKET  ·  AUGUST 17, 2026</a:t>
            </a:r>
            <a:endParaRPr lang="en-US" sz="1200" dirty="0"/>
          </a:p>
        </p:txBody>
      </p:sp>
      <p:sp>
        <p:nvSpPr>
          <p:cNvPr id="6" name="Text 4"/>
          <p:cNvSpPr/>
          <p:nvPr/>
        </p:nvSpPr>
        <p:spPr>
          <a:xfrm>
            <a:off x="658368" y="2487168"/>
            <a:ext cx="9052560" cy="1828800"/>
          </a:xfrm>
          <a:prstGeom prst="rect">
            <a:avLst/>
          </a:prstGeom>
          <a:noFill/>
          <a:ln/>
        </p:spPr>
        <p:txBody>
          <a:bodyPr wrap="square" lIns="0" tIns="0" rIns="0" bIns="0" rtlCol="0" anchor="ctr"/>
          <a:lstStyle/>
          <a:p>
            <a:pPr indent="0" marL="0">
              <a:lnSpc>
                <a:spcPts val="5400"/>
              </a:lnSpc>
              <a:buNone/>
            </a:pPr>
            <a:r>
              <a:rPr lang="en-US" sz="5000" b="1" spc="-120" kern="0" dirty="0">
                <a:solidFill>
                  <a:srgbClr val="EAF2FF"/>
                </a:solidFill>
                <a:latin typeface="Calibri" pitchFamily="34" charset="0"/>
                <a:ea typeface="Calibri" pitchFamily="34" charset="-122"/>
                <a:cs typeface="Calibri" pitchFamily="34" charset="-120"/>
              </a:rPr>
              <a:t>Four days of build,
</a:t>
            </a:r>
            <a:pPr indent="0" marL="0">
              <a:lnSpc>
                <a:spcPts val="5400"/>
              </a:lnSpc>
              <a:buNone/>
            </a:pPr>
            <a:r>
              <a:rPr lang="en-US" sz="5000" b="1" spc="-120" kern="0" dirty="0">
                <a:solidFill>
                  <a:srgbClr val="00FF88"/>
                </a:solidFill>
                <a:latin typeface="Calibri" pitchFamily="34" charset="0"/>
                <a:ea typeface="Calibri" pitchFamily="34" charset="-122"/>
                <a:cs typeface="Calibri" pitchFamily="34" charset="-120"/>
              </a:rPr>
              <a:t>one system, </a:t>
            </a:r>
            <a:pPr indent="0" marL="0">
              <a:lnSpc>
                <a:spcPts val="5400"/>
              </a:lnSpc>
              <a:buNone/>
            </a:pPr>
            <a:r>
              <a:rPr lang="en-US" sz="5000" b="1" spc="-120" kern="0" dirty="0">
                <a:solidFill>
                  <a:srgbClr val="EAF2FF"/>
                </a:solidFill>
                <a:latin typeface="Calibri" pitchFamily="34" charset="0"/>
                <a:ea typeface="Calibri" pitchFamily="34" charset="-122"/>
                <a:cs typeface="Calibri" pitchFamily="34" charset="-120"/>
              </a:rPr>
              <a:t>ready to ring.</a:t>
            </a:r>
            <a:endParaRPr lang="en-US" sz="5000" dirty="0"/>
          </a:p>
        </p:txBody>
      </p:sp>
      <p:sp>
        <p:nvSpPr>
          <p:cNvPr id="7" name="Text 5"/>
          <p:cNvSpPr/>
          <p:nvPr/>
        </p:nvSpPr>
        <p:spPr>
          <a:xfrm>
            <a:off x="658368" y="4443984"/>
            <a:ext cx="7863840" cy="822960"/>
          </a:xfrm>
          <a:prstGeom prst="rect">
            <a:avLst/>
          </a:prstGeom>
          <a:noFill/>
          <a:ln/>
        </p:spPr>
        <p:txBody>
          <a:bodyPr wrap="square" lIns="0" tIns="0" rIns="0" bIns="0" rtlCol="0" anchor="ctr"/>
          <a:lstStyle/>
          <a:p>
            <a:pPr indent="0" marL="0">
              <a:lnSpc>
                <a:spcPts val="2300"/>
              </a:lnSpc>
              <a:buNone/>
            </a:pPr>
            <a:r>
              <a:rPr lang="en-US" sz="1500" dirty="0">
                <a:solidFill>
                  <a:srgbClr val="8FA3C0"/>
                </a:solidFill>
                <a:latin typeface="Calibri" pitchFamily="34" charset="0"/>
                <a:ea typeface="Calibri" pitchFamily="34" charset="-122"/>
                <a:cs typeface="Calibri" pitchFamily="34" charset="-120"/>
              </a:rPr>
              <a:t>Everything developed for Restoration Royalty and the surrounding network since Thursday — every site, every phase, every look — assembled in one place.</a:t>
            </a:r>
            <a:endParaRPr lang="en-US" sz="1500" dirty="0"/>
          </a:p>
        </p:txBody>
      </p:sp>
      <p:sp>
        <p:nvSpPr>
          <p:cNvPr id="8" name="Text 6"/>
          <p:cNvSpPr/>
          <p:nvPr/>
        </p:nvSpPr>
        <p:spPr>
          <a:xfrm>
            <a:off x="658368" y="5742432"/>
            <a:ext cx="10872216" cy="274320"/>
          </a:xfrm>
          <a:prstGeom prst="rect">
            <a:avLst/>
          </a:prstGeom>
          <a:noFill/>
          <a:ln/>
        </p:spPr>
        <p:txBody>
          <a:bodyPr wrap="square" lIns="0" tIns="0" rIns="0" bIns="0" rtlCol="0" anchor="ctr"/>
          <a:lstStyle/>
          <a:p>
            <a:pPr indent="0" marL="0">
              <a:buNone/>
            </a:pPr>
            <a:r>
              <a:rPr lang="en-US" sz="1200" dirty="0">
                <a:solidFill>
                  <a:srgbClr val="6C7FA3"/>
                </a:solidFill>
                <a:latin typeface="Calibri" pitchFamily="34" charset="0"/>
                <a:ea typeface="Calibri" pitchFamily="34" charset="-122"/>
                <a:cs typeface="Calibri" pitchFamily="34" charset="-120"/>
              </a:rPr>
              <a:t>Prepared for Jimmy Mejia, Restoration Royalty LLC   ·   By David Drew Allen, Telvergence, Inc.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WHERE WE STAND</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The short version</a:t>
            </a:r>
            <a:endParaRPr lang="en-US" sz="3400" dirty="0"/>
          </a:p>
        </p:txBody>
      </p:sp>
      <p:sp>
        <p:nvSpPr>
          <p:cNvPr id="4" name="Text 2"/>
          <p:cNvSpPr/>
          <p:nvPr/>
        </p:nvSpPr>
        <p:spPr>
          <a:xfrm>
            <a:off x="658368" y="1627632"/>
            <a:ext cx="9350106" cy="658368"/>
          </a:xfrm>
          <a:prstGeom prst="rect">
            <a:avLst/>
          </a:prstGeom>
          <a:noFill/>
          <a:ln/>
        </p:spPr>
        <p:txBody>
          <a:bodyPr wrap="square" lIns="0" tIns="0" rIns="0" bIns="0" rtlCol="0" anchor="ctr"/>
          <a:lstStyle/>
          <a:p>
            <a:pPr indent="0" marL="0">
              <a:lnSpc>
                <a:spcPts val="2200"/>
              </a:lnSpc>
              <a:buNone/>
            </a:pPr>
            <a:r>
              <a:rPr lang="en-US" sz="1500" dirty="0">
                <a:solidFill>
                  <a:srgbClr val="8FA3C0"/>
                </a:solidFill>
                <a:latin typeface="Calibri" pitchFamily="34" charset="0"/>
                <a:ea typeface="Calibri" pitchFamily="34" charset="-122"/>
                <a:cs typeface="Calibri" pitchFamily="34" charset="-120"/>
              </a:rPr>
              <a:t>Restoration Royalty is enrolled with a ten-number Smart-DID block, four funnel sites are built and staged, and the Orlando and South Florida call campaign is scripted, scrubbed, and loaded.</a:t>
            </a:r>
            <a:endParaRPr lang="en-US" sz="1500" dirty="0"/>
          </a:p>
        </p:txBody>
      </p:sp>
      <p:sp>
        <p:nvSpPr>
          <p:cNvPr id="5" name="Shape 3"/>
          <p:cNvSpPr/>
          <p:nvPr/>
        </p:nvSpPr>
        <p:spPr>
          <a:xfrm>
            <a:off x="658368" y="2743200"/>
            <a:ext cx="2523744" cy="1700784"/>
          </a:xfrm>
          <a:prstGeom prst="roundRect">
            <a:avLst>
              <a:gd name="adj" fmla="val 6452"/>
            </a:avLst>
          </a:prstGeom>
          <a:solidFill>
            <a:srgbClr val="101A33"/>
          </a:solidFill>
          <a:ln w="12700">
            <a:solidFill>
              <a:srgbClr val="1E2E4A"/>
            </a:solidFill>
            <a:prstDash val="solid"/>
          </a:ln>
        </p:spPr>
      </p:sp>
      <p:sp>
        <p:nvSpPr>
          <p:cNvPr id="6" name="Text 4"/>
          <p:cNvSpPr/>
          <p:nvPr/>
        </p:nvSpPr>
        <p:spPr>
          <a:xfrm>
            <a:off x="914400" y="2962656"/>
            <a:ext cx="2066544" cy="640080"/>
          </a:xfrm>
          <a:prstGeom prst="rect">
            <a:avLst/>
          </a:prstGeom>
          <a:noFill/>
          <a:ln/>
        </p:spPr>
        <p:txBody>
          <a:bodyPr wrap="square" lIns="0" tIns="0" rIns="0" bIns="0" rtlCol="0" anchor="ctr"/>
          <a:lstStyle/>
          <a:p>
            <a:pPr indent="0" marL="0">
              <a:buNone/>
            </a:pPr>
            <a:r>
              <a:rPr lang="en-US" sz="4000" b="1" spc="-100" kern="0" dirty="0">
                <a:solidFill>
                  <a:srgbClr val="00D4FF"/>
                </a:solidFill>
                <a:latin typeface="Calibri" pitchFamily="34" charset="0"/>
                <a:ea typeface="Calibri" pitchFamily="34" charset="-122"/>
                <a:cs typeface="Calibri" pitchFamily="34" charset="-120"/>
              </a:rPr>
              <a:t>10</a:t>
            </a:r>
            <a:endParaRPr lang="en-US" sz="4000" dirty="0"/>
          </a:p>
        </p:txBody>
      </p:sp>
      <p:sp>
        <p:nvSpPr>
          <p:cNvPr id="7" name="Text 5"/>
          <p:cNvSpPr/>
          <p:nvPr/>
        </p:nvSpPr>
        <p:spPr>
          <a:xfrm>
            <a:off x="914400" y="3675888"/>
            <a:ext cx="2066544" cy="60350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Smart-DIDs assigned</a:t>
            </a:r>
            <a:endParaRPr lang="en-US" sz="1200" dirty="0"/>
          </a:p>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to the 786-400 block</a:t>
            </a:r>
            <a:endParaRPr lang="en-US" sz="1200" dirty="0"/>
          </a:p>
        </p:txBody>
      </p:sp>
      <p:sp>
        <p:nvSpPr>
          <p:cNvPr id="8" name="Shape 6"/>
          <p:cNvSpPr/>
          <p:nvPr/>
        </p:nvSpPr>
        <p:spPr>
          <a:xfrm>
            <a:off x="3438144" y="2743200"/>
            <a:ext cx="2523744" cy="1700784"/>
          </a:xfrm>
          <a:prstGeom prst="roundRect">
            <a:avLst>
              <a:gd name="adj" fmla="val 6452"/>
            </a:avLst>
          </a:prstGeom>
          <a:solidFill>
            <a:srgbClr val="101A33"/>
          </a:solidFill>
          <a:ln w="12700">
            <a:solidFill>
              <a:srgbClr val="1E2E4A"/>
            </a:solidFill>
            <a:prstDash val="solid"/>
          </a:ln>
        </p:spPr>
      </p:sp>
      <p:sp>
        <p:nvSpPr>
          <p:cNvPr id="9" name="Text 7"/>
          <p:cNvSpPr/>
          <p:nvPr/>
        </p:nvSpPr>
        <p:spPr>
          <a:xfrm>
            <a:off x="3694176" y="2962656"/>
            <a:ext cx="2066544" cy="640080"/>
          </a:xfrm>
          <a:prstGeom prst="rect">
            <a:avLst/>
          </a:prstGeom>
          <a:noFill/>
          <a:ln/>
        </p:spPr>
        <p:txBody>
          <a:bodyPr wrap="square" lIns="0" tIns="0" rIns="0" bIns="0" rtlCol="0" anchor="ctr"/>
          <a:lstStyle/>
          <a:p>
            <a:pPr indent="0" marL="0">
              <a:buNone/>
            </a:pPr>
            <a:r>
              <a:rPr lang="en-US" sz="4000" b="1" spc="-100" kern="0" dirty="0">
                <a:solidFill>
                  <a:srgbClr val="00FF88"/>
                </a:solidFill>
                <a:latin typeface="Calibri" pitchFamily="34" charset="0"/>
                <a:ea typeface="Calibri" pitchFamily="34" charset="-122"/>
                <a:cs typeface="Calibri" pitchFamily="34" charset="-120"/>
              </a:rPr>
              <a:t>$22.95</a:t>
            </a:r>
            <a:endParaRPr lang="en-US" sz="4000" dirty="0"/>
          </a:p>
        </p:txBody>
      </p:sp>
      <p:sp>
        <p:nvSpPr>
          <p:cNvPr id="10" name="Text 8"/>
          <p:cNvSpPr/>
          <p:nvPr/>
        </p:nvSpPr>
        <p:spPr>
          <a:xfrm>
            <a:off x="3694176" y="3675888"/>
            <a:ext cx="2066544" cy="60350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Per line, per month</a:t>
            </a:r>
            <a:endParaRPr lang="en-US" sz="1200" dirty="0"/>
          </a:p>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all-in, no setup</a:t>
            </a:r>
            <a:endParaRPr lang="en-US" sz="1200" dirty="0"/>
          </a:p>
        </p:txBody>
      </p:sp>
      <p:sp>
        <p:nvSpPr>
          <p:cNvPr id="11" name="Shape 9"/>
          <p:cNvSpPr/>
          <p:nvPr/>
        </p:nvSpPr>
        <p:spPr>
          <a:xfrm>
            <a:off x="6217920" y="2743200"/>
            <a:ext cx="2523744" cy="1700784"/>
          </a:xfrm>
          <a:prstGeom prst="roundRect">
            <a:avLst>
              <a:gd name="adj" fmla="val 6452"/>
            </a:avLst>
          </a:prstGeom>
          <a:solidFill>
            <a:srgbClr val="101A33"/>
          </a:solidFill>
          <a:ln w="12700">
            <a:solidFill>
              <a:srgbClr val="1E2E4A"/>
            </a:solidFill>
            <a:prstDash val="solid"/>
          </a:ln>
        </p:spPr>
      </p:sp>
      <p:sp>
        <p:nvSpPr>
          <p:cNvPr id="12" name="Text 10"/>
          <p:cNvSpPr/>
          <p:nvPr/>
        </p:nvSpPr>
        <p:spPr>
          <a:xfrm>
            <a:off x="6473952" y="2962656"/>
            <a:ext cx="2066544" cy="640080"/>
          </a:xfrm>
          <a:prstGeom prst="rect">
            <a:avLst/>
          </a:prstGeom>
          <a:noFill/>
          <a:ln/>
        </p:spPr>
        <p:txBody>
          <a:bodyPr wrap="square" lIns="0" tIns="0" rIns="0" bIns="0" rtlCol="0" anchor="ctr"/>
          <a:lstStyle/>
          <a:p>
            <a:pPr indent="0" marL="0">
              <a:buNone/>
            </a:pPr>
            <a:r>
              <a:rPr lang="en-US" sz="4000" b="1" spc="-100" kern="0" dirty="0">
                <a:solidFill>
                  <a:srgbClr val="FFC24B"/>
                </a:solidFill>
                <a:latin typeface="Calibri" pitchFamily="34" charset="0"/>
                <a:ea typeface="Calibri" pitchFamily="34" charset="-122"/>
                <a:cs typeface="Calibri" pitchFamily="34" charset="-120"/>
              </a:rPr>
              <a:t>4</a:t>
            </a:r>
            <a:endParaRPr lang="en-US" sz="4000" dirty="0"/>
          </a:p>
        </p:txBody>
      </p:sp>
      <p:sp>
        <p:nvSpPr>
          <p:cNvPr id="13" name="Text 11"/>
          <p:cNvSpPr/>
          <p:nvPr/>
        </p:nvSpPr>
        <p:spPr>
          <a:xfrm>
            <a:off x="6473952" y="3675888"/>
            <a:ext cx="2066544" cy="60350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Funnel sites</a:t>
            </a:r>
            <a:endParaRPr lang="en-US" sz="1200" dirty="0"/>
          </a:p>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built and staged</a:t>
            </a:r>
            <a:endParaRPr lang="en-US" sz="1200" dirty="0"/>
          </a:p>
        </p:txBody>
      </p:sp>
      <p:sp>
        <p:nvSpPr>
          <p:cNvPr id="14" name="Shape 12"/>
          <p:cNvSpPr/>
          <p:nvPr/>
        </p:nvSpPr>
        <p:spPr>
          <a:xfrm>
            <a:off x="8997696" y="2743200"/>
            <a:ext cx="2523744" cy="1700784"/>
          </a:xfrm>
          <a:prstGeom prst="roundRect">
            <a:avLst>
              <a:gd name="adj" fmla="val 6452"/>
            </a:avLst>
          </a:prstGeom>
          <a:solidFill>
            <a:srgbClr val="101A33"/>
          </a:solidFill>
          <a:ln w="12700">
            <a:solidFill>
              <a:srgbClr val="1E2E4A"/>
            </a:solidFill>
            <a:prstDash val="solid"/>
          </a:ln>
        </p:spPr>
      </p:sp>
      <p:sp>
        <p:nvSpPr>
          <p:cNvPr id="15" name="Text 13"/>
          <p:cNvSpPr/>
          <p:nvPr/>
        </p:nvSpPr>
        <p:spPr>
          <a:xfrm>
            <a:off x="9253728" y="2962656"/>
            <a:ext cx="2066544" cy="640080"/>
          </a:xfrm>
          <a:prstGeom prst="rect">
            <a:avLst/>
          </a:prstGeom>
          <a:noFill/>
          <a:ln/>
        </p:spPr>
        <p:txBody>
          <a:bodyPr wrap="square" lIns="0" tIns="0" rIns="0" bIns="0" rtlCol="0" anchor="ctr"/>
          <a:lstStyle/>
          <a:p>
            <a:pPr indent="0" marL="0">
              <a:buNone/>
            </a:pPr>
            <a:r>
              <a:rPr lang="en-US" sz="4000" b="1" spc="-100" kern="0" dirty="0">
                <a:solidFill>
                  <a:srgbClr val="FF7A45"/>
                </a:solidFill>
                <a:latin typeface="Calibri" pitchFamily="34" charset="0"/>
                <a:ea typeface="Calibri" pitchFamily="34" charset="-122"/>
                <a:cs typeface="Calibri" pitchFamily="34" charset="-120"/>
              </a:rPr>
              <a:t>2</a:t>
            </a:r>
            <a:endParaRPr lang="en-US" sz="4000" dirty="0"/>
          </a:p>
        </p:txBody>
      </p:sp>
      <p:sp>
        <p:nvSpPr>
          <p:cNvPr id="16" name="Text 14"/>
          <p:cNvSpPr/>
          <p:nvPr/>
        </p:nvSpPr>
        <p:spPr>
          <a:xfrm>
            <a:off x="9253728" y="3675888"/>
            <a:ext cx="2066544" cy="60350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Markets loaded</a:t>
            </a:r>
            <a:endParaRPr lang="en-US" sz="1200" dirty="0"/>
          </a:p>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Orlando + South Florida</a:t>
            </a:r>
            <a:endParaRPr lang="en-US" sz="1200" dirty="0"/>
          </a:p>
        </p:txBody>
      </p:sp>
      <p:sp>
        <p:nvSpPr>
          <p:cNvPr id="17" name="Text 15"/>
          <p:cNvSpPr/>
          <p:nvPr/>
        </p:nvSpPr>
        <p:spPr>
          <a:xfrm>
            <a:off x="658368" y="4901184"/>
            <a:ext cx="10872216" cy="365760"/>
          </a:xfrm>
          <a:prstGeom prst="rect">
            <a:avLst/>
          </a:prstGeom>
          <a:noFill/>
          <a:ln/>
        </p:spPr>
        <p:txBody>
          <a:bodyPr wrap="square" lIns="0" tIns="0" rIns="0" bIns="0" rtlCol="0" anchor="ctr"/>
          <a:lstStyle/>
          <a:p>
            <a:pPr indent="0" marL="0">
              <a:buNone/>
            </a:pPr>
            <a:r>
              <a:rPr lang="en-US" sz="1600" i="1" dirty="0">
                <a:solidFill>
                  <a:srgbClr val="EAF2FF"/>
                </a:solidFill>
                <a:latin typeface="Calibri" pitchFamily="34" charset="0"/>
                <a:ea typeface="Calibri" pitchFamily="34" charset="-122"/>
                <a:cs typeface="Calibri" pitchFamily="34" charset="-120"/>
              </a:rPr>
              <a:t>The narrative is mold, water damage, and roofing — the work that repeats, insures cleanly, and books fast.</a:t>
            </a:r>
            <a:endParaRPr lang="en-US" sz="1600" dirty="0"/>
          </a:p>
        </p:txBody>
      </p:sp>
      <p:sp>
        <p:nvSpPr>
          <p:cNvPr id="18" name="Text 16"/>
          <p:cNvSpPr/>
          <p:nvPr/>
        </p:nvSpPr>
        <p:spPr>
          <a:xfrm>
            <a:off x="658368" y="6291072"/>
            <a:ext cx="10872216" cy="237744"/>
          </a:xfrm>
          <a:prstGeom prst="rect">
            <a:avLst/>
          </a:prstGeom>
          <a:noFill/>
          <a:ln/>
        </p:spPr>
        <p:txBody>
          <a:bodyPr wrap="square" lIns="0" tIns="0" rIns="0" bIns="0" rtlCol="0" anchor="ctr"/>
          <a:lstStyle/>
          <a:p>
            <a:pPr indent="0" marL="0">
              <a:buNone/>
            </a:pPr>
            <a:r>
              <a:rPr lang="en-US" sz="900" dirty="0">
                <a:solidFill>
                  <a:srgbClr val="54658A"/>
                </a:solidFill>
                <a:latin typeface="Calibri" pitchFamily="34" charset="0"/>
                <a:ea typeface="Calibri" pitchFamily="34" charset="-122"/>
                <a:cs typeface="Calibri" pitchFamily="34" charset="-120"/>
              </a:rPr>
              <a:t>Telvergence, Inc.  ·  Confidential — prepared for Jimmy Mejia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PHASE LOG · PART ONE</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What got built — Thursday and Friday</a:t>
            </a:r>
            <a:endParaRPr lang="en-US" sz="3400" dirty="0"/>
          </a:p>
        </p:txBody>
      </p:sp>
      <p:sp>
        <p:nvSpPr>
          <p:cNvPr id="4" name="Shape 2"/>
          <p:cNvSpPr/>
          <p:nvPr/>
        </p:nvSpPr>
        <p:spPr>
          <a:xfrm>
            <a:off x="658368" y="1883664"/>
            <a:ext cx="402336" cy="402336"/>
          </a:xfrm>
          <a:prstGeom prst="ellipse">
            <a:avLst/>
          </a:prstGeom>
          <a:solidFill>
            <a:srgbClr val="16233F"/>
          </a:solidFill>
          <a:ln w="15875">
            <a:solidFill>
              <a:srgbClr val="00D4FF"/>
            </a:solidFill>
            <a:prstDash val="solid"/>
          </a:ln>
        </p:spPr>
      </p:sp>
      <p:sp>
        <p:nvSpPr>
          <p:cNvPr id="5" name="Text 3"/>
          <p:cNvSpPr/>
          <p:nvPr/>
        </p:nvSpPr>
        <p:spPr>
          <a:xfrm>
            <a:off x="658368" y="1883664"/>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316736" y="1828800"/>
            <a:ext cx="2743200" cy="201168"/>
          </a:xfrm>
          <a:prstGeom prst="rect">
            <a:avLst/>
          </a:prstGeom>
          <a:noFill/>
          <a:ln/>
        </p:spPr>
        <p:txBody>
          <a:bodyPr wrap="square" lIns="0" tIns="0" rIns="0" bIns="0" rtlCol="0" anchor="ctr"/>
          <a:lstStyle/>
          <a:p>
            <a:pPr indent="0" marL="0">
              <a:buNone/>
            </a:pPr>
            <a:r>
              <a:rPr lang="en-US" sz="950" b="1" spc="160" kern="0" dirty="0">
                <a:solidFill>
                  <a:srgbClr val="FFC24B"/>
                </a:solidFill>
                <a:latin typeface="Calibri" pitchFamily="34" charset="0"/>
                <a:ea typeface="Calibri" pitchFamily="34" charset="-122"/>
                <a:cs typeface="Calibri" pitchFamily="34" charset="-120"/>
              </a:rPr>
              <a:t>DAY 1 — THURSDAY</a:t>
            </a:r>
            <a:endParaRPr lang="en-US" sz="950" dirty="0"/>
          </a:p>
        </p:txBody>
      </p:sp>
      <p:sp>
        <p:nvSpPr>
          <p:cNvPr id="7" name="Text 5"/>
          <p:cNvSpPr/>
          <p:nvPr/>
        </p:nvSpPr>
        <p:spPr>
          <a:xfrm>
            <a:off x="1316736" y="2011680"/>
            <a:ext cx="3931920" cy="27432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Accuracy pass</a:t>
            </a:r>
            <a:endParaRPr lang="en-US" sz="1600" dirty="0"/>
          </a:p>
        </p:txBody>
      </p:sp>
      <p:sp>
        <p:nvSpPr>
          <p:cNvPr id="8" name="Text 6"/>
          <p:cNvSpPr/>
          <p:nvPr/>
        </p:nvSpPr>
        <p:spPr>
          <a:xfrm>
            <a:off x="5367528" y="1847088"/>
            <a:ext cx="6163056" cy="78638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Every Restoration Royalty and FAST document, LOA, script, and call list pulled into one verified fact sheet. Legal names, service area, number block, and price all locked to a source document.</a:t>
            </a:r>
            <a:endParaRPr lang="en-US" sz="1200" dirty="0"/>
          </a:p>
        </p:txBody>
      </p:sp>
      <p:sp>
        <p:nvSpPr>
          <p:cNvPr id="9" name="Shape 7"/>
          <p:cNvSpPr/>
          <p:nvPr/>
        </p:nvSpPr>
        <p:spPr>
          <a:xfrm>
            <a:off x="658368" y="2816352"/>
            <a:ext cx="402336" cy="402336"/>
          </a:xfrm>
          <a:prstGeom prst="ellipse">
            <a:avLst/>
          </a:prstGeom>
          <a:solidFill>
            <a:srgbClr val="16233F"/>
          </a:solidFill>
          <a:ln w="15875">
            <a:solidFill>
              <a:srgbClr val="00D4FF"/>
            </a:solidFill>
            <a:prstDash val="solid"/>
          </a:ln>
        </p:spPr>
      </p:sp>
      <p:sp>
        <p:nvSpPr>
          <p:cNvPr id="10" name="Text 8"/>
          <p:cNvSpPr/>
          <p:nvPr/>
        </p:nvSpPr>
        <p:spPr>
          <a:xfrm>
            <a:off x="658368" y="2816352"/>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316736" y="2761488"/>
            <a:ext cx="2743200" cy="201168"/>
          </a:xfrm>
          <a:prstGeom prst="rect">
            <a:avLst/>
          </a:prstGeom>
          <a:noFill/>
          <a:ln/>
        </p:spPr>
        <p:txBody>
          <a:bodyPr wrap="square" lIns="0" tIns="0" rIns="0" bIns="0" rtlCol="0" anchor="ctr"/>
          <a:lstStyle/>
          <a:p>
            <a:pPr indent="0" marL="0">
              <a:buNone/>
            </a:pPr>
            <a:r>
              <a:rPr lang="en-US" sz="950" b="1" spc="160" kern="0" dirty="0">
                <a:solidFill>
                  <a:srgbClr val="FFC24B"/>
                </a:solidFill>
                <a:latin typeface="Calibri" pitchFamily="34" charset="0"/>
                <a:ea typeface="Calibri" pitchFamily="34" charset="-122"/>
                <a:cs typeface="Calibri" pitchFamily="34" charset="-120"/>
              </a:rPr>
              <a:t>DAY 1 — THURSDAY</a:t>
            </a:r>
            <a:endParaRPr lang="en-US" sz="950" dirty="0"/>
          </a:p>
        </p:txBody>
      </p:sp>
      <p:sp>
        <p:nvSpPr>
          <p:cNvPr id="12" name="Text 10"/>
          <p:cNvSpPr/>
          <p:nvPr/>
        </p:nvSpPr>
        <p:spPr>
          <a:xfrm>
            <a:off x="1316736" y="2944368"/>
            <a:ext cx="3931920" cy="27432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Restoration Royalty funnel</a:t>
            </a:r>
            <a:endParaRPr lang="en-US" sz="1600" dirty="0"/>
          </a:p>
        </p:txBody>
      </p:sp>
      <p:sp>
        <p:nvSpPr>
          <p:cNvPr id="13" name="Text 11"/>
          <p:cNvSpPr/>
          <p:nvPr/>
        </p:nvSpPr>
        <p:spPr>
          <a:xfrm>
            <a:off x="5367528" y="2779776"/>
            <a:ext cx="6163056" cy="78638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The core site: mold, water damage, and roofing across South Florida. Ten-number grid, 24/7 intake, insurance-documented workflow, free assessment as the call to action.</a:t>
            </a:r>
            <a:endParaRPr lang="en-US" sz="1200" dirty="0"/>
          </a:p>
        </p:txBody>
      </p:sp>
      <p:sp>
        <p:nvSpPr>
          <p:cNvPr id="14" name="Shape 12"/>
          <p:cNvSpPr/>
          <p:nvPr/>
        </p:nvSpPr>
        <p:spPr>
          <a:xfrm>
            <a:off x="658368" y="3749040"/>
            <a:ext cx="402336" cy="402336"/>
          </a:xfrm>
          <a:prstGeom prst="ellipse">
            <a:avLst/>
          </a:prstGeom>
          <a:solidFill>
            <a:srgbClr val="16233F"/>
          </a:solidFill>
          <a:ln w="15875">
            <a:solidFill>
              <a:srgbClr val="00D4FF"/>
            </a:solidFill>
            <a:prstDash val="solid"/>
          </a:ln>
        </p:spPr>
      </p:sp>
      <p:sp>
        <p:nvSpPr>
          <p:cNvPr id="15" name="Text 13"/>
          <p:cNvSpPr/>
          <p:nvPr/>
        </p:nvSpPr>
        <p:spPr>
          <a:xfrm>
            <a:off x="658368" y="3749040"/>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316736" y="3694176"/>
            <a:ext cx="2743200" cy="201168"/>
          </a:xfrm>
          <a:prstGeom prst="rect">
            <a:avLst/>
          </a:prstGeom>
          <a:noFill/>
          <a:ln/>
        </p:spPr>
        <p:txBody>
          <a:bodyPr wrap="square" lIns="0" tIns="0" rIns="0" bIns="0" rtlCol="0" anchor="ctr"/>
          <a:lstStyle/>
          <a:p>
            <a:pPr indent="0" marL="0">
              <a:buNone/>
            </a:pPr>
            <a:r>
              <a:rPr lang="en-US" sz="950" b="1" spc="160" kern="0" dirty="0">
                <a:solidFill>
                  <a:srgbClr val="FFC24B"/>
                </a:solidFill>
                <a:latin typeface="Calibri" pitchFamily="34" charset="0"/>
                <a:ea typeface="Calibri" pitchFamily="34" charset="-122"/>
                <a:cs typeface="Calibri" pitchFamily="34" charset="-120"/>
              </a:rPr>
              <a:t>DAY 2 — FRIDAY</a:t>
            </a:r>
            <a:endParaRPr lang="en-US" sz="950" dirty="0"/>
          </a:p>
        </p:txBody>
      </p:sp>
      <p:sp>
        <p:nvSpPr>
          <p:cNvPr id="17" name="Text 15"/>
          <p:cNvSpPr/>
          <p:nvPr/>
        </p:nvSpPr>
        <p:spPr>
          <a:xfrm>
            <a:off x="1316736" y="3877056"/>
            <a:ext cx="3931920" cy="27432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Vanity edition</a:t>
            </a:r>
            <a:endParaRPr lang="en-US" sz="1600" dirty="0"/>
          </a:p>
        </p:txBody>
      </p:sp>
      <p:sp>
        <p:nvSpPr>
          <p:cNvPr id="18" name="Text 16"/>
          <p:cNvSpPr/>
          <p:nvPr/>
        </p:nvSpPr>
        <p:spPr>
          <a:xfrm>
            <a:off x="5367528" y="3712464"/>
            <a:ext cx="6163056" cy="78638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A second Restoration Royalty treatment built around memorable vanity numbers instead of the sequential block, so both directions can be compared side by side.</a:t>
            </a:r>
            <a:endParaRPr lang="en-US" sz="1200" dirty="0"/>
          </a:p>
        </p:txBody>
      </p:sp>
      <p:sp>
        <p:nvSpPr>
          <p:cNvPr id="19" name="Shape 17"/>
          <p:cNvSpPr/>
          <p:nvPr/>
        </p:nvSpPr>
        <p:spPr>
          <a:xfrm>
            <a:off x="658368" y="4681728"/>
            <a:ext cx="402336" cy="402336"/>
          </a:xfrm>
          <a:prstGeom prst="ellipse">
            <a:avLst/>
          </a:prstGeom>
          <a:solidFill>
            <a:srgbClr val="16233F"/>
          </a:solidFill>
          <a:ln w="15875">
            <a:solidFill>
              <a:srgbClr val="00D4FF"/>
            </a:solidFill>
            <a:prstDash val="solid"/>
          </a:ln>
        </p:spPr>
      </p:sp>
      <p:sp>
        <p:nvSpPr>
          <p:cNvPr id="20" name="Text 18"/>
          <p:cNvSpPr/>
          <p:nvPr/>
        </p:nvSpPr>
        <p:spPr>
          <a:xfrm>
            <a:off x="658368" y="4681728"/>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316736" y="4626864"/>
            <a:ext cx="2743200" cy="201168"/>
          </a:xfrm>
          <a:prstGeom prst="rect">
            <a:avLst/>
          </a:prstGeom>
          <a:noFill/>
          <a:ln/>
        </p:spPr>
        <p:txBody>
          <a:bodyPr wrap="square" lIns="0" tIns="0" rIns="0" bIns="0" rtlCol="0" anchor="ctr"/>
          <a:lstStyle/>
          <a:p>
            <a:pPr indent="0" marL="0">
              <a:buNone/>
            </a:pPr>
            <a:r>
              <a:rPr lang="en-US" sz="950" b="1" spc="160" kern="0" dirty="0">
                <a:solidFill>
                  <a:srgbClr val="FFC24B"/>
                </a:solidFill>
                <a:latin typeface="Calibri" pitchFamily="34" charset="0"/>
                <a:ea typeface="Calibri" pitchFamily="34" charset="-122"/>
                <a:cs typeface="Calibri" pitchFamily="34" charset="-120"/>
              </a:rPr>
              <a:t>DAY 2 — FRIDAY</a:t>
            </a:r>
            <a:endParaRPr lang="en-US" sz="950" dirty="0"/>
          </a:p>
        </p:txBody>
      </p:sp>
      <p:sp>
        <p:nvSpPr>
          <p:cNvPr id="22" name="Text 20"/>
          <p:cNvSpPr/>
          <p:nvPr/>
        </p:nvSpPr>
        <p:spPr>
          <a:xfrm>
            <a:off x="1316736" y="4809744"/>
            <a:ext cx="3931920" cy="27432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FAST Adjusting funnel</a:t>
            </a:r>
            <a:endParaRPr lang="en-US" sz="1600" dirty="0"/>
          </a:p>
        </p:txBody>
      </p:sp>
      <p:sp>
        <p:nvSpPr>
          <p:cNvPr id="23" name="Text 21"/>
          <p:cNvSpPr/>
          <p:nvPr/>
        </p:nvSpPr>
        <p:spPr>
          <a:xfrm>
            <a:off x="5367528" y="4645152"/>
            <a:ext cx="6163056" cy="78638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Public-adjusting site with a live claims command center, a refer-and-earn ladder, and the one-page start. Same engine, different trade.</a:t>
            </a:r>
            <a:endParaRPr lang="en-US" sz="1200" dirty="0"/>
          </a:p>
        </p:txBody>
      </p:sp>
      <p:sp>
        <p:nvSpPr>
          <p:cNvPr id="24" name="Text 22"/>
          <p:cNvSpPr/>
          <p:nvPr/>
        </p:nvSpPr>
        <p:spPr>
          <a:xfrm>
            <a:off x="658368" y="6291072"/>
            <a:ext cx="10872216" cy="237744"/>
          </a:xfrm>
          <a:prstGeom prst="rect">
            <a:avLst/>
          </a:prstGeom>
          <a:noFill/>
          <a:ln/>
        </p:spPr>
        <p:txBody>
          <a:bodyPr wrap="square" lIns="0" tIns="0" rIns="0" bIns="0" rtlCol="0" anchor="ctr"/>
          <a:lstStyle/>
          <a:p>
            <a:pPr indent="0" marL="0">
              <a:buNone/>
            </a:pPr>
            <a:r>
              <a:rPr lang="en-US" sz="900" dirty="0">
                <a:solidFill>
                  <a:srgbClr val="54658A"/>
                </a:solidFill>
                <a:latin typeface="Calibri" pitchFamily="34" charset="0"/>
                <a:ea typeface="Calibri" pitchFamily="34" charset="-122"/>
                <a:cs typeface="Calibri" pitchFamily="34" charset="-120"/>
              </a:rPr>
              <a:t>Telvergence, Inc.  ·  Confidential — prepared for Jimmy Mejia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PHASE LOG · PART TWO</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What got built — the weekend and today</a:t>
            </a:r>
            <a:endParaRPr lang="en-US" sz="3400" dirty="0"/>
          </a:p>
        </p:txBody>
      </p:sp>
      <p:sp>
        <p:nvSpPr>
          <p:cNvPr id="4" name="Shape 2"/>
          <p:cNvSpPr/>
          <p:nvPr/>
        </p:nvSpPr>
        <p:spPr>
          <a:xfrm>
            <a:off x="658368" y="1883664"/>
            <a:ext cx="402336" cy="402336"/>
          </a:xfrm>
          <a:prstGeom prst="ellipse">
            <a:avLst/>
          </a:prstGeom>
          <a:solidFill>
            <a:srgbClr val="16233F"/>
          </a:solidFill>
          <a:ln w="15875">
            <a:solidFill>
              <a:srgbClr val="00FF88"/>
            </a:solidFill>
            <a:prstDash val="solid"/>
          </a:ln>
        </p:spPr>
      </p:sp>
      <p:sp>
        <p:nvSpPr>
          <p:cNvPr id="5" name="Text 3"/>
          <p:cNvSpPr/>
          <p:nvPr/>
        </p:nvSpPr>
        <p:spPr>
          <a:xfrm>
            <a:off x="658368" y="1883664"/>
            <a:ext cx="402336" cy="402336"/>
          </a:xfrm>
          <a:prstGeom prst="rect">
            <a:avLst/>
          </a:prstGeom>
          <a:noFill/>
          <a:ln/>
        </p:spPr>
        <p:txBody>
          <a:bodyPr wrap="square" lIns="0" tIns="0" rIns="0" bIns="0" rtlCol="0" anchor="ctr"/>
          <a:lstStyle/>
          <a:p>
            <a:pPr algn="ctr" indent="0" marL="0">
              <a:buNone/>
            </a:pPr>
            <a:r>
              <a:rPr lang="en-US" sz="1500" b="1" dirty="0">
                <a:solidFill>
                  <a:srgbClr val="00FF88"/>
                </a:solidFill>
                <a:latin typeface="Calibri" pitchFamily="34" charset="0"/>
                <a:ea typeface="Calibri" pitchFamily="34" charset="-122"/>
                <a:cs typeface="Calibri" pitchFamily="34" charset="-120"/>
              </a:rPr>
              <a:t>5</a:t>
            </a:r>
            <a:endParaRPr lang="en-US" sz="1500" dirty="0"/>
          </a:p>
        </p:txBody>
      </p:sp>
      <p:sp>
        <p:nvSpPr>
          <p:cNvPr id="6" name="Text 4"/>
          <p:cNvSpPr/>
          <p:nvPr/>
        </p:nvSpPr>
        <p:spPr>
          <a:xfrm>
            <a:off x="1316736" y="1828800"/>
            <a:ext cx="2743200" cy="201168"/>
          </a:xfrm>
          <a:prstGeom prst="rect">
            <a:avLst/>
          </a:prstGeom>
          <a:noFill/>
          <a:ln/>
        </p:spPr>
        <p:txBody>
          <a:bodyPr wrap="square" lIns="0" tIns="0" rIns="0" bIns="0" rtlCol="0" anchor="ctr"/>
          <a:lstStyle/>
          <a:p>
            <a:pPr indent="0" marL="0">
              <a:buNone/>
            </a:pPr>
            <a:r>
              <a:rPr lang="en-US" sz="950" b="1" spc="160" kern="0" dirty="0">
                <a:solidFill>
                  <a:srgbClr val="FFC24B"/>
                </a:solidFill>
                <a:latin typeface="Calibri" pitchFamily="34" charset="0"/>
                <a:ea typeface="Calibri" pitchFamily="34" charset="-122"/>
                <a:cs typeface="Calibri" pitchFamily="34" charset="-120"/>
              </a:rPr>
              <a:t>DAY 3 — SATURDAY</a:t>
            </a:r>
            <a:endParaRPr lang="en-US" sz="950" dirty="0"/>
          </a:p>
        </p:txBody>
      </p:sp>
      <p:sp>
        <p:nvSpPr>
          <p:cNvPr id="7" name="Text 5"/>
          <p:cNvSpPr/>
          <p:nvPr/>
        </p:nvSpPr>
        <p:spPr>
          <a:xfrm>
            <a:off x="1316736" y="2011680"/>
            <a:ext cx="3931920" cy="27432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YES Electrical</a:t>
            </a:r>
            <a:endParaRPr lang="en-US" sz="1600" dirty="0"/>
          </a:p>
        </p:txBody>
      </p:sp>
      <p:sp>
        <p:nvSpPr>
          <p:cNvPr id="8" name="Text 6"/>
          <p:cNvSpPr/>
          <p:nvPr/>
        </p:nvSpPr>
        <p:spPr>
          <a:xfrm>
            <a:off x="5367528" y="1847088"/>
            <a:ext cx="6163056" cy="78638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A complete funnel for a contractor who has not signed yet — proof the system reproduces into any trade, in any market, in an afternoon.</a:t>
            </a:r>
            <a:endParaRPr lang="en-US" sz="1200" dirty="0"/>
          </a:p>
        </p:txBody>
      </p:sp>
      <p:sp>
        <p:nvSpPr>
          <p:cNvPr id="9" name="Shape 7"/>
          <p:cNvSpPr/>
          <p:nvPr/>
        </p:nvSpPr>
        <p:spPr>
          <a:xfrm>
            <a:off x="658368" y="2816352"/>
            <a:ext cx="402336" cy="402336"/>
          </a:xfrm>
          <a:prstGeom prst="ellipse">
            <a:avLst/>
          </a:prstGeom>
          <a:solidFill>
            <a:srgbClr val="16233F"/>
          </a:solidFill>
          <a:ln w="15875">
            <a:solidFill>
              <a:srgbClr val="00FF88"/>
            </a:solidFill>
            <a:prstDash val="solid"/>
          </a:ln>
        </p:spPr>
      </p:sp>
      <p:sp>
        <p:nvSpPr>
          <p:cNvPr id="10" name="Text 8"/>
          <p:cNvSpPr/>
          <p:nvPr/>
        </p:nvSpPr>
        <p:spPr>
          <a:xfrm>
            <a:off x="658368" y="2816352"/>
            <a:ext cx="402336" cy="402336"/>
          </a:xfrm>
          <a:prstGeom prst="rect">
            <a:avLst/>
          </a:prstGeom>
          <a:noFill/>
          <a:ln/>
        </p:spPr>
        <p:txBody>
          <a:bodyPr wrap="square" lIns="0" tIns="0" rIns="0" bIns="0" rtlCol="0" anchor="ctr"/>
          <a:lstStyle/>
          <a:p>
            <a:pPr algn="ctr" indent="0" marL="0">
              <a:buNone/>
            </a:pPr>
            <a:r>
              <a:rPr lang="en-US" sz="1500" b="1" dirty="0">
                <a:solidFill>
                  <a:srgbClr val="00FF88"/>
                </a:solidFill>
                <a:latin typeface="Calibri" pitchFamily="34" charset="0"/>
                <a:ea typeface="Calibri" pitchFamily="34" charset="-122"/>
                <a:cs typeface="Calibri" pitchFamily="34" charset="-120"/>
              </a:rPr>
              <a:t>6</a:t>
            </a:r>
            <a:endParaRPr lang="en-US" sz="1500" dirty="0"/>
          </a:p>
        </p:txBody>
      </p:sp>
      <p:sp>
        <p:nvSpPr>
          <p:cNvPr id="11" name="Text 9"/>
          <p:cNvSpPr/>
          <p:nvPr/>
        </p:nvSpPr>
        <p:spPr>
          <a:xfrm>
            <a:off x="1316736" y="2761488"/>
            <a:ext cx="2743200" cy="201168"/>
          </a:xfrm>
          <a:prstGeom prst="rect">
            <a:avLst/>
          </a:prstGeom>
          <a:noFill/>
          <a:ln/>
        </p:spPr>
        <p:txBody>
          <a:bodyPr wrap="square" lIns="0" tIns="0" rIns="0" bIns="0" rtlCol="0" anchor="ctr"/>
          <a:lstStyle/>
          <a:p>
            <a:pPr indent="0" marL="0">
              <a:buNone/>
            </a:pPr>
            <a:r>
              <a:rPr lang="en-US" sz="950" b="1" spc="160" kern="0" dirty="0">
                <a:solidFill>
                  <a:srgbClr val="FFC24B"/>
                </a:solidFill>
                <a:latin typeface="Calibri" pitchFamily="34" charset="0"/>
                <a:ea typeface="Calibri" pitchFamily="34" charset="-122"/>
                <a:cs typeface="Calibri" pitchFamily="34" charset="-120"/>
              </a:rPr>
              <a:t>DAY 3 — SATURDAY</a:t>
            </a:r>
            <a:endParaRPr lang="en-US" sz="950" dirty="0"/>
          </a:p>
        </p:txBody>
      </p:sp>
      <p:sp>
        <p:nvSpPr>
          <p:cNvPr id="12" name="Text 10"/>
          <p:cNvSpPr/>
          <p:nvPr/>
        </p:nvSpPr>
        <p:spPr>
          <a:xfrm>
            <a:off x="1316736" y="2944368"/>
            <a:ext cx="3931920" cy="27432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Storm Dispatch console</a:t>
            </a:r>
            <a:endParaRPr lang="en-US" sz="1600" dirty="0"/>
          </a:p>
        </p:txBody>
      </p:sp>
      <p:sp>
        <p:nvSpPr>
          <p:cNvPr id="13" name="Text 11"/>
          <p:cNvSpPr/>
          <p:nvPr/>
        </p:nvSpPr>
        <p:spPr>
          <a:xfrm>
            <a:off x="5367528" y="2779776"/>
            <a:ext cx="6163056" cy="78638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A nationwide weather grid tied to partner coverage by area code and exchange. When a cell fires over a county, the partners in that footprint light up and demand routes to them.</a:t>
            </a:r>
            <a:endParaRPr lang="en-US" sz="1200" dirty="0"/>
          </a:p>
        </p:txBody>
      </p:sp>
      <p:sp>
        <p:nvSpPr>
          <p:cNvPr id="14" name="Shape 12"/>
          <p:cNvSpPr/>
          <p:nvPr/>
        </p:nvSpPr>
        <p:spPr>
          <a:xfrm>
            <a:off x="658368" y="3749040"/>
            <a:ext cx="402336" cy="402336"/>
          </a:xfrm>
          <a:prstGeom prst="ellipse">
            <a:avLst/>
          </a:prstGeom>
          <a:solidFill>
            <a:srgbClr val="16233F"/>
          </a:solidFill>
          <a:ln w="15875">
            <a:solidFill>
              <a:srgbClr val="00FF88"/>
            </a:solidFill>
            <a:prstDash val="solid"/>
          </a:ln>
        </p:spPr>
      </p:sp>
      <p:sp>
        <p:nvSpPr>
          <p:cNvPr id="15" name="Text 13"/>
          <p:cNvSpPr/>
          <p:nvPr/>
        </p:nvSpPr>
        <p:spPr>
          <a:xfrm>
            <a:off x="658368" y="3749040"/>
            <a:ext cx="402336" cy="402336"/>
          </a:xfrm>
          <a:prstGeom prst="rect">
            <a:avLst/>
          </a:prstGeom>
          <a:noFill/>
          <a:ln/>
        </p:spPr>
        <p:txBody>
          <a:bodyPr wrap="square" lIns="0" tIns="0" rIns="0" bIns="0" rtlCol="0" anchor="ctr"/>
          <a:lstStyle/>
          <a:p>
            <a:pPr algn="ctr" indent="0" marL="0">
              <a:buNone/>
            </a:pPr>
            <a:r>
              <a:rPr lang="en-US" sz="1500" b="1" dirty="0">
                <a:solidFill>
                  <a:srgbClr val="00FF88"/>
                </a:solidFill>
                <a:latin typeface="Calibri" pitchFamily="34" charset="0"/>
                <a:ea typeface="Calibri" pitchFamily="34" charset="-122"/>
                <a:cs typeface="Calibri" pitchFamily="34" charset="-120"/>
              </a:rPr>
              <a:t>7</a:t>
            </a:r>
            <a:endParaRPr lang="en-US" sz="1500" dirty="0"/>
          </a:p>
        </p:txBody>
      </p:sp>
      <p:sp>
        <p:nvSpPr>
          <p:cNvPr id="16" name="Text 14"/>
          <p:cNvSpPr/>
          <p:nvPr/>
        </p:nvSpPr>
        <p:spPr>
          <a:xfrm>
            <a:off x="1316736" y="3694176"/>
            <a:ext cx="2743200" cy="201168"/>
          </a:xfrm>
          <a:prstGeom prst="rect">
            <a:avLst/>
          </a:prstGeom>
          <a:noFill/>
          <a:ln/>
        </p:spPr>
        <p:txBody>
          <a:bodyPr wrap="square" lIns="0" tIns="0" rIns="0" bIns="0" rtlCol="0" anchor="ctr"/>
          <a:lstStyle/>
          <a:p>
            <a:pPr indent="0" marL="0">
              <a:buNone/>
            </a:pPr>
            <a:r>
              <a:rPr lang="en-US" sz="950" b="1" spc="160" kern="0" dirty="0">
                <a:solidFill>
                  <a:srgbClr val="FFC24B"/>
                </a:solidFill>
                <a:latin typeface="Calibri" pitchFamily="34" charset="0"/>
                <a:ea typeface="Calibri" pitchFamily="34" charset="-122"/>
                <a:cs typeface="Calibri" pitchFamily="34" charset="-120"/>
              </a:rPr>
              <a:t>DAY 4 — SUNDAY</a:t>
            </a:r>
            <a:endParaRPr lang="en-US" sz="950" dirty="0"/>
          </a:p>
        </p:txBody>
      </p:sp>
      <p:sp>
        <p:nvSpPr>
          <p:cNvPr id="17" name="Text 15"/>
          <p:cNvSpPr/>
          <p:nvPr/>
        </p:nvSpPr>
        <p:spPr>
          <a:xfrm>
            <a:off x="1316736" y="3877056"/>
            <a:ext cx="3931920" cy="27432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Plan, prospectus, hub</a:t>
            </a:r>
            <a:endParaRPr lang="en-US" sz="1600" dirty="0"/>
          </a:p>
        </p:txBody>
      </p:sp>
      <p:sp>
        <p:nvSpPr>
          <p:cNvPr id="18" name="Text 16"/>
          <p:cNvSpPr/>
          <p:nvPr/>
        </p:nvSpPr>
        <p:spPr>
          <a:xfrm>
            <a:off x="5367528" y="3712464"/>
            <a:ext cx="6163056" cy="78638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The revenue model written down, the master business plan and flywheel, and the Sub-Network Hub — the single presentation that carries the whole argument.</a:t>
            </a:r>
            <a:endParaRPr lang="en-US" sz="1200" dirty="0"/>
          </a:p>
        </p:txBody>
      </p:sp>
      <p:sp>
        <p:nvSpPr>
          <p:cNvPr id="19" name="Shape 17"/>
          <p:cNvSpPr/>
          <p:nvPr/>
        </p:nvSpPr>
        <p:spPr>
          <a:xfrm>
            <a:off x="658368" y="4681728"/>
            <a:ext cx="402336" cy="402336"/>
          </a:xfrm>
          <a:prstGeom prst="ellipse">
            <a:avLst/>
          </a:prstGeom>
          <a:solidFill>
            <a:srgbClr val="16233F"/>
          </a:solidFill>
          <a:ln w="15875">
            <a:solidFill>
              <a:srgbClr val="FFC24B"/>
            </a:solidFill>
            <a:prstDash val="solid"/>
          </a:ln>
        </p:spPr>
      </p:sp>
      <p:sp>
        <p:nvSpPr>
          <p:cNvPr id="20" name="Text 18"/>
          <p:cNvSpPr/>
          <p:nvPr/>
        </p:nvSpPr>
        <p:spPr>
          <a:xfrm>
            <a:off x="658368" y="4681728"/>
            <a:ext cx="402336" cy="402336"/>
          </a:xfrm>
          <a:prstGeom prst="rect">
            <a:avLst/>
          </a:prstGeom>
          <a:noFill/>
          <a:ln/>
        </p:spPr>
        <p:txBody>
          <a:bodyPr wrap="square" lIns="0" tIns="0" rIns="0" bIns="0" rtlCol="0" anchor="ctr"/>
          <a:lstStyle/>
          <a:p>
            <a:pPr algn="ctr" indent="0" marL="0">
              <a:buNone/>
            </a:pPr>
            <a:r>
              <a:rPr lang="en-US" sz="1500" b="1" dirty="0">
                <a:solidFill>
                  <a:srgbClr val="FFC24B"/>
                </a:solidFill>
                <a:latin typeface="Calibri" pitchFamily="34" charset="0"/>
                <a:ea typeface="Calibri" pitchFamily="34" charset="-122"/>
                <a:cs typeface="Calibri" pitchFamily="34" charset="-120"/>
              </a:rPr>
              <a:t>8</a:t>
            </a:r>
            <a:endParaRPr lang="en-US" sz="1500" dirty="0"/>
          </a:p>
        </p:txBody>
      </p:sp>
      <p:sp>
        <p:nvSpPr>
          <p:cNvPr id="21" name="Text 19"/>
          <p:cNvSpPr/>
          <p:nvPr/>
        </p:nvSpPr>
        <p:spPr>
          <a:xfrm>
            <a:off x="1316736" y="4626864"/>
            <a:ext cx="2743200" cy="201168"/>
          </a:xfrm>
          <a:prstGeom prst="rect">
            <a:avLst/>
          </a:prstGeom>
          <a:noFill/>
          <a:ln/>
        </p:spPr>
        <p:txBody>
          <a:bodyPr wrap="square" lIns="0" tIns="0" rIns="0" bIns="0" rtlCol="0" anchor="ctr"/>
          <a:lstStyle/>
          <a:p>
            <a:pPr indent="0" marL="0">
              <a:buNone/>
            </a:pPr>
            <a:r>
              <a:rPr lang="en-US" sz="950" b="1" spc="160" kern="0" dirty="0">
                <a:solidFill>
                  <a:srgbClr val="FFC24B"/>
                </a:solidFill>
                <a:latin typeface="Calibri" pitchFamily="34" charset="0"/>
                <a:ea typeface="Calibri" pitchFamily="34" charset="-122"/>
                <a:cs typeface="Calibri" pitchFamily="34" charset="-120"/>
              </a:rPr>
              <a:t>TODAY — MONDAY</a:t>
            </a:r>
            <a:endParaRPr lang="en-US" sz="950" dirty="0"/>
          </a:p>
        </p:txBody>
      </p:sp>
      <p:sp>
        <p:nvSpPr>
          <p:cNvPr id="22" name="Text 20"/>
          <p:cNvSpPr/>
          <p:nvPr/>
        </p:nvSpPr>
        <p:spPr>
          <a:xfrm>
            <a:off x="1316736" y="4809744"/>
            <a:ext cx="3931920" cy="27432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Deployment and runbook</a:t>
            </a:r>
            <a:endParaRPr lang="en-US" sz="1600" dirty="0"/>
          </a:p>
        </p:txBody>
      </p:sp>
      <p:sp>
        <p:nvSpPr>
          <p:cNvPr id="23" name="Text 21"/>
          <p:cNvSpPr/>
          <p:nvPr/>
        </p:nvSpPr>
        <p:spPr>
          <a:xfrm>
            <a:off x="5367528" y="4645152"/>
            <a:ext cx="6163056" cy="786384"/>
          </a:xfrm>
          <a:prstGeom prst="rect">
            <a:avLst/>
          </a:prstGeom>
          <a:noFill/>
          <a:ln/>
        </p:spPr>
        <p:txBody>
          <a:bodyPr wrap="square" lIns="0" tIns="0" rIns="0" bIns="0" rtlCol="0" anchor="ctr"/>
          <a:lstStyle/>
          <a:p>
            <a:pPr indent="0" marL="0">
              <a:lnSpc>
                <a:spcPts val="1600"/>
              </a:lnSpc>
              <a:buNone/>
            </a:pPr>
            <a:r>
              <a:rPr lang="en-US" sz="1200" dirty="0">
                <a:solidFill>
                  <a:srgbClr val="8FA3C0"/>
                </a:solidFill>
                <a:latin typeface="Calibri" pitchFamily="34" charset="0"/>
                <a:ea typeface="Calibri" pitchFamily="34" charset="-122"/>
                <a:cs typeface="Calibri" pitchFamily="34" charset="-120"/>
              </a:rPr>
              <a:t>All of it staged to one domain behind a clean directory, plus the go-live runbook: targets, caller-ID strategy, verbatim script, compliance rules, morning checklist.</a:t>
            </a:r>
            <a:endParaRPr lang="en-US" sz="1200" dirty="0"/>
          </a:p>
        </p:txBody>
      </p:sp>
      <p:sp>
        <p:nvSpPr>
          <p:cNvPr id="24" name="Text 22"/>
          <p:cNvSpPr/>
          <p:nvPr/>
        </p:nvSpPr>
        <p:spPr>
          <a:xfrm>
            <a:off x="658368" y="6291072"/>
            <a:ext cx="10872216" cy="237744"/>
          </a:xfrm>
          <a:prstGeom prst="rect">
            <a:avLst/>
          </a:prstGeom>
          <a:noFill/>
          <a:ln/>
        </p:spPr>
        <p:txBody>
          <a:bodyPr wrap="square" lIns="0" tIns="0" rIns="0" bIns="0" rtlCol="0" anchor="ctr"/>
          <a:lstStyle/>
          <a:p>
            <a:pPr indent="0" marL="0">
              <a:buNone/>
            </a:pPr>
            <a:r>
              <a:rPr lang="en-US" sz="900" dirty="0">
                <a:solidFill>
                  <a:srgbClr val="54658A"/>
                </a:solidFill>
                <a:latin typeface="Calibri" pitchFamily="34" charset="0"/>
                <a:ea typeface="Calibri" pitchFamily="34" charset="-122"/>
                <a:cs typeface="Calibri" pitchFamily="34" charset="-120"/>
              </a:rPr>
              <a:t>Telvergence, Inc.  ·  Confidential — prepared for Jimmy Mejia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THE PROPERTIES</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Four sites, one engine</a:t>
            </a:r>
            <a:endParaRPr lang="en-US" sz="3400" dirty="0"/>
          </a:p>
        </p:txBody>
      </p:sp>
      <p:sp>
        <p:nvSpPr>
          <p:cNvPr id="4" name="Text 2"/>
          <p:cNvSpPr/>
          <p:nvPr/>
        </p:nvSpPr>
        <p:spPr>
          <a:xfrm>
            <a:off x="658368" y="1627632"/>
            <a:ext cx="9350106" cy="658368"/>
          </a:xfrm>
          <a:prstGeom prst="rect">
            <a:avLst/>
          </a:prstGeom>
          <a:noFill/>
          <a:ln/>
        </p:spPr>
        <p:txBody>
          <a:bodyPr wrap="square" lIns="0" tIns="0" rIns="0" bIns="0" rtlCol="0" anchor="ctr"/>
          <a:lstStyle/>
          <a:p>
            <a:pPr indent="0" marL="0">
              <a:lnSpc>
                <a:spcPts val="2200"/>
              </a:lnSpc>
              <a:buNone/>
            </a:pPr>
            <a:r>
              <a:rPr lang="en-US" sz="1500" dirty="0">
                <a:solidFill>
                  <a:srgbClr val="8FA3C0"/>
                </a:solidFill>
                <a:latin typeface="Calibri" pitchFamily="34" charset="0"/>
                <a:ea typeface="Calibri" pitchFamily="34" charset="-122"/>
                <a:cs typeface="Calibri" pitchFamily="34" charset="-120"/>
              </a:rPr>
              <a:t>Every site that goes up is another net catching calls in the same footprint.</a:t>
            </a:r>
            <a:endParaRPr lang="en-US" sz="1500" dirty="0"/>
          </a:p>
        </p:txBody>
      </p:sp>
      <p:sp>
        <p:nvSpPr>
          <p:cNvPr id="5" name="Shape 3"/>
          <p:cNvSpPr/>
          <p:nvPr/>
        </p:nvSpPr>
        <p:spPr>
          <a:xfrm>
            <a:off x="658368" y="2432304"/>
            <a:ext cx="2523744" cy="2286000"/>
          </a:xfrm>
          <a:prstGeom prst="roundRect">
            <a:avLst>
              <a:gd name="adj" fmla="val 4800"/>
            </a:avLst>
          </a:prstGeom>
          <a:solidFill>
            <a:srgbClr val="101A33"/>
          </a:solidFill>
          <a:ln w="12700">
            <a:solidFill>
              <a:srgbClr val="1E2E4A"/>
            </a:solidFill>
            <a:prstDash val="solid"/>
          </a:ln>
        </p:spPr>
      </p:sp>
      <p:sp>
        <p:nvSpPr>
          <p:cNvPr id="6" name="Shape 4"/>
          <p:cNvSpPr/>
          <p:nvPr/>
        </p:nvSpPr>
        <p:spPr>
          <a:xfrm>
            <a:off x="896112" y="2670048"/>
            <a:ext cx="777240" cy="237744"/>
          </a:xfrm>
          <a:prstGeom prst="roundRect">
            <a:avLst>
              <a:gd name="adj" fmla="val 23077"/>
            </a:avLst>
          </a:prstGeom>
          <a:solidFill>
            <a:srgbClr val="00D4FF"/>
          </a:solidFill>
          <a:ln w="12700">
            <a:solidFill>
              <a:srgbClr val="00D4FF"/>
            </a:solidFill>
            <a:prstDash val="solid"/>
          </a:ln>
        </p:spPr>
      </p:sp>
      <p:sp>
        <p:nvSpPr>
          <p:cNvPr id="7" name="Text 5"/>
          <p:cNvSpPr/>
          <p:nvPr/>
        </p:nvSpPr>
        <p:spPr>
          <a:xfrm>
            <a:off x="896112" y="2670048"/>
            <a:ext cx="777240"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YOURS</a:t>
            </a:r>
            <a:endParaRPr lang="en-US" sz="900" dirty="0"/>
          </a:p>
        </p:txBody>
      </p:sp>
      <p:sp>
        <p:nvSpPr>
          <p:cNvPr id="8" name="Text 6"/>
          <p:cNvSpPr/>
          <p:nvPr/>
        </p:nvSpPr>
        <p:spPr>
          <a:xfrm>
            <a:off x="896112" y="3035808"/>
            <a:ext cx="2066544" cy="512064"/>
          </a:xfrm>
          <a:prstGeom prst="rect">
            <a:avLst/>
          </a:prstGeom>
          <a:noFill/>
          <a:ln/>
        </p:spPr>
        <p:txBody>
          <a:bodyPr wrap="square" lIns="0" tIns="0" rIns="0" bIns="0" rtlCol="0" anchor="ctr"/>
          <a:lstStyle/>
          <a:p>
            <a:pPr indent="0" marL="0">
              <a:lnSpc>
                <a:spcPts val="2000"/>
              </a:lnSpc>
              <a:buNone/>
            </a:pPr>
            <a:r>
              <a:rPr lang="en-US" sz="1700" b="1" dirty="0">
                <a:solidFill>
                  <a:srgbClr val="EAF2FF"/>
                </a:solidFill>
                <a:latin typeface="Calibri" pitchFamily="34" charset="0"/>
                <a:ea typeface="Calibri" pitchFamily="34" charset="-122"/>
                <a:cs typeface="Calibri" pitchFamily="34" charset="-120"/>
              </a:rPr>
              <a:t>Restoration Royalties</a:t>
            </a:r>
            <a:endParaRPr lang="en-US" sz="1700" dirty="0"/>
          </a:p>
        </p:txBody>
      </p:sp>
      <p:sp>
        <p:nvSpPr>
          <p:cNvPr id="9" name="Text 7"/>
          <p:cNvSpPr/>
          <p:nvPr/>
        </p:nvSpPr>
        <p:spPr>
          <a:xfrm>
            <a:off x="896112" y="3584448"/>
            <a:ext cx="2066544" cy="1005840"/>
          </a:xfrm>
          <a:prstGeom prst="rect">
            <a:avLst/>
          </a:prstGeom>
          <a:noFill/>
          <a:ln/>
        </p:spPr>
        <p:txBody>
          <a:bodyPr wrap="square" lIns="0" tIns="0" rIns="0" bIns="0" rtlCol="0" anchor="ctr"/>
          <a:lstStyle/>
          <a:p>
            <a:pPr indent="0" marL="0">
              <a:lnSpc>
                <a:spcPts val="1500"/>
              </a:lnSpc>
              <a:buNone/>
            </a:pPr>
            <a:r>
              <a:rPr lang="en-US" sz="1100" dirty="0">
                <a:solidFill>
                  <a:srgbClr val="8FA3C0"/>
                </a:solidFill>
                <a:latin typeface="Calibri" pitchFamily="34" charset="0"/>
                <a:ea typeface="Calibri" pitchFamily="34" charset="-122"/>
                <a:cs typeface="Calibri" pitchFamily="34" charset="-120"/>
              </a:rPr>
              <a:t>Mold, water, roofing across South Florida. Assigned ten-number block, branded caller ID, forwarding to your cell, 24/7 intake, free-assessment offer.</a:t>
            </a:r>
            <a:endParaRPr lang="en-US" sz="1100" dirty="0"/>
          </a:p>
        </p:txBody>
      </p:sp>
      <p:sp>
        <p:nvSpPr>
          <p:cNvPr id="10" name="Shape 8"/>
          <p:cNvSpPr/>
          <p:nvPr/>
        </p:nvSpPr>
        <p:spPr>
          <a:xfrm>
            <a:off x="3438144" y="2432304"/>
            <a:ext cx="2523744" cy="2286000"/>
          </a:xfrm>
          <a:prstGeom prst="roundRect">
            <a:avLst>
              <a:gd name="adj" fmla="val 4800"/>
            </a:avLst>
          </a:prstGeom>
          <a:solidFill>
            <a:srgbClr val="101A33"/>
          </a:solidFill>
          <a:ln w="12700">
            <a:solidFill>
              <a:srgbClr val="1E2E4A"/>
            </a:solidFill>
            <a:prstDash val="solid"/>
          </a:ln>
        </p:spPr>
      </p:sp>
      <p:sp>
        <p:nvSpPr>
          <p:cNvPr id="11" name="Shape 9"/>
          <p:cNvSpPr/>
          <p:nvPr/>
        </p:nvSpPr>
        <p:spPr>
          <a:xfrm>
            <a:off x="3675888" y="2670048"/>
            <a:ext cx="777240" cy="237744"/>
          </a:xfrm>
          <a:prstGeom prst="roundRect">
            <a:avLst>
              <a:gd name="adj" fmla="val 23077"/>
            </a:avLst>
          </a:prstGeom>
          <a:solidFill>
            <a:srgbClr val="FFC24B"/>
          </a:solidFill>
          <a:ln w="12700">
            <a:solidFill>
              <a:srgbClr val="FFC24B"/>
            </a:solidFill>
            <a:prstDash val="solid"/>
          </a:ln>
        </p:spPr>
      </p:sp>
      <p:sp>
        <p:nvSpPr>
          <p:cNvPr id="12" name="Text 10"/>
          <p:cNvSpPr/>
          <p:nvPr/>
        </p:nvSpPr>
        <p:spPr>
          <a:xfrm>
            <a:off x="3675888" y="2670048"/>
            <a:ext cx="777240"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YOURS</a:t>
            </a:r>
            <a:endParaRPr lang="en-US" sz="900" dirty="0"/>
          </a:p>
        </p:txBody>
      </p:sp>
      <p:sp>
        <p:nvSpPr>
          <p:cNvPr id="13" name="Text 11"/>
          <p:cNvSpPr/>
          <p:nvPr/>
        </p:nvSpPr>
        <p:spPr>
          <a:xfrm>
            <a:off x="3675888" y="3035808"/>
            <a:ext cx="2066544" cy="512064"/>
          </a:xfrm>
          <a:prstGeom prst="rect">
            <a:avLst/>
          </a:prstGeom>
          <a:noFill/>
          <a:ln/>
        </p:spPr>
        <p:txBody>
          <a:bodyPr wrap="square" lIns="0" tIns="0" rIns="0" bIns="0" rtlCol="0" anchor="ctr"/>
          <a:lstStyle/>
          <a:p>
            <a:pPr indent="0" marL="0">
              <a:lnSpc>
                <a:spcPts val="2000"/>
              </a:lnSpc>
              <a:buNone/>
            </a:pPr>
            <a:r>
              <a:rPr lang="en-US" sz="1700" b="1" dirty="0">
                <a:solidFill>
                  <a:srgbClr val="EAF2FF"/>
                </a:solidFill>
                <a:latin typeface="Calibri" pitchFamily="34" charset="0"/>
                <a:ea typeface="Calibri" pitchFamily="34" charset="-122"/>
                <a:cs typeface="Calibri" pitchFamily="34" charset="-120"/>
              </a:rPr>
              <a:t>FAST Adjusting</a:t>
            </a:r>
            <a:endParaRPr lang="en-US" sz="1700" dirty="0"/>
          </a:p>
        </p:txBody>
      </p:sp>
      <p:sp>
        <p:nvSpPr>
          <p:cNvPr id="14" name="Text 12"/>
          <p:cNvSpPr/>
          <p:nvPr/>
        </p:nvSpPr>
        <p:spPr>
          <a:xfrm>
            <a:off x="3675888" y="3584448"/>
            <a:ext cx="2066544" cy="1005840"/>
          </a:xfrm>
          <a:prstGeom prst="rect">
            <a:avLst/>
          </a:prstGeom>
          <a:noFill/>
          <a:ln/>
        </p:spPr>
        <p:txBody>
          <a:bodyPr wrap="square" lIns="0" tIns="0" rIns="0" bIns="0" rtlCol="0" anchor="ctr"/>
          <a:lstStyle/>
          <a:p>
            <a:pPr indent="0" marL="0">
              <a:lnSpc>
                <a:spcPts val="1500"/>
              </a:lnSpc>
              <a:buNone/>
            </a:pPr>
            <a:r>
              <a:rPr lang="en-US" sz="1100" dirty="0">
                <a:solidFill>
                  <a:srgbClr val="8FA3C0"/>
                </a:solidFill>
                <a:latin typeface="Calibri" pitchFamily="34" charset="0"/>
                <a:ea typeface="Calibri" pitchFamily="34" charset="-122"/>
                <a:cs typeface="Calibri" pitchFamily="34" charset="-120"/>
              </a:rPr>
              <a:t>The public-adjusting side. Live claims board, referral ladder, same one-page start — and it shares a single pipeline view with Restoration Royalty.</a:t>
            </a:r>
            <a:endParaRPr lang="en-US" sz="1100" dirty="0"/>
          </a:p>
        </p:txBody>
      </p:sp>
      <p:sp>
        <p:nvSpPr>
          <p:cNvPr id="15" name="Shape 13"/>
          <p:cNvSpPr/>
          <p:nvPr/>
        </p:nvSpPr>
        <p:spPr>
          <a:xfrm>
            <a:off x="6217920" y="2432304"/>
            <a:ext cx="2523744" cy="2286000"/>
          </a:xfrm>
          <a:prstGeom prst="roundRect">
            <a:avLst>
              <a:gd name="adj" fmla="val 4800"/>
            </a:avLst>
          </a:prstGeom>
          <a:solidFill>
            <a:srgbClr val="101A33"/>
          </a:solidFill>
          <a:ln w="12700">
            <a:solidFill>
              <a:srgbClr val="1E2E4A"/>
            </a:solidFill>
            <a:prstDash val="solid"/>
          </a:ln>
        </p:spPr>
      </p:sp>
      <p:sp>
        <p:nvSpPr>
          <p:cNvPr id="16" name="Shape 14"/>
          <p:cNvSpPr/>
          <p:nvPr/>
        </p:nvSpPr>
        <p:spPr>
          <a:xfrm>
            <a:off x="6455664" y="2670048"/>
            <a:ext cx="918058" cy="237744"/>
          </a:xfrm>
          <a:prstGeom prst="roundRect">
            <a:avLst>
              <a:gd name="adj" fmla="val 23077"/>
            </a:avLst>
          </a:prstGeom>
          <a:solidFill>
            <a:srgbClr val="FF7A45"/>
          </a:solidFill>
          <a:ln w="12700">
            <a:solidFill>
              <a:srgbClr val="FF7A45"/>
            </a:solidFill>
            <a:prstDash val="solid"/>
          </a:ln>
        </p:spPr>
      </p:sp>
      <p:sp>
        <p:nvSpPr>
          <p:cNvPr id="17" name="Text 15"/>
          <p:cNvSpPr/>
          <p:nvPr/>
        </p:nvSpPr>
        <p:spPr>
          <a:xfrm>
            <a:off x="6455664" y="2670048"/>
            <a:ext cx="918058"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PROSPECT</a:t>
            </a:r>
            <a:endParaRPr lang="en-US" sz="900" dirty="0"/>
          </a:p>
        </p:txBody>
      </p:sp>
      <p:sp>
        <p:nvSpPr>
          <p:cNvPr id="18" name="Text 16"/>
          <p:cNvSpPr/>
          <p:nvPr/>
        </p:nvSpPr>
        <p:spPr>
          <a:xfrm>
            <a:off x="6455664" y="3035808"/>
            <a:ext cx="2066544" cy="512064"/>
          </a:xfrm>
          <a:prstGeom prst="rect">
            <a:avLst/>
          </a:prstGeom>
          <a:noFill/>
          <a:ln/>
        </p:spPr>
        <p:txBody>
          <a:bodyPr wrap="square" lIns="0" tIns="0" rIns="0" bIns="0" rtlCol="0" anchor="ctr"/>
          <a:lstStyle/>
          <a:p>
            <a:pPr indent="0" marL="0">
              <a:lnSpc>
                <a:spcPts val="2000"/>
              </a:lnSpc>
              <a:buNone/>
            </a:pPr>
            <a:r>
              <a:rPr lang="en-US" sz="1700" b="1" dirty="0">
                <a:solidFill>
                  <a:srgbClr val="EAF2FF"/>
                </a:solidFill>
                <a:latin typeface="Calibri" pitchFamily="34" charset="0"/>
                <a:ea typeface="Calibri" pitchFamily="34" charset="-122"/>
                <a:cs typeface="Calibri" pitchFamily="34" charset="-120"/>
              </a:rPr>
              <a:t>YES Electrical</a:t>
            </a:r>
            <a:endParaRPr lang="en-US" sz="1700" dirty="0"/>
          </a:p>
        </p:txBody>
      </p:sp>
      <p:sp>
        <p:nvSpPr>
          <p:cNvPr id="19" name="Text 17"/>
          <p:cNvSpPr/>
          <p:nvPr/>
        </p:nvSpPr>
        <p:spPr>
          <a:xfrm>
            <a:off x="6455664" y="3584448"/>
            <a:ext cx="2066544" cy="1005840"/>
          </a:xfrm>
          <a:prstGeom prst="rect">
            <a:avLst/>
          </a:prstGeom>
          <a:noFill/>
          <a:ln/>
        </p:spPr>
        <p:txBody>
          <a:bodyPr wrap="square" lIns="0" tIns="0" rIns="0" bIns="0" rtlCol="0" anchor="ctr"/>
          <a:lstStyle/>
          <a:p>
            <a:pPr indent="0" marL="0">
              <a:lnSpc>
                <a:spcPts val="1500"/>
              </a:lnSpc>
              <a:buNone/>
            </a:pPr>
            <a:r>
              <a:rPr lang="en-US" sz="1100" dirty="0">
                <a:solidFill>
                  <a:srgbClr val="8FA3C0"/>
                </a:solidFill>
                <a:latin typeface="Calibri" pitchFamily="34" charset="0"/>
                <a:ea typeface="Calibri" pitchFamily="34" charset="-122"/>
                <a:cs typeface="Calibri" pitchFamily="34" charset="-120"/>
              </a:rPr>
              <a:t>A Miami electrical build. Proves the model in a second trade and feeds the same network: storm knocks out power, electrical demand spikes, calls route.</a:t>
            </a:r>
            <a:endParaRPr lang="en-US" sz="1100" dirty="0"/>
          </a:p>
        </p:txBody>
      </p:sp>
      <p:sp>
        <p:nvSpPr>
          <p:cNvPr id="20" name="Shape 18"/>
          <p:cNvSpPr/>
          <p:nvPr/>
        </p:nvSpPr>
        <p:spPr>
          <a:xfrm>
            <a:off x="8997696" y="2432304"/>
            <a:ext cx="2523744" cy="2286000"/>
          </a:xfrm>
          <a:prstGeom prst="roundRect">
            <a:avLst>
              <a:gd name="adj" fmla="val 4800"/>
            </a:avLst>
          </a:prstGeom>
          <a:solidFill>
            <a:srgbClr val="101A33"/>
          </a:solidFill>
          <a:ln w="12700">
            <a:solidFill>
              <a:srgbClr val="1E2E4A"/>
            </a:solidFill>
            <a:prstDash val="solid"/>
          </a:ln>
        </p:spPr>
      </p:sp>
      <p:sp>
        <p:nvSpPr>
          <p:cNvPr id="21" name="Shape 19"/>
          <p:cNvSpPr/>
          <p:nvPr/>
        </p:nvSpPr>
        <p:spPr>
          <a:xfrm>
            <a:off x="9235440" y="2670048"/>
            <a:ext cx="918058" cy="237744"/>
          </a:xfrm>
          <a:prstGeom prst="roundRect">
            <a:avLst>
              <a:gd name="adj" fmla="val 23077"/>
            </a:avLst>
          </a:prstGeom>
          <a:solidFill>
            <a:srgbClr val="00FF88"/>
          </a:solidFill>
          <a:ln w="12700">
            <a:solidFill>
              <a:srgbClr val="00FF88"/>
            </a:solidFill>
            <a:prstDash val="solid"/>
          </a:ln>
        </p:spPr>
      </p:sp>
      <p:sp>
        <p:nvSpPr>
          <p:cNvPr id="22" name="Text 20"/>
          <p:cNvSpPr/>
          <p:nvPr/>
        </p:nvSpPr>
        <p:spPr>
          <a:xfrm>
            <a:off x="9235440" y="2670048"/>
            <a:ext cx="918058"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PLATFORM</a:t>
            </a:r>
            <a:endParaRPr lang="en-US" sz="900" dirty="0"/>
          </a:p>
        </p:txBody>
      </p:sp>
      <p:sp>
        <p:nvSpPr>
          <p:cNvPr id="23" name="Text 21"/>
          <p:cNvSpPr/>
          <p:nvPr/>
        </p:nvSpPr>
        <p:spPr>
          <a:xfrm>
            <a:off x="9235440" y="3035808"/>
            <a:ext cx="2066544" cy="512064"/>
          </a:xfrm>
          <a:prstGeom prst="rect">
            <a:avLst/>
          </a:prstGeom>
          <a:noFill/>
          <a:ln/>
        </p:spPr>
        <p:txBody>
          <a:bodyPr wrap="square" lIns="0" tIns="0" rIns="0" bIns="0" rtlCol="0" anchor="ctr"/>
          <a:lstStyle/>
          <a:p>
            <a:pPr indent="0" marL="0">
              <a:lnSpc>
                <a:spcPts val="2000"/>
              </a:lnSpc>
              <a:buNone/>
            </a:pPr>
            <a:r>
              <a:rPr lang="en-US" sz="1700" b="1" dirty="0">
                <a:solidFill>
                  <a:srgbClr val="EAF2FF"/>
                </a:solidFill>
                <a:latin typeface="Calibri" pitchFamily="34" charset="0"/>
                <a:ea typeface="Calibri" pitchFamily="34" charset="-122"/>
                <a:cs typeface="Calibri" pitchFamily="34" charset="-120"/>
              </a:rPr>
              <a:t>TELVERGE</a:t>
            </a:r>
            <a:endParaRPr lang="en-US" sz="1700" dirty="0"/>
          </a:p>
        </p:txBody>
      </p:sp>
      <p:sp>
        <p:nvSpPr>
          <p:cNvPr id="24" name="Text 22"/>
          <p:cNvSpPr/>
          <p:nvPr/>
        </p:nvSpPr>
        <p:spPr>
          <a:xfrm>
            <a:off x="9235440" y="3584448"/>
            <a:ext cx="2066544" cy="1005840"/>
          </a:xfrm>
          <a:prstGeom prst="rect">
            <a:avLst/>
          </a:prstGeom>
          <a:noFill/>
          <a:ln/>
        </p:spPr>
        <p:txBody>
          <a:bodyPr wrap="square" lIns="0" tIns="0" rIns="0" bIns="0" rtlCol="0" anchor="ctr"/>
          <a:lstStyle/>
          <a:p>
            <a:pPr indent="0" marL="0">
              <a:lnSpc>
                <a:spcPts val="1500"/>
              </a:lnSpc>
              <a:buNone/>
            </a:pPr>
            <a:r>
              <a:rPr lang="en-US" sz="1100" dirty="0">
                <a:solidFill>
                  <a:srgbClr val="8FA3C0"/>
                </a:solidFill>
                <a:latin typeface="Calibri" pitchFamily="34" charset="0"/>
                <a:ea typeface="Calibri" pitchFamily="34" charset="-122"/>
                <a:cs typeface="Calibri" pitchFamily="34" charset="-120"/>
              </a:rPr>
              <a:t>The platform itself, showing ten example vanity numbers. This is the page that turns a curious contractor into an enrolled partner.</a:t>
            </a:r>
            <a:endParaRPr lang="en-US" sz="1100" dirty="0"/>
          </a:p>
        </p:txBody>
      </p:sp>
      <p:sp>
        <p:nvSpPr>
          <p:cNvPr id="25" name="Text 23"/>
          <p:cNvSpPr/>
          <p:nvPr/>
        </p:nvSpPr>
        <p:spPr>
          <a:xfrm>
            <a:off x="658368" y="5047488"/>
            <a:ext cx="10872216" cy="457200"/>
          </a:xfrm>
          <a:prstGeom prst="rect">
            <a:avLst/>
          </a:prstGeom>
          <a:noFill/>
          <a:ln/>
        </p:spPr>
        <p:txBody>
          <a:bodyPr wrap="square" lIns="0" tIns="0" rIns="0" bIns="0" rtlCol="0" anchor="ctr"/>
          <a:lstStyle/>
          <a:p>
            <a:pPr indent="0" marL="0">
              <a:lnSpc>
                <a:spcPts val="2000"/>
              </a:lnSpc>
              <a:buNone/>
            </a:pPr>
            <a:r>
              <a:rPr lang="en-US" sz="1400" i="1" dirty="0">
                <a:solidFill>
                  <a:srgbClr val="EAF2FF"/>
                </a:solidFill>
                <a:latin typeface="Calibri" pitchFamily="34" charset="0"/>
                <a:ea typeface="Calibri" pitchFamily="34" charset="-122"/>
                <a:cs typeface="Calibri" pitchFamily="34" charset="-120"/>
              </a:rPr>
              <a:t>A homeowner who calls the electrical number after a storm has a wet ceiling too. The network shares what it catches, and the partner closest to the work takes it.</a:t>
            </a:r>
            <a:endParaRPr lang="en-US" sz="1400" dirty="0"/>
          </a:p>
        </p:txBody>
      </p:sp>
      <p:sp>
        <p:nvSpPr>
          <p:cNvPr id="26" name="Text 24"/>
          <p:cNvSpPr/>
          <p:nvPr/>
        </p:nvSpPr>
        <p:spPr>
          <a:xfrm>
            <a:off x="658368" y="6291072"/>
            <a:ext cx="10872216" cy="237744"/>
          </a:xfrm>
          <a:prstGeom prst="rect">
            <a:avLst/>
          </a:prstGeom>
          <a:noFill/>
          <a:ln/>
        </p:spPr>
        <p:txBody>
          <a:bodyPr wrap="square" lIns="0" tIns="0" rIns="0" bIns="0" rtlCol="0" anchor="ctr"/>
          <a:lstStyle/>
          <a:p>
            <a:pPr indent="0" marL="0">
              <a:buNone/>
            </a:pPr>
            <a:r>
              <a:rPr lang="en-US" sz="900" dirty="0">
                <a:solidFill>
                  <a:srgbClr val="54658A"/>
                </a:solidFill>
                <a:latin typeface="Calibri" pitchFamily="34" charset="0"/>
                <a:ea typeface="Calibri" pitchFamily="34" charset="-122"/>
                <a:cs typeface="Calibri" pitchFamily="34" charset="-120"/>
              </a:rPr>
              <a:t>Telvergence, Inc.  ·  Confidential — prepared for Jimmy Mejia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THE ENGINE</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How a ring becomes a job</a:t>
            </a:r>
            <a:endParaRPr lang="en-US" sz="3400" dirty="0"/>
          </a:p>
        </p:txBody>
      </p:sp>
      <p:sp>
        <p:nvSpPr>
          <p:cNvPr id="4" name="Shape 2"/>
          <p:cNvSpPr/>
          <p:nvPr/>
        </p:nvSpPr>
        <p:spPr>
          <a:xfrm>
            <a:off x="658368" y="1874520"/>
            <a:ext cx="402336" cy="402336"/>
          </a:xfrm>
          <a:prstGeom prst="ellipse">
            <a:avLst/>
          </a:prstGeom>
          <a:solidFill>
            <a:srgbClr val="16233F"/>
          </a:solidFill>
          <a:ln w="15875">
            <a:solidFill>
              <a:srgbClr val="00D4FF"/>
            </a:solidFill>
            <a:prstDash val="solid"/>
          </a:ln>
        </p:spPr>
      </p:sp>
      <p:sp>
        <p:nvSpPr>
          <p:cNvPr id="5" name="Text 3"/>
          <p:cNvSpPr/>
          <p:nvPr/>
        </p:nvSpPr>
        <p:spPr>
          <a:xfrm>
            <a:off x="658368" y="1874520"/>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80160" y="1892808"/>
            <a:ext cx="237744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Capture</a:t>
            </a:r>
            <a:endParaRPr lang="en-US" sz="1600" dirty="0"/>
          </a:p>
        </p:txBody>
      </p:sp>
      <p:sp>
        <p:nvSpPr>
          <p:cNvPr id="7" name="Text 5"/>
          <p:cNvSpPr/>
          <p:nvPr/>
        </p:nvSpPr>
        <p:spPr>
          <a:xfrm>
            <a:off x="3767328" y="1856232"/>
            <a:ext cx="7763256" cy="566928"/>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Every entry point — site, ad, storm console, tapped card — is a tracked Smart-DID. The source is known before anyone says hello.</a:t>
            </a:r>
            <a:endParaRPr lang="en-US" sz="1250" dirty="0"/>
          </a:p>
        </p:txBody>
      </p:sp>
      <p:sp>
        <p:nvSpPr>
          <p:cNvPr id="8" name="Shape 6"/>
          <p:cNvSpPr/>
          <p:nvPr/>
        </p:nvSpPr>
        <p:spPr>
          <a:xfrm>
            <a:off x="658368" y="2569464"/>
            <a:ext cx="402336" cy="402336"/>
          </a:xfrm>
          <a:prstGeom prst="ellipse">
            <a:avLst/>
          </a:prstGeom>
          <a:solidFill>
            <a:srgbClr val="16233F"/>
          </a:solidFill>
          <a:ln w="15875">
            <a:solidFill>
              <a:srgbClr val="00D4FF"/>
            </a:solidFill>
            <a:prstDash val="solid"/>
          </a:ln>
        </p:spPr>
      </p:sp>
      <p:sp>
        <p:nvSpPr>
          <p:cNvPr id="9" name="Text 7"/>
          <p:cNvSpPr/>
          <p:nvPr/>
        </p:nvSpPr>
        <p:spPr>
          <a:xfrm>
            <a:off x="658368" y="2569464"/>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80160" y="2587752"/>
            <a:ext cx="237744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Answer, always</a:t>
            </a:r>
            <a:endParaRPr lang="en-US" sz="1600" dirty="0"/>
          </a:p>
        </p:txBody>
      </p:sp>
      <p:sp>
        <p:nvSpPr>
          <p:cNvPr id="11" name="Text 9"/>
          <p:cNvSpPr/>
          <p:nvPr/>
        </p:nvSpPr>
        <p:spPr>
          <a:xfrm>
            <a:off x="3767328" y="2551176"/>
            <a:ext cx="7763256" cy="566928"/>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Intake picks up around the clock and asks the four questions: owner, insurance, claim filed, what is the damage.</a:t>
            </a:r>
            <a:endParaRPr lang="en-US" sz="1250" dirty="0"/>
          </a:p>
        </p:txBody>
      </p:sp>
      <p:sp>
        <p:nvSpPr>
          <p:cNvPr id="12" name="Shape 10"/>
          <p:cNvSpPr/>
          <p:nvPr/>
        </p:nvSpPr>
        <p:spPr>
          <a:xfrm>
            <a:off x="658368" y="3264408"/>
            <a:ext cx="402336" cy="402336"/>
          </a:xfrm>
          <a:prstGeom prst="ellipse">
            <a:avLst/>
          </a:prstGeom>
          <a:solidFill>
            <a:srgbClr val="16233F"/>
          </a:solidFill>
          <a:ln w="15875">
            <a:solidFill>
              <a:srgbClr val="00D4FF"/>
            </a:solidFill>
            <a:prstDash val="solid"/>
          </a:ln>
        </p:spPr>
      </p:sp>
      <p:sp>
        <p:nvSpPr>
          <p:cNvPr id="13" name="Text 11"/>
          <p:cNvSpPr/>
          <p:nvPr/>
        </p:nvSpPr>
        <p:spPr>
          <a:xfrm>
            <a:off x="658368" y="3264408"/>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80160" y="3282696"/>
            <a:ext cx="237744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Qualify and route</a:t>
            </a:r>
            <a:endParaRPr lang="en-US" sz="1600" dirty="0"/>
          </a:p>
        </p:txBody>
      </p:sp>
      <p:sp>
        <p:nvSpPr>
          <p:cNvPr id="15" name="Text 13"/>
          <p:cNvSpPr/>
          <p:nvPr/>
        </p:nvSpPr>
        <p:spPr>
          <a:xfrm>
            <a:off x="3767328" y="3246120"/>
            <a:ext cx="7763256" cy="566928"/>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Owner-occupied with coverage goes straight to scheduling. Everything else is captured and tagged instead of lost.</a:t>
            </a:r>
            <a:endParaRPr lang="en-US" sz="1250" dirty="0"/>
          </a:p>
        </p:txBody>
      </p:sp>
      <p:sp>
        <p:nvSpPr>
          <p:cNvPr id="16" name="Shape 14"/>
          <p:cNvSpPr/>
          <p:nvPr/>
        </p:nvSpPr>
        <p:spPr>
          <a:xfrm>
            <a:off x="658368" y="3959352"/>
            <a:ext cx="402336" cy="402336"/>
          </a:xfrm>
          <a:prstGeom prst="ellipse">
            <a:avLst/>
          </a:prstGeom>
          <a:solidFill>
            <a:srgbClr val="16233F"/>
          </a:solidFill>
          <a:ln w="15875">
            <a:solidFill>
              <a:srgbClr val="00D4FF"/>
            </a:solidFill>
            <a:prstDash val="solid"/>
          </a:ln>
        </p:spPr>
      </p:sp>
      <p:sp>
        <p:nvSpPr>
          <p:cNvPr id="17" name="Text 15"/>
          <p:cNvSpPr/>
          <p:nvPr/>
        </p:nvSpPr>
        <p:spPr>
          <a:xfrm>
            <a:off x="658368" y="3959352"/>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280160" y="3977640"/>
            <a:ext cx="237744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Book the assessment</a:t>
            </a:r>
            <a:endParaRPr lang="en-US" sz="1600" dirty="0"/>
          </a:p>
        </p:txBody>
      </p:sp>
      <p:sp>
        <p:nvSpPr>
          <p:cNvPr id="19" name="Text 17"/>
          <p:cNvSpPr/>
          <p:nvPr/>
        </p:nvSpPr>
        <p:spPr>
          <a:xfrm>
            <a:off x="3767328" y="3941064"/>
            <a:ext cx="7763256" cy="566928"/>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Free moisture, mold, and roof assessment with a written scope. Low friction to say yes — and the scope is what converts.</a:t>
            </a:r>
            <a:endParaRPr lang="en-US" sz="1250" dirty="0"/>
          </a:p>
        </p:txBody>
      </p:sp>
      <p:sp>
        <p:nvSpPr>
          <p:cNvPr id="20" name="Shape 18"/>
          <p:cNvSpPr/>
          <p:nvPr/>
        </p:nvSpPr>
        <p:spPr>
          <a:xfrm>
            <a:off x="658368" y="4654296"/>
            <a:ext cx="402336" cy="402336"/>
          </a:xfrm>
          <a:prstGeom prst="ellipse">
            <a:avLst/>
          </a:prstGeom>
          <a:solidFill>
            <a:srgbClr val="16233F"/>
          </a:solidFill>
          <a:ln w="15875">
            <a:solidFill>
              <a:srgbClr val="00D4FF"/>
            </a:solidFill>
            <a:prstDash val="solid"/>
          </a:ln>
        </p:spPr>
      </p:sp>
      <p:sp>
        <p:nvSpPr>
          <p:cNvPr id="21" name="Text 19"/>
          <p:cNvSpPr/>
          <p:nvPr/>
        </p:nvSpPr>
        <p:spPr>
          <a:xfrm>
            <a:off x="658368" y="4654296"/>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280160" y="4672584"/>
            <a:ext cx="237744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Document and close</a:t>
            </a:r>
            <a:endParaRPr lang="en-US" sz="1600" dirty="0"/>
          </a:p>
        </p:txBody>
      </p:sp>
      <p:sp>
        <p:nvSpPr>
          <p:cNvPr id="23" name="Text 21"/>
          <p:cNvSpPr/>
          <p:nvPr/>
        </p:nvSpPr>
        <p:spPr>
          <a:xfrm>
            <a:off x="3767328" y="4636008"/>
            <a:ext cx="7763256" cy="566928"/>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Every call recorded, every scope written, everything packaged the way an insurer expects it.</a:t>
            </a:r>
            <a:endParaRPr lang="en-US" sz="1250" dirty="0"/>
          </a:p>
        </p:txBody>
      </p:sp>
      <p:sp>
        <p:nvSpPr>
          <p:cNvPr id="24" name="Shape 22"/>
          <p:cNvSpPr/>
          <p:nvPr/>
        </p:nvSpPr>
        <p:spPr>
          <a:xfrm>
            <a:off x="658368" y="5486400"/>
            <a:ext cx="10872216" cy="749808"/>
          </a:xfrm>
          <a:prstGeom prst="roundRect">
            <a:avLst>
              <a:gd name="adj" fmla="val 14634"/>
            </a:avLst>
          </a:prstGeom>
          <a:solidFill>
            <a:srgbClr val="16233F"/>
          </a:solidFill>
          <a:ln w="12700">
            <a:solidFill>
              <a:srgbClr val="1E2E4A"/>
            </a:solidFill>
            <a:prstDash val="solid"/>
          </a:ln>
        </p:spPr>
      </p:sp>
      <p:sp>
        <p:nvSpPr>
          <p:cNvPr id="25" name="Text 23"/>
          <p:cNvSpPr/>
          <p:nvPr/>
        </p:nvSpPr>
        <p:spPr>
          <a:xfrm>
            <a:off x="932688" y="5486400"/>
            <a:ext cx="10323576" cy="749808"/>
          </a:xfrm>
          <a:prstGeom prst="rect">
            <a:avLst/>
          </a:prstGeom>
          <a:noFill/>
          <a:ln/>
        </p:spPr>
        <p:txBody>
          <a:bodyPr wrap="square" lIns="0" tIns="0" rIns="0" bIns="0" rtlCol="0" anchor="ctr"/>
          <a:lstStyle/>
          <a:p>
            <a:pPr indent="0" marL="0">
              <a:buNone/>
            </a:pPr>
            <a:r>
              <a:rPr lang="en-US" sz="1900" b="1" spc="-30" kern="0" dirty="0">
                <a:solidFill>
                  <a:srgbClr val="EAF2FF"/>
                </a:solidFill>
                <a:latin typeface="Calibri" pitchFamily="34" charset="0"/>
                <a:ea typeface="Calibri" pitchFamily="34" charset="-122"/>
                <a:cs typeface="Calibri" pitchFamily="34" charset="-120"/>
              </a:rPr>
              <a:t>Nobody misses a call.  </a:t>
            </a:r>
            <a:pPr indent="0" marL="0">
              <a:buNone/>
            </a:pPr>
            <a:r>
              <a:rPr lang="en-US" sz="1900" b="1" spc="-30" kern="0" dirty="0">
                <a:solidFill>
                  <a:srgbClr val="00FF88"/>
                </a:solidFill>
                <a:latin typeface="Calibri" pitchFamily="34" charset="0"/>
                <a:ea typeface="Calibri" pitchFamily="34" charset="-122"/>
                <a:cs typeface="Calibri" pitchFamily="34" charset="-120"/>
              </a:rPr>
              <a:t>Every ring is a sale — or a reason we learn something.</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THE DASHBOARD</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You see the money as it moves</a:t>
            </a:r>
            <a:endParaRPr lang="en-US" sz="3400" dirty="0"/>
          </a:p>
        </p:txBody>
      </p:sp>
      <p:sp>
        <p:nvSpPr>
          <p:cNvPr id="4" name="Text 2"/>
          <p:cNvSpPr/>
          <p:nvPr/>
        </p:nvSpPr>
        <p:spPr>
          <a:xfrm>
            <a:off x="658368" y="1627632"/>
            <a:ext cx="9350106" cy="658368"/>
          </a:xfrm>
          <a:prstGeom prst="rect">
            <a:avLst/>
          </a:prstGeom>
          <a:noFill/>
          <a:ln/>
        </p:spPr>
        <p:txBody>
          <a:bodyPr wrap="square" lIns="0" tIns="0" rIns="0" bIns="0" rtlCol="0" anchor="ctr"/>
          <a:lstStyle/>
          <a:p>
            <a:pPr indent="0" marL="0">
              <a:lnSpc>
                <a:spcPts val="2200"/>
              </a:lnSpc>
              <a:buNone/>
            </a:pPr>
            <a:r>
              <a:rPr lang="en-US" sz="1500" dirty="0">
                <a:solidFill>
                  <a:srgbClr val="8FA3C0"/>
                </a:solidFill>
                <a:latin typeface="Calibri" pitchFamily="34" charset="0"/>
                <a:ea typeface="Calibri" pitchFamily="34" charset="-122"/>
                <a:cs typeface="Calibri" pitchFamily="34" charset="-120"/>
              </a:rPr>
              <a:t>Twenty years running predictive dialers taught one lesson: the operator who watches the numbers hourly keeps the business. The operator who waits for the monthly statement loses it.</a:t>
            </a:r>
            <a:endParaRPr lang="en-US" sz="1500" dirty="0"/>
          </a:p>
        </p:txBody>
      </p:sp>
      <p:sp>
        <p:nvSpPr>
          <p:cNvPr id="5" name="Shape 3"/>
          <p:cNvSpPr/>
          <p:nvPr/>
        </p:nvSpPr>
        <p:spPr>
          <a:xfrm>
            <a:off x="658368" y="2798064"/>
            <a:ext cx="3438144" cy="2432304"/>
          </a:xfrm>
          <a:prstGeom prst="roundRect">
            <a:avLst>
              <a:gd name="adj" fmla="val 4511"/>
            </a:avLst>
          </a:prstGeom>
          <a:solidFill>
            <a:srgbClr val="101A33"/>
          </a:solidFill>
          <a:ln w="12700">
            <a:solidFill>
              <a:srgbClr val="1E2E4A"/>
            </a:solidFill>
            <a:prstDash val="solid"/>
          </a:ln>
        </p:spPr>
      </p:sp>
      <p:sp>
        <p:nvSpPr>
          <p:cNvPr id="6" name="Shape 4"/>
          <p:cNvSpPr/>
          <p:nvPr/>
        </p:nvSpPr>
        <p:spPr>
          <a:xfrm>
            <a:off x="914400" y="3035808"/>
            <a:ext cx="777240" cy="237744"/>
          </a:xfrm>
          <a:prstGeom prst="roundRect">
            <a:avLst>
              <a:gd name="adj" fmla="val 23077"/>
            </a:avLst>
          </a:prstGeom>
          <a:solidFill>
            <a:srgbClr val="00D4FF"/>
          </a:solidFill>
          <a:ln w="12700">
            <a:solidFill>
              <a:srgbClr val="00D4FF"/>
            </a:solidFill>
            <a:prstDash val="solid"/>
          </a:ln>
        </p:spPr>
      </p:sp>
      <p:sp>
        <p:nvSpPr>
          <p:cNvPr id="7" name="Text 5"/>
          <p:cNvSpPr/>
          <p:nvPr/>
        </p:nvSpPr>
        <p:spPr>
          <a:xfrm>
            <a:off x="914400" y="3035808"/>
            <a:ext cx="777240"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LIVE</a:t>
            </a:r>
            <a:endParaRPr lang="en-US" sz="900" dirty="0"/>
          </a:p>
        </p:txBody>
      </p:sp>
      <p:sp>
        <p:nvSpPr>
          <p:cNvPr id="8" name="Text 6"/>
          <p:cNvSpPr/>
          <p:nvPr/>
        </p:nvSpPr>
        <p:spPr>
          <a:xfrm>
            <a:off x="914400" y="3383280"/>
            <a:ext cx="2926080" cy="329184"/>
          </a:xfrm>
          <a:prstGeom prst="rect">
            <a:avLst/>
          </a:prstGeom>
          <a:noFill/>
          <a:ln/>
        </p:spPr>
        <p:txBody>
          <a:bodyPr wrap="square" lIns="0" tIns="0" rIns="0" bIns="0" rtlCol="0" anchor="ctr"/>
          <a:lstStyle/>
          <a:p>
            <a:pPr indent="0" marL="0">
              <a:buNone/>
            </a:pPr>
            <a:r>
              <a:rPr lang="en-US" sz="1700" b="1" dirty="0">
                <a:solidFill>
                  <a:srgbClr val="EAF2FF"/>
                </a:solidFill>
                <a:latin typeface="Calibri" pitchFamily="34" charset="0"/>
                <a:ea typeface="Calibri" pitchFamily="34" charset="-122"/>
                <a:cs typeface="Calibri" pitchFamily="34" charset="-120"/>
              </a:rPr>
              <a:t>Command center</a:t>
            </a:r>
            <a:endParaRPr lang="en-US" sz="1700" dirty="0"/>
          </a:p>
        </p:txBody>
      </p:sp>
      <p:sp>
        <p:nvSpPr>
          <p:cNvPr id="9" name="Text 7"/>
          <p:cNvSpPr/>
          <p:nvPr/>
        </p:nvSpPr>
        <p:spPr>
          <a:xfrm>
            <a:off x="914400" y="3785616"/>
            <a:ext cx="2926080" cy="128016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Calls in, connects, contact rate</a:t>
            </a:r>
            <a:endParaRPr lang="en-US" sz="1150" dirty="0"/>
          </a:p>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Assessments booked and cost each</a:t>
            </a:r>
            <a:endParaRPr lang="en-US" sz="1150" dirty="0"/>
          </a:p>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Average hold time and abandon rate</a:t>
            </a:r>
            <a:endParaRPr lang="en-US" sz="1150" dirty="0"/>
          </a:p>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Revenue in versus spend out</a:t>
            </a:r>
            <a:endParaRPr lang="en-US" sz="1150" dirty="0"/>
          </a:p>
        </p:txBody>
      </p:sp>
      <p:sp>
        <p:nvSpPr>
          <p:cNvPr id="10" name="Shape 8"/>
          <p:cNvSpPr/>
          <p:nvPr/>
        </p:nvSpPr>
        <p:spPr>
          <a:xfrm>
            <a:off x="4370832" y="2798064"/>
            <a:ext cx="3438144" cy="2432304"/>
          </a:xfrm>
          <a:prstGeom prst="roundRect">
            <a:avLst>
              <a:gd name="adj" fmla="val 4511"/>
            </a:avLst>
          </a:prstGeom>
          <a:solidFill>
            <a:srgbClr val="101A33"/>
          </a:solidFill>
          <a:ln w="12700">
            <a:solidFill>
              <a:srgbClr val="1E2E4A"/>
            </a:solidFill>
            <a:prstDash val="solid"/>
          </a:ln>
        </p:spPr>
      </p:sp>
      <p:sp>
        <p:nvSpPr>
          <p:cNvPr id="11" name="Shape 9"/>
          <p:cNvSpPr/>
          <p:nvPr/>
        </p:nvSpPr>
        <p:spPr>
          <a:xfrm>
            <a:off x="4626864" y="3035808"/>
            <a:ext cx="1078992" cy="237744"/>
          </a:xfrm>
          <a:prstGeom prst="roundRect">
            <a:avLst>
              <a:gd name="adj" fmla="val 23077"/>
            </a:avLst>
          </a:prstGeom>
          <a:solidFill>
            <a:srgbClr val="00FF88"/>
          </a:solidFill>
          <a:ln w="12700">
            <a:solidFill>
              <a:srgbClr val="00FF88"/>
            </a:solidFill>
            <a:prstDash val="solid"/>
          </a:ln>
        </p:spPr>
      </p:sp>
      <p:sp>
        <p:nvSpPr>
          <p:cNvPr id="12" name="Text 10"/>
          <p:cNvSpPr/>
          <p:nvPr/>
        </p:nvSpPr>
        <p:spPr>
          <a:xfrm>
            <a:off x="4626864" y="3035808"/>
            <a:ext cx="1078992"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GUARDRAILS</a:t>
            </a:r>
            <a:endParaRPr lang="en-US" sz="900" dirty="0"/>
          </a:p>
        </p:txBody>
      </p:sp>
      <p:sp>
        <p:nvSpPr>
          <p:cNvPr id="13" name="Text 11"/>
          <p:cNvSpPr/>
          <p:nvPr/>
        </p:nvSpPr>
        <p:spPr>
          <a:xfrm>
            <a:off x="4626864" y="3383280"/>
            <a:ext cx="2926080" cy="329184"/>
          </a:xfrm>
          <a:prstGeom prst="rect">
            <a:avLst/>
          </a:prstGeom>
          <a:noFill/>
          <a:ln/>
        </p:spPr>
        <p:txBody>
          <a:bodyPr wrap="square" lIns="0" tIns="0" rIns="0" bIns="0" rtlCol="0" anchor="ctr"/>
          <a:lstStyle/>
          <a:p>
            <a:pPr indent="0" marL="0">
              <a:buNone/>
            </a:pPr>
            <a:r>
              <a:rPr lang="en-US" sz="1700" b="1" dirty="0">
                <a:solidFill>
                  <a:srgbClr val="EAF2FF"/>
                </a:solidFill>
                <a:latin typeface="Calibri" pitchFamily="34" charset="0"/>
                <a:ea typeface="Calibri" pitchFamily="34" charset="-122"/>
                <a:cs typeface="Calibri" pitchFamily="34" charset="-120"/>
              </a:rPr>
              <a:t>Stop the bleed early</a:t>
            </a:r>
            <a:endParaRPr lang="en-US" sz="1700" dirty="0"/>
          </a:p>
        </p:txBody>
      </p:sp>
      <p:sp>
        <p:nvSpPr>
          <p:cNvPr id="14" name="Text 12"/>
          <p:cNvSpPr/>
          <p:nvPr/>
        </p:nvSpPr>
        <p:spPr>
          <a:xfrm>
            <a:off x="4626864" y="3785616"/>
            <a:ext cx="2926080" cy="128016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Alerts when cost per lead crosses your line</a:t>
            </a:r>
            <a:endParaRPr lang="en-US" sz="1150" dirty="0"/>
          </a:p>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Flags the unprofitable source or hour</a:t>
            </a:r>
            <a:endParaRPr lang="en-US" sz="1150" dirty="0"/>
          </a:p>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Pause, fix, resume — same day</a:t>
            </a:r>
            <a:endParaRPr lang="en-US" sz="1150" dirty="0"/>
          </a:p>
        </p:txBody>
      </p:sp>
      <p:sp>
        <p:nvSpPr>
          <p:cNvPr id="15" name="Shape 13"/>
          <p:cNvSpPr/>
          <p:nvPr/>
        </p:nvSpPr>
        <p:spPr>
          <a:xfrm>
            <a:off x="8083296" y="2798064"/>
            <a:ext cx="3438144" cy="2432304"/>
          </a:xfrm>
          <a:prstGeom prst="roundRect">
            <a:avLst>
              <a:gd name="adj" fmla="val 4511"/>
            </a:avLst>
          </a:prstGeom>
          <a:solidFill>
            <a:srgbClr val="101A33"/>
          </a:solidFill>
          <a:ln w="12700">
            <a:solidFill>
              <a:srgbClr val="1E2E4A"/>
            </a:solidFill>
            <a:prstDash val="solid"/>
          </a:ln>
        </p:spPr>
      </p:sp>
      <p:sp>
        <p:nvSpPr>
          <p:cNvPr id="16" name="Shape 14"/>
          <p:cNvSpPr/>
          <p:nvPr/>
        </p:nvSpPr>
        <p:spPr>
          <a:xfrm>
            <a:off x="8339328" y="3035808"/>
            <a:ext cx="837590" cy="237744"/>
          </a:xfrm>
          <a:prstGeom prst="roundRect">
            <a:avLst>
              <a:gd name="adj" fmla="val 23077"/>
            </a:avLst>
          </a:prstGeom>
          <a:solidFill>
            <a:srgbClr val="FFC24B"/>
          </a:solidFill>
          <a:ln w="12700">
            <a:solidFill>
              <a:srgbClr val="FFC24B"/>
            </a:solidFill>
            <a:prstDash val="solid"/>
          </a:ln>
        </p:spPr>
      </p:sp>
      <p:sp>
        <p:nvSpPr>
          <p:cNvPr id="17" name="Text 15"/>
          <p:cNvSpPr/>
          <p:nvPr/>
        </p:nvSpPr>
        <p:spPr>
          <a:xfrm>
            <a:off x="8339328" y="3035808"/>
            <a:ext cx="837590"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FORWARD</a:t>
            </a:r>
            <a:endParaRPr lang="en-US" sz="900" dirty="0"/>
          </a:p>
        </p:txBody>
      </p:sp>
      <p:sp>
        <p:nvSpPr>
          <p:cNvPr id="18" name="Text 16"/>
          <p:cNvSpPr/>
          <p:nvPr/>
        </p:nvSpPr>
        <p:spPr>
          <a:xfrm>
            <a:off x="8339328" y="3383280"/>
            <a:ext cx="2926080" cy="329184"/>
          </a:xfrm>
          <a:prstGeom prst="rect">
            <a:avLst/>
          </a:prstGeom>
          <a:noFill/>
          <a:ln/>
        </p:spPr>
        <p:txBody>
          <a:bodyPr wrap="square" lIns="0" tIns="0" rIns="0" bIns="0" rtlCol="0" anchor="ctr"/>
          <a:lstStyle/>
          <a:p>
            <a:pPr indent="0" marL="0">
              <a:buNone/>
            </a:pPr>
            <a:r>
              <a:rPr lang="en-US" sz="1700" b="1" dirty="0">
                <a:solidFill>
                  <a:srgbClr val="EAF2FF"/>
                </a:solidFill>
                <a:latin typeface="Calibri" pitchFamily="34" charset="0"/>
                <a:ea typeface="Calibri" pitchFamily="34" charset="-122"/>
                <a:cs typeface="Calibri" pitchFamily="34" charset="-120"/>
              </a:rPr>
              <a:t>Predictive layer</a:t>
            </a:r>
            <a:endParaRPr lang="en-US" sz="1700" dirty="0"/>
          </a:p>
        </p:txBody>
      </p:sp>
      <p:sp>
        <p:nvSpPr>
          <p:cNvPr id="19" name="Text 17"/>
          <p:cNvSpPr/>
          <p:nvPr/>
        </p:nvSpPr>
        <p:spPr>
          <a:xfrm>
            <a:off x="8339328" y="3785616"/>
            <a:ext cx="2926080" cy="128016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Weather-driven demand by market</a:t>
            </a:r>
            <a:endParaRPr lang="en-US" sz="1150" dirty="0"/>
          </a:p>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Capacity planned ahead of the surge</a:t>
            </a:r>
            <a:endParaRPr lang="en-US" sz="1150" dirty="0"/>
          </a:p>
          <a:p>
            <a:pPr marL="342900" indent="-342900">
              <a:lnSpc>
                <a:spcPts val="1500"/>
              </a:lnSpc>
              <a:spcAft>
                <a:spcPts val="600"/>
              </a:spcAft>
              <a:buSzPct val="100000"/>
              <a:buChar char="•"/>
            </a:pPr>
            <a:r>
              <a:rPr lang="en-US" sz="1150" dirty="0">
                <a:solidFill>
                  <a:srgbClr val="8FA3C0"/>
                </a:solidFill>
                <a:latin typeface="Calibri" pitchFamily="34" charset="0"/>
                <a:ea typeface="Calibri" pitchFamily="34" charset="-122"/>
                <a:cs typeface="Calibri" pitchFamily="34" charset="-120"/>
              </a:rPr>
              <a:t>Which zip codes are about to get busy</a:t>
            </a:r>
            <a:endParaRPr lang="en-US" sz="1150" dirty="0"/>
          </a:p>
        </p:txBody>
      </p:sp>
      <p:sp>
        <p:nvSpPr>
          <p:cNvPr id="20" name="Text 18"/>
          <p:cNvSpPr/>
          <p:nvPr/>
        </p:nvSpPr>
        <p:spPr>
          <a:xfrm>
            <a:off x="658368" y="5541264"/>
            <a:ext cx="10872216" cy="548640"/>
          </a:xfrm>
          <a:prstGeom prst="rect">
            <a:avLst/>
          </a:prstGeom>
          <a:noFill/>
          <a:ln/>
        </p:spPr>
        <p:txBody>
          <a:bodyPr wrap="square" lIns="0" tIns="0" rIns="0" bIns="0" rtlCol="0" anchor="ctr"/>
          <a:lstStyle/>
          <a:p>
            <a:pPr indent="0" marL="0">
              <a:lnSpc>
                <a:spcPts val="1900"/>
              </a:lnSpc>
              <a:buNone/>
            </a:pPr>
            <a:r>
              <a:rPr lang="en-US" sz="1350" i="1" dirty="0">
                <a:solidFill>
                  <a:srgbClr val="EAF2FF"/>
                </a:solidFill>
                <a:latin typeface="Calibri" pitchFamily="34" charset="0"/>
                <a:ea typeface="Calibri" pitchFamily="34" charset="-122"/>
                <a:cs typeface="Calibri" pitchFamily="34" charset="-120"/>
              </a:rPr>
              <a:t>And the system compounds: every recorded call improves the script, every booking teaches the routing. Month twelve outperforms month one without you doing anything differently.</a:t>
            </a:r>
            <a:endParaRPr lang="en-US" sz="1350" dirty="0"/>
          </a:p>
        </p:txBody>
      </p:sp>
      <p:sp>
        <p:nvSpPr>
          <p:cNvPr id="21" name="Text 19"/>
          <p:cNvSpPr/>
          <p:nvPr/>
        </p:nvSpPr>
        <p:spPr>
          <a:xfrm>
            <a:off x="658368" y="6291072"/>
            <a:ext cx="10872216" cy="237744"/>
          </a:xfrm>
          <a:prstGeom prst="rect">
            <a:avLst/>
          </a:prstGeom>
          <a:noFill/>
          <a:ln/>
        </p:spPr>
        <p:txBody>
          <a:bodyPr wrap="square" lIns="0" tIns="0" rIns="0" bIns="0" rtlCol="0" anchor="ctr"/>
          <a:lstStyle/>
          <a:p>
            <a:pPr indent="0" marL="0">
              <a:buNone/>
            </a:pPr>
            <a:r>
              <a:rPr lang="en-US" sz="900" dirty="0">
                <a:solidFill>
                  <a:srgbClr val="54658A"/>
                </a:solidFill>
                <a:latin typeface="Calibri" pitchFamily="34" charset="0"/>
                <a:ea typeface="Calibri" pitchFamily="34" charset="-122"/>
                <a:cs typeface="Calibri" pitchFamily="34" charset="-120"/>
              </a:rPr>
              <a:t>Telvergence, Inc.  ·  Confidential — prepared for Jimmy Mejia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GROWTH</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Where this goes for you</a:t>
            </a:r>
            <a:endParaRPr lang="en-US" sz="3400" dirty="0"/>
          </a:p>
        </p:txBody>
      </p:sp>
      <p:sp>
        <p:nvSpPr>
          <p:cNvPr id="4" name="Text 2"/>
          <p:cNvSpPr/>
          <p:nvPr/>
        </p:nvSpPr>
        <p:spPr>
          <a:xfrm>
            <a:off x="658368" y="1920240"/>
            <a:ext cx="2103120" cy="274320"/>
          </a:xfrm>
          <a:prstGeom prst="rect">
            <a:avLst/>
          </a:prstGeom>
          <a:noFill/>
          <a:ln/>
        </p:spPr>
        <p:txBody>
          <a:bodyPr wrap="square" lIns="0" tIns="0" rIns="0" bIns="0" rtlCol="0" anchor="ctr"/>
          <a:lstStyle/>
          <a:p>
            <a:pPr indent="0" marL="0">
              <a:buNone/>
            </a:pPr>
            <a:r>
              <a:rPr lang="en-US" sz="1000" b="1" spc="160" kern="0" dirty="0">
                <a:solidFill>
                  <a:srgbClr val="8FA3C0"/>
                </a:solidFill>
                <a:latin typeface="Calibri" pitchFamily="34" charset="0"/>
                <a:ea typeface="Calibri" pitchFamily="34" charset="-122"/>
                <a:cs typeface="Calibri" pitchFamily="34" charset="-120"/>
              </a:rPr>
              <a:t>STAGE</a:t>
            </a:r>
            <a:endParaRPr lang="en-US" sz="1000" dirty="0"/>
          </a:p>
        </p:txBody>
      </p:sp>
      <p:sp>
        <p:nvSpPr>
          <p:cNvPr id="5" name="Text 3"/>
          <p:cNvSpPr/>
          <p:nvPr/>
        </p:nvSpPr>
        <p:spPr>
          <a:xfrm>
            <a:off x="2944368" y="1920240"/>
            <a:ext cx="4023360" cy="274320"/>
          </a:xfrm>
          <a:prstGeom prst="rect">
            <a:avLst/>
          </a:prstGeom>
          <a:noFill/>
          <a:ln/>
        </p:spPr>
        <p:txBody>
          <a:bodyPr wrap="square" lIns="0" tIns="0" rIns="0" bIns="0" rtlCol="0" anchor="ctr"/>
          <a:lstStyle/>
          <a:p>
            <a:pPr indent="0" marL="0">
              <a:buNone/>
            </a:pPr>
            <a:r>
              <a:rPr lang="en-US" sz="1000" b="1" spc="160" kern="0" dirty="0">
                <a:solidFill>
                  <a:srgbClr val="8FA3C0"/>
                </a:solidFill>
                <a:latin typeface="Calibri" pitchFamily="34" charset="0"/>
                <a:ea typeface="Calibri" pitchFamily="34" charset="-122"/>
                <a:cs typeface="Calibri" pitchFamily="34" charset="-120"/>
              </a:rPr>
              <a:t>WHAT YOU DO</a:t>
            </a:r>
            <a:endParaRPr lang="en-US" sz="1000" dirty="0"/>
          </a:p>
        </p:txBody>
      </p:sp>
      <p:sp>
        <p:nvSpPr>
          <p:cNvPr id="6" name="Text 4"/>
          <p:cNvSpPr/>
          <p:nvPr/>
        </p:nvSpPr>
        <p:spPr>
          <a:xfrm>
            <a:off x="7150608" y="1920240"/>
            <a:ext cx="4379976" cy="274320"/>
          </a:xfrm>
          <a:prstGeom prst="rect">
            <a:avLst/>
          </a:prstGeom>
          <a:noFill/>
          <a:ln/>
        </p:spPr>
        <p:txBody>
          <a:bodyPr wrap="square" lIns="0" tIns="0" rIns="0" bIns="0" rtlCol="0" anchor="ctr"/>
          <a:lstStyle/>
          <a:p>
            <a:pPr indent="0" marL="0">
              <a:buNone/>
            </a:pPr>
            <a:r>
              <a:rPr lang="en-US" sz="1000" b="1" spc="160" kern="0" dirty="0">
                <a:solidFill>
                  <a:srgbClr val="8FA3C0"/>
                </a:solidFill>
                <a:latin typeface="Calibri" pitchFamily="34" charset="0"/>
                <a:ea typeface="Calibri" pitchFamily="34" charset="-122"/>
                <a:cs typeface="Calibri" pitchFamily="34" charset="-120"/>
              </a:rPr>
              <a:t>WHAT IT PRODUCES</a:t>
            </a:r>
            <a:endParaRPr lang="en-US" sz="1000" dirty="0"/>
          </a:p>
        </p:txBody>
      </p:sp>
      <p:sp>
        <p:nvSpPr>
          <p:cNvPr id="7" name="Shape 5"/>
          <p:cNvSpPr/>
          <p:nvPr/>
        </p:nvSpPr>
        <p:spPr>
          <a:xfrm>
            <a:off x="658368" y="2249424"/>
            <a:ext cx="10872216" cy="10973"/>
          </a:xfrm>
          <a:prstGeom prst="rect">
            <a:avLst/>
          </a:prstGeom>
          <a:solidFill>
            <a:srgbClr val="1E2E4A"/>
          </a:solidFill>
          <a:ln w="12700">
            <a:solidFill>
              <a:srgbClr val="333333"/>
            </a:solidFill>
            <a:prstDash val="solid"/>
          </a:ln>
        </p:spPr>
      </p:sp>
      <p:sp>
        <p:nvSpPr>
          <p:cNvPr id="8" name="Text 6"/>
          <p:cNvSpPr/>
          <p:nvPr/>
        </p:nvSpPr>
        <p:spPr>
          <a:xfrm>
            <a:off x="658368" y="2450592"/>
            <a:ext cx="2103120" cy="329184"/>
          </a:xfrm>
          <a:prstGeom prst="rect">
            <a:avLst/>
          </a:prstGeom>
          <a:noFill/>
          <a:ln/>
        </p:spPr>
        <p:txBody>
          <a:bodyPr wrap="square" lIns="0" tIns="0" rIns="0" bIns="0"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Partner</a:t>
            </a:r>
            <a:endParaRPr lang="en-US" sz="1600" dirty="0"/>
          </a:p>
        </p:txBody>
      </p:sp>
      <p:sp>
        <p:nvSpPr>
          <p:cNvPr id="9" name="Text 7"/>
          <p:cNvSpPr/>
          <p:nvPr/>
        </p:nvSpPr>
        <p:spPr>
          <a:xfrm>
            <a:off x="2944368" y="2450592"/>
            <a:ext cx="4023360" cy="457200"/>
          </a:xfrm>
          <a:prstGeom prst="rect">
            <a:avLst/>
          </a:prstGeom>
          <a:noFill/>
          <a:ln/>
        </p:spPr>
        <p:txBody>
          <a:bodyPr wrap="square" lIns="0" tIns="0" rIns="0" bIns="0" rtlCol="0" anchor="ctr"/>
          <a:lstStyle/>
          <a:p>
            <a:pPr indent="0" marL="0">
              <a:lnSpc>
                <a:spcPts val="1700"/>
              </a:lnSpc>
              <a:buNone/>
            </a:pPr>
            <a:r>
              <a:rPr lang="en-US" sz="1250" dirty="0">
                <a:solidFill>
                  <a:srgbClr val="EAF2FF"/>
                </a:solidFill>
                <a:latin typeface="Calibri" pitchFamily="34" charset="0"/>
                <a:ea typeface="Calibri" pitchFamily="34" charset="-122"/>
                <a:cs typeface="Calibri" pitchFamily="34" charset="-120"/>
              </a:rPr>
              <a:t>Run your ten lines; take the calls the network routes you</a:t>
            </a:r>
            <a:endParaRPr lang="en-US" sz="1250" dirty="0"/>
          </a:p>
        </p:txBody>
      </p:sp>
      <p:sp>
        <p:nvSpPr>
          <p:cNvPr id="10" name="Text 8"/>
          <p:cNvSpPr/>
          <p:nvPr/>
        </p:nvSpPr>
        <p:spPr>
          <a:xfrm>
            <a:off x="7150608" y="2450592"/>
            <a:ext cx="4379976" cy="457200"/>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Booked assessments in your own footprint</a:t>
            </a:r>
            <a:endParaRPr lang="en-US" sz="1250" dirty="0"/>
          </a:p>
        </p:txBody>
      </p:sp>
      <p:sp>
        <p:nvSpPr>
          <p:cNvPr id="11" name="Shape 9"/>
          <p:cNvSpPr/>
          <p:nvPr/>
        </p:nvSpPr>
        <p:spPr>
          <a:xfrm>
            <a:off x="658368" y="3072384"/>
            <a:ext cx="10872216" cy="7315"/>
          </a:xfrm>
          <a:prstGeom prst="rect">
            <a:avLst/>
          </a:prstGeom>
          <a:solidFill>
            <a:srgbClr val="1E2E4A"/>
          </a:solidFill>
          <a:ln w="12700">
            <a:solidFill>
              <a:srgbClr val="333333"/>
            </a:solidFill>
            <a:prstDash val="solid"/>
          </a:ln>
        </p:spPr>
      </p:sp>
      <p:sp>
        <p:nvSpPr>
          <p:cNvPr id="12" name="Text 10"/>
          <p:cNvSpPr/>
          <p:nvPr/>
        </p:nvSpPr>
        <p:spPr>
          <a:xfrm>
            <a:off x="658368" y="3200400"/>
            <a:ext cx="2103120" cy="329184"/>
          </a:xfrm>
          <a:prstGeom prst="rect">
            <a:avLst/>
          </a:prstGeom>
          <a:noFill/>
          <a:ln/>
        </p:spPr>
        <p:txBody>
          <a:bodyPr wrap="square" lIns="0" tIns="0" rIns="0" bIns="0"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Referrer</a:t>
            </a:r>
            <a:endParaRPr lang="en-US" sz="1600" dirty="0"/>
          </a:p>
        </p:txBody>
      </p:sp>
      <p:sp>
        <p:nvSpPr>
          <p:cNvPr id="13" name="Text 11"/>
          <p:cNvSpPr/>
          <p:nvPr/>
        </p:nvSpPr>
        <p:spPr>
          <a:xfrm>
            <a:off x="2944368" y="3200400"/>
            <a:ext cx="4023360" cy="457200"/>
          </a:xfrm>
          <a:prstGeom prst="rect">
            <a:avLst/>
          </a:prstGeom>
          <a:noFill/>
          <a:ln/>
        </p:spPr>
        <p:txBody>
          <a:bodyPr wrap="square" lIns="0" tIns="0" rIns="0" bIns="0" rtlCol="0" anchor="ctr"/>
          <a:lstStyle/>
          <a:p>
            <a:pPr indent="0" marL="0">
              <a:lnSpc>
                <a:spcPts val="1700"/>
              </a:lnSpc>
              <a:buNone/>
            </a:pPr>
            <a:r>
              <a:rPr lang="en-US" sz="1250" dirty="0">
                <a:solidFill>
                  <a:srgbClr val="EAF2FF"/>
                </a:solidFill>
                <a:latin typeface="Calibri" pitchFamily="34" charset="0"/>
                <a:ea typeface="Calibri" pitchFamily="34" charset="-122"/>
                <a:cs typeface="Calibri" pitchFamily="34" charset="-120"/>
              </a:rPr>
              <a:t>Introduce the contractors you already work beside</a:t>
            </a:r>
            <a:endParaRPr lang="en-US" sz="1250" dirty="0"/>
          </a:p>
        </p:txBody>
      </p:sp>
      <p:sp>
        <p:nvSpPr>
          <p:cNvPr id="14" name="Text 12"/>
          <p:cNvSpPr/>
          <p:nvPr/>
        </p:nvSpPr>
        <p:spPr>
          <a:xfrm>
            <a:off x="7150608" y="3200400"/>
            <a:ext cx="4379976" cy="457200"/>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Ongoing residual on every line they run</a:t>
            </a:r>
            <a:endParaRPr lang="en-US" sz="1250" dirty="0"/>
          </a:p>
        </p:txBody>
      </p:sp>
      <p:sp>
        <p:nvSpPr>
          <p:cNvPr id="15" name="Shape 13"/>
          <p:cNvSpPr/>
          <p:nvPr/>
        </p:nvSpPr>
        <p:spPr>
          <a:xfrm>
            <a:off x="658368" y="3822192"/>
            <a:ext cx="10872216" cy="7315"/>
          </a:xfrm>
          <a:prstGeom prst="rect">
            <a:avLst/>
          </a:prstGeom>
          <a:solidFill>
            <a:srgbClr val="1E2E4A"/>
          </a:solidFill>
          <a:ln w="12700">
            <a:solidFill>
              <a:srgbClr val="333333"/>
            </a:solidFill>
            <a:prstDash val="solid"/>
          </a:ln>
        </p:spPr>
      </p:sp>
      <p:sp>
        <p:nvSpPr>
          <p:cNvPr id="16" name="Text 14"/>
          <p:cNvSpPr/>
          <p:nvPr/>
        </p:nvSpPr>
        <p:spPr>
          <a:xfrm>
            <a:off x="658368" y="3950208"/>
            <a:ext cx="2103120" cy="329184"/>
          </a:xfrm>
          <a:prstGeom prst="rect">
            <a:avLst/>
          </a:prstGeom>
          <a:noFill/>
          <a:ln/>
        </p:spPr>
        <p:txBody>
          <a:bodyPr wrap="square" lIns="0" tIns="0" rIns="0" bIns="0"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Distributor</a:t>
            </a:r>
            <a:endParaRPr lang="en-US" sz="1600" dirty="0"/>
          </a:p>
        </p:txBody>
      </p:sp>
      <p:sp>
        <p:nvSpPr>
          <p:cNvPr id="17" name="Text 15"/>
          <p:cNvSpPr/>
          <p:nvPr/>
        </p:nvSpPr>
        <p:spPr>
          <a:xfrm>
            <a:off x="2944368" y="3950208"/>
            <a:ext cx="4023360" cy="457200"/>
          </a:xfrm>
          <a:prstGeom prst="rect">
            <a:avLst/>
          </a:prstGeom>
          <a:noFill/>
          <a:ln/>
        </p:spPr>
        <p:txBody>
          <a:bodyPr wrap="square" lIns="0" tIns="0" rIns="0" bIns="0" rtlCol="0" anchor="ctr"/>
          <a:lstStyle/>
          <a:p>
            <a:pPr indent="0" marL="0">
              <a:lnSpc>
                <a:spcPts val="1700"/>
              </a:lnSpc>
              <a:buNone/>
            </a:pPr>
            <a:r>
              <a:rPr lang="en-US" sz="1250" dirty="0">
                <a:solidFill>
                  <a:srgbClr val="EAF2FF"/>
                </a:solidFill>
                <a:latin typeface="Calibri" pitchFamily="34" charset="0"/>
                <a:ea typeface="Calibri" pitchFamily="34" charset="-122"/>
                <a:cs typeface="Calibri" pitchFamily="34" charset="-120"/>
              </a:rPr>
              <a:t>Hold a trade or a territory and sign under it</a:t>
            </a:r>
            <a:endParaRPr lang="en-US" sz="1250" dirty="0"/>
          </a:p>
        </p:txBody>
      </p:sp>
      <p:sp>
        <p:nvSpPr>
          <p:cNvPr id="18" name="Text 16"/>
          <p:cNvSpPr/>
          <p:nvPr/>
        </p:nvSpPr>
        <p:spPr>
          <a:xfrm>
            <a:off x="7150608" y="3950208"/>
            <a:ext cx="4379976" cy="457200"/>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Override on the whole footprint, not one deal</a:t>
            </a:r>
            <a:endParaRPr lang="en-US" sz="1250" dirty="0"/>
          </a:p>
        </p:txBody>
      </p:sp>
      <p:sp>
        <p:nvSpPr>
          <p:cNvPr id="19" name="Shape 17"/>
          <p:cNvSpPr/>
          <p:nvPr/>
        </p:nvSpPr>
        <p:spPr>
          <a:xfrm>
            <a:off x="658368" y="4572000"/>
            <a:ext cx="10872216" cy="7315"/>
          </a:xfrm>
          <a:prstGeom prst="rect">
            <a:avLst/>
          </a:prstGeom>
          <a:solidFill>
            <a:srgbClr val="1E2E4A"/>
          </a:solidFill>
          <a:ln w="12700">
            <a:solidFill>
              <a:srgbClr val="333333"/>
            </a:solidFill>
            <a:prstDash val="solid"/>
          </a:ln>
        </p:spPr>
      </p:sp>
      <p:sp>
        <p:nvSpPr>
          <p:cNvPr id="20" name="Text 18"/>
          <p:cNvSpPr/>
          <p:nvPr/>
        </p:nvSpPr>
        <p:spPr>
          <a:xfrm>
            <a:off x="658368" y="4700016"/>
            <a:ext cx="2103120" cy="329184"/>
          </a:xfrm>
          <a:prstGeom prst="rect">
            <a:avLst/>
          </a:prstGeom>
          <a:noFill/>
          <a:ln/>
        </p:spPr>
        <p:txBody>
          <a:bodyPr wrap="square" lIns="0" tIns="0" rIns="0" bIns="0" rtlCol="0" anchor="ctr"/>
          <a:lstStyle/>
          <a:p>
            <a:pPr indent="0" marL="0">
              <a:buNone/>
            </a:pPr>
            <a:r>
              <a:rPr lang="en-US" sz="1600" b="1" dirty="0">
                <a:solidFill>
                  <a:srgbClr val="00D4FF"/>
                </a:solidFill>
                <a:latin typeface="Calibri" pitchFamily="34" charset="0"/>
                <a:ea typeface="Calibri" pitchFamily="34" charset="-122"/>
                <a:cs typeface="Calibri" pitchFamily="34" charset="-120"/>
              </a:rPr>
              <a:t>White label</a:t>
            </a:r>
            <a:endParaRPr lang="en-US" sz="1600" dirty="0"/>
          </a:p>
        </p:txBody>
      </p:sp>
      <p:sp>
        <p:nvSpPr>
          <p:cNvPr id="21" name="Text 19"/>
          <p:cNvSpPr/>
          <p:nvPr/>
        </p:nvSpPr>
        <p:spPr>
          <a:xfrm>
            <a:off x="2944368" y="4700016"/>
            <a:ext cx="4023360" cy="457200"/>
          </a:xfrm>
          <a:prstGeom prst="rect">
            <a:avLst/>
          </a:prstGeom>
          <a:noFill/>
          <a:ln/>
        </p:spPr>
        <p:txBody>
          <a:bodyPr wrap="square" lIns="0" tIns="0" rIns="0" bIns="0" rtlCol="0" anchor="ctr"/>
          <a:lstStyle/>
          <a:p>
            <a:pPr indent="0" marL="0">
              <a:lnSpc>
                <a:spcPts val="1700"/>
              </a:lnSpc>
              <a:buNone/>
            </a:pPr>
            <a:r>
              <a:rPr lang="en-US" sz="1250" dirty="0">
                <a:solidFill>
                  <a:srgbClr val="EAF2FF"/>
                </a:solidFill>
                <a:latin typeface="Calibri" pitchFamily="34" charset="0"/>
                <a:ea typeface="Calibri" pitchFamily="34" charset="-122"/>
                <a:cs typeface="Calibri" pitchFamily="34" charset="-120"/>
              </a:rPr>
              <a:t>Run the platform under your own brand</a:t>
            </a:r>
            <a:endParaRPr lang="en-US" sz="1250" dirty="0"/>
          </a:p>
        </p:txBody>
      </p:sp>
      <p:sp>
        <p:nvSpPr>
          <p:cNvPr id="22" name="Text 20"/>
          <p:cNvSpPr/>
          <p:nvPr/>
        </p:nvSpPr>
        <p:spPr>
          <a:xfrm>
            <a:off x="7150608" y="4700016"/>
            <a:ext cx="4379976" cy="457200"/>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An asset with its own name, book, and value</a:t>
            </a:r>
            <a:endParaRPr lang="en-US" sz="1250" dirty="0"/>
          </a:p>
        </p:txBody>
      </p:sp>
      <p:sp>
        <p:nvSpPr>
          <p:cNvPr id="23" name="Shape 21"/>
          <p:cNvSpPr/>
          <p:nvPr/>
        </p:nvSpPr>
        <p:spPr>
          <a:xfrm>
            <a:off x="658368" y="5138928"/>
            <a:ext cx="10872216" cy="1060704"/>
          </a:xfrm>
          <a:prstGeom prst="roundRect">
            <a:avLst>
              <a:gd name="adj" fmla="val 10345"/>
            </a:avLst>
          </a:prstGeom>
          <a:solidFill>
            <a:srgbClr val="101A33"/>
          </a:solidFill>
          <a:ln w="12700">
            <a:solidFill>
              <a:srgbClr val="1E2E4A"/>
            </a:solidFill>
            <a:prstDash val="solid"/>
          </a:ln>
        </p:spPr>
      </p:sp>
      <p:sp>
        <p:nvSpPr>
          <p:cNvPr id="24" name="Text 22"/>
          <p:cNvSpPr/>
          <p:nvPr/>
        </p:nvSpPr>
        <p:spPr>
          <a:xfrm>
            <a:off x="950976" y="5285232"/>
            <a:ext cx="10287000" cy="274320"/>
          </a:xfrm>
          <a:prstGeom prst="rect">
            <a:avLst/>
          </a:prstGeom>
          <a:noFill/>
          <a:ln/>
        </p:spPr>
        <p:txBody>
          <a:bodyPr wrap="square" lIns="0" tIns="0" rIns="0" bIns="0" rtlCol="0" anchor="ctr"/>
          <a:lstStyle/>
          <a:p>
            <a:pPr indent="0" marL="0">
              <a:buNone/>
            </a:pPr>
            <a:r>
              <a:rPr lang="en-US" sz="1400" b="1" dirty="0">
                <a:solidFill>
                  <a:srgbClr val="FFC24B"/>
                </a:solidFill>
                <a:latin typeface="Calibri" pitchFamily="34" charset="0"/>
                <a:ea typeface="Calibri" pitchFamily="34" charset="-122"/>
                <a:cs typeface="Calibri" pitchFamily="34" charset="-120"/>
              </a:rPr>
              <a:t>The part most people miss</a:t>
            </a:r>
            <a:endParaRPr lang="en-US" sz="1400" dirty="0"/>
          </a:p>
        </p:txBody>
      </p:sp>
      <p:sp>
        <p:nvSpPr>
          <p:cNvPr id="25" name="Text 23"/>
          <p:cNvSpPr/>
          <p:nvPr/>
        </p:nvSpPr>
        <p:spPr>
          <a:xfrm>
            <a:off x="950976" y="5577840"/>
            <a:ext cx="10287000" cy="512064"/>
          </a:xfrm>
          <a:prstGeom prst="rect">
            <a:avLst/>
          </a:prstGeom>
          <a:noFill/>
          <a:ln/>
        </p:spPr>
        <p:txBody>
          <a:bodyPr wrap="square" lIns="0" tIns="0" rIns="0" bIns="0" rtlCol="0" anchor="ctr"/>
          <a:lstStyle/>
          <a:p>
            <a:pPr indent="0" marL="0">
              <a:lnSpc>
                <a:spcPts val="1800"/>
              </a:lnSpc>
              <a:buNone/>
            </a:pPr>
            <a:r>
              <a:rPr lang="en-US" sz="1300" dirty="0">
                <a:solidFill>
                  <a:srgbClr val="8FA3C0"/>
                </a:solidFill>
                <a:latin typeface="Calibri" pitchFamily="34" charset="0"/>
                <a:ea typeface="Calibri" pitchFamily="34" charset="-122"/>
                <a:cs typeface="Calibri" pitchFamily="34" charset="-120"/>
              </a:rPr>
              <a:t>A restoration company with a shoebox of invoices is worth its trucks. One with four years of clean call and claim data is worth a multiple. The record is the asset.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GO-LIVE</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The campaign, ready to run</a:t>
            </a:r>
            <a:endParaRPr lang="en-US" sz="3400" dirty="0"/>
          </a:p>
        </p:txBody>
      </p:sp>
      <p:sp>
        <p:nvSpPr>
          <p:cNvPr id="4" name="Text 2"/>
          <p:cNvSpPr/>
          <p:nvPr/>
        </p:nvSpPr>
        <p:spPr>
          <a:xfrm>
            <a:off x="658368" y="1627632"/>
            <a:ext cx="9350106" cy="658368"/>
          </a:xfrm>
          <a:prstGeom prst="rect">
            <a:avLst/>
          </a:prstGeom>
          <a:noFill/>
          <a:ln/>
        </p:spPr>
        <p:txBody>
          <a:bodyPr wrap="square" lIns="0" tIns="0" rIns="0" bIns="0" rtlCol="0" anchor="ctr"/>
          <a:lstStyle/>
          <a:p>
            <a:pPr indent="0" marL="0">
              <a:lnSpc>
                <a:spcPts val="2200"/>
              </a:lnSpc>
              <a:buNone/>
            </a:pPr>
            <a:r>
              <a:rPr lang="en-US" sz="1500" dirty="0">
                <a:solidFill>
                  <a:srgbClr val="8FA3C0"/>
                </a:solidFill>
                <a:latin typeface="Calibri" pitchFamily="34" charset="0"/>
                <a:ea typeface="Calibri" pitchFamily="34" charset="-122"/>
                <a:cs typeface="Calibri" pitchFamily="34" charset="-120"/>
              </a:rPr>
              <a:t>Both markets are loaded, scripted, and compliance-checked.</a:t>
            </a:r>
            <a:endParaRPr lang="en-US" sz="1500" dirty="0"/>
          </a:p>
        </p:txBody>
      </p:sp>
      <p:sp>
        <p:nvSpPr>
          <p:cNvPr id="5" name="Shape 3"/>
          <p:cNvSpPr/>
          <p:nvPr/>
        </p:nvSpPr>
        <p:spPr>
          <a:xfrm>
            <a:off x="658368" y="2377440"/>
            <a:ext cx="5285232" cy="1975104"/>
          </a:xfrm>
          <a:prstGeom prst="roundRect">
            <a:avLst>
              <a:gd name="adj" fmla="val 5556"/>
            </a:avLst>
          </a:prstGeom>
          <a:solidFill>
            <a:srgbClr val="101A33"/>
          </a:solidFill>
          <a:ln w="12700">
            <a:solidFill>
              <a:srgbClr val="1E2E4A"/>
            </a:solidFill>
            <a:prstDash val="solid"/>
          </a:ln>
        </p:spPr>
      </p:sp>
      <p:sp>
        <p:nvSpPr>
          <p:cNvPr id="6" name="Shape 4"/>
          <p:cNvSpPr/>
          <p:nvPr/>
        </p:nvSpPr>
        <p:spPr>
          <a:xfrm>
            <a:off x="932688" y="2633472"/>
            <a:ext cx="1883664" cy="237744"/>
          </a:xfrm>
          <a:prstGeom prst="roundRect">
            <a:avLst>
              <a:gd name="adj" fmla="val 23077"/>
            </a:avLst>
          </a:prstGeom>
          <a:solidFill>
            <a:srgbClr val="00D4FF"/>
          </a:solidFill>
          <a:ln w="12700">
            <a:solidFill>
              <a:srgbClr val="00D4FF"/>
            </a:solidFill>
            <a:prstDash val="solid"/>
          </a:ln>
        </p:spPr>
      </p:sp>
      <p:sp>
        <p:nvSpPr>
          <p:cNvPr id="7" name="Text 5"/>
          <p:cNvSpPr/>
          <p:nvPr/>
        </p:nvSpPr>
        <p:spPr>
          <a:xfrm>
            <a:off x="932688" y="2633472"/>
            <a:ext cx="1883664"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ORLANDO / CENTRAL FL</a:t>
            </a:r>
            <a:endParaRPr lang="en-US" sz="900" dirty="0"/>
          </a:p>
        </p:txBody>
      </p:sp>
      <p:sp>
        <p:nvSpPr>
          <p:cNvPr id="8" name="Text 6"/>
          <p:cNvSpPr/>
          <p:nvPr/>
        </p:nvSpPr>
        <p:spPr>
          <a:xfrm>
            <a:off x="932688" y="2999232"/>
            <a:ext cx="4736592" cy="384048"/>
          </a:xfrm>
          <a:prstGeom prst="rect">
            <a:avLst/>
          </a:prstGeom>
          <a:noFill/>
          <a:ln/>
        </p:spPr>
        <p:txBody>
          <a:bodyPr wrap="square" lIns="0" tIns="0" rIns="0" bIns="0" rtlCol="0" anchor="ctr"/>
          <a:lstStyle/>
          <a:p>
            <a:pPr indent="0" marL="0">
              <a:buNone/>
            </a:pPr>
            <a:r>
              <a:rPr lang="en-US" sz="2200" b="1" spc="60" kern="0" dirty="0">
                <a:solidFill>
                  <a:srgbClr val="EAF2FF"/>
                </a:solidFill>
                <a:latin typeface="Calibri" pitchFamily="34" charset="0"/>
                <a:ea typeface="Calibri" pitchFamily="34" charset="-122"/>
                <a:cs typeface="Calibri" pitchFamily="34" charset="-120"/>
              </a:rPr>
              <a:t>407 · 689 · 321 · 352</a:t>
            </a:r>
            <a:endParaRPr lang="en-US" sz="2200" dirty="0"/>
          </a:p>
        </p:txBody>
      </p:sp>
      <p:sp>
        <p:nvSpPr>
          <p:cNvPr id="9" name="Text 7"/>
          <p:cNvSpPr/>
          <p:nvPr/>
        </p:nvSpPr>
        <p:spPr>
          <a:xfrm>
            <a:off x="932688" y="3438144"/>
            <a:ext cx="4736592" cy="822960"/>
          </a:xfrm>
          <a:prstGeom prst="rect">
            <a:avLst/>
          </a:prstGeom>
          <a:noFill/>
          <a:ln/>
        </p:spPr>
        <p:txBody>
          <a:bodyPr wrap="square" lIns="0" tIns="0" rIns="0" bIns="0" rtlCol="0" anchor="ctr"/>
          <a:lstStyle/>
          <a:p>
            <a:pPr indent="0" marL="0">
              <a:lnSpc>
                <a:spcPts val="1550"/>
              </a:lnSpc>
              <a:buNone/>
            </a:pPr>
            <a:r>
              <a:rPr lang="en-US" sz="1150" dirty="0">
                <a:solidFill>
                  <a:srgbClr val="8FA3C0"/>
                </a:solidFill>
                <a:latin typeface="Calibri" pitchFamily="34" charset="0"/>
                <a:ea typeface="Calibri" pitchFamily="34" charset="-122"/>
                <a:cs typeface="Calibri" pitchFamily="34" charset="-120"/>
              </a:rPr>
              <a:t>Orlando, Winter Park, Kissimmee, Clermont, Sanford, Altamonte, Oviedo. Priority order: apartment and multifamily managers, condo and HOA firms, standalone PM firms, then roofers and GCs for overflow.</a:t>
            </a:r>
            <a:endParaRPr lang="en-US" sz="1150" dirty="0"/>
          </a:p>
        </p:txBody>
      </p:sp>
      <p:sp>
        <p:nvSpPr>
          <p:cNvPr id="10" name="Shape 8"/>
          <p:cNvSpPr/>
          <p:nvPr/>
        </p:nvSpPr>
        <p:spPr>
          <a:xfrm>
            <a:off x="6236208" y="2377440"/>
            <a:ext cx="5285232" cy="1975104"/>
          </a:xfrm>
          <a:prstGeom prst="roundRect">
            <a:avLst>
              <a:gd name="adj" fmla="val 5556"/>
            </a:avLst>
          </a:prstGeom>
          <a:solidFill>
            <a:srgbClr val="101A33"/>
          </a:solidFill>
          <a:ln w="12700">
            <a:solidFill>
              <a:srgbClr val="1E2E4A"/>
            </a:solidFill>
            <a:prstDash val="solid"/>
          </a:ln>
        </p:spPr>
      </p:sp>
      <p:sp>
        <p:nvSpPr>
          <p:cNvPr id="11" name="Shape 9"/>
          <p:cNvSpPr/>
          <p:nvPr/>
        </p:nvSpPr>
        <p:spPr>
          <a:xfrm>
            <a:off x="6510528" y="2633472"/>
            <a:ext cx="1320394" cy="237744"/>
          </a:xfrm>
          <a:prstGeom prst="roundRect">
            <a:avLst>
              <a:gd name="adj" fmla="val 23077"/>
            </a:avLst>
          </a:prstGeom>
          <a:solidFill>
            <a:srgbClr val="FFC24B"/>
          </a:solidFill>
          <a:ln w="12700">
            <a:solidFill>
              <a:srgbClr val="FFC24B"/>
            </a:solidFill>
            <a:prstDash val="solid"/>
          </a:ln>
        </p:spPr>
      </p:sp>
      <p:sp>
        <p:nvSpPr>
          <p:cNvPr id="12" name="Text 10"/>
          <p:cNvSpPr/>
          <p:nvPr/>
        </p:nvSpPr>
        <p:spPr>
          <a:xfrm>
            <a:off x="6510528" y="2633472"/>
            <a:ext cx="1320394" cy="237744"/>
          </a:xfrm>
          <a:prstGeom prst="rect">
            <a:avLst/>
          </a:prstGeom>
          <a:noFill/>
          <a:ln/>
        </p:spPr>
        <p:txBody>
          <a:bodyPr wrap="square" lIns="0" tIns="0" rIns="0" bIns="0" rtlCol="0" anchor="ctr"/>
          <a:lstStyle/>
          <a:p>
            <a:pPr algn="ctr" indent="0" marL="0">
              <a:buNone/>
            </a:pPr>
            <a:r>
              <a:rPr lang="en-US" sz="900" b="1" spc="140" kern="0" dirty="0">
                <a:solidFill>
                  <a:srgbClr val="04121C"/>
                </a:solidFill>
                <a:latin typeface="Calibri" pitchFamily="34" charset="0"/>
                <a:ea typeface="Calibri" pitchFamily="34" charset="-122"/>
                <a:cs typeface="Calibri" pitchFamily="34" charset="-120"/>
              </a:rPr>
              <a:t>SOUTH FLORIDA</a:t>
            </a:r>
            <a:endParaRPr lang="en-US" sz="900" dirty="0"/>
          </a:p>
        </p:txBody>
      </p:sp>
      <p:sp>
        <p:nvSpPr>
          <p:cNvPr id="13" name="Text 11"/>
          <p:cNvSpPr/>
          <p:nvPr/>
        </p:nvSpPr>
        <p:spPr>
          <a:xfrm>
            <a:off x="6510528" y="2999232"/>
            <a:ext cx="4736592" cy="384048"/>
          </a:xfrm>
          <a:prstGeom prst="rect">
            <a:avLst/>
          </a:prstGeom>
          <a:noFill/>
          <a:ln/>
        </p:spPr>
        <p:txBody>
          <a:bodyPr wrap="square" lIns="0" tIns="0" rIns="0" bIns="0" rtlCol="0" anchor="ctr"/>
          <a:lstStyle/>
          <a:p>
            <a:pPr indent="0" marL="0">
              <a:buNone/>
            </a:pPr>
            <a:r>
              <a:rPr lang="en-US" sz="2200" b="1" spc="60" kern="0" dirty="0">
                <a:solidFill>
                  <a:srgbClr val="EAF2FF"/>
                </a:solidFill>
                <a:latin typeface="Calibri" pitchFamily="34" charset="0"/>
                <a:ea typeface="Calibri" pitchFamily="34" charset="-122"/>
                <a:cs typeface="Calibri" pitchFamily="34" charset="-120"/>
              </a:rPr>
              <a:t>954 · 754 · 305 · 786</a:t>
            </a:r>
            <a:endParaRPr lang="en-US" sz="2200" dirty="0"/>
          </a:p>
        </p:txBody>
      </p:sp>
      <p:sp>
        <p:nvSpPr>
          <p:cNvPr id="14" name="Text 12"/>
          <p:cNvSpPr/>
          <p:nvPr/>
        </p:nvSpPr>
        <p:spPr>
          <a:xfrm>
            <a:off x="6510528" y="3438144"/>
            <a:ext cx="4736592" cy="822960"/>
          </a:xfrm>
          <a:prstGeom prst="rect">
            <a:avLst/>
          </a:prstGeom>
          <a:noFill/>
          <a:ln/>
        </p:spPr>
        <p:txBody>
          <a:bodyPr wrap="square" lIns="0" tIns="0" rIns="0" bIns="0" rtlCol="0" anchor="ctr"/>
          <a:lstStyle/>
          <a:p>
            <a:pPr indent="0" marL="0">
              <a:lnSpc>
                <a:spcPts val="1550"/>
              </a:lnSpc>
              <a:buNone/>
            </a:pPr>
            <a:r>
              <a:rPr lang="en-US" sz="1150" dirty="0">
                <a:solidFill>
                  <a:srgbClr val="8FA3C0"/>
                </a:solidFill>
                <a:latin typeface="Calibri" pitchFamily="34" charset="0"/>
                <a:ea typeface="Calibri" pitchFamily="34" charset="-122"/>
                <a:cs typeface="Calibri" pitchFamily="34" charset="-120"/>
              </a:rPr>
              <a:t>Severe tier first — Miramar, Pembroke Pines, Weston, Doral, Hialeah — then Miami Lakes, Miami Gardens, North Miami, Sunrise, Plantation, out to Coral Springs.</a:t>
            </a:r>
            <a:endParaRPr lang="en-US" sz="1150" dirty="0"/>
          </a:p>
        </p:txBody>
      </p:sp>
      <p:sp>
        <p:nvSpPr>
          <p:cNvPr id="15" name="Shape 13"/>
          <p:cNvSpPr/>
          <p:nvPr/>
        </p:nvSpPr>
        <p:spPr>
          <a:xfrm>
            <a:off x="658368" y="4626864"/>
            <a:ext cx="5285232" cy="1463040"/>
          </a:xfrm>
          <a:prstGeom prst="roundRect">
            <a:avLst>
              <a:gd name="adj" fmla="val 7500"/>
            </a:avLst>
          </a:prstGeom>
          <a:solidFill>
            <a:srgbClr val="16233F"/>
          </a:solidFill>
          <a:ln w="12700">
            <a:solidFill>
              <a:srgbClr val="1E2E4A"/>
            </a:solidFill>
            <a:prstDash val="solid"/>
          </a:ln>
        </p:spPr>
      </p:sp>
      <p:sp>
        <p:nvSpPr>
          <p:cNvPr id="16" name="Text 14"/>
          <p:cNvSpPr/>
          <p:nvPr/>
        </p:nvSpPr>
        <p:spPr>
          <a:xfrm>
            <a:off x="932688" y="4773168"/>
            <a:ext cx="4736592" cy="274320"/>
          </a:xfrm>
          <a:prstGeom prst="rect">
            <a:avLst/>
          </a:prstGeom>
          <a:noFill/>
          <a:ln/>
        </p:spPr>
        <p:txBody>
          <a:bodyPr wrap="square" lIns="0" tIns="0" rIns="0" bIns="0" rtlCol="0" anchor="ctr"/>
          <a:lstStyle/>
          <a:p>
            <a:pPr indent="0" marL="0">
              <a:buNone/>
            </a:pPr>
            <a:r>
              <a:rPr lang="en-US" sz="1400" b="1" dirty="0">
                <a:solidFill>
                  <a:srgbClr val="00FF88"/>
                </a:solidFill>
                <a:latin typeface="Calibri" pitchFamily="34" charset="0"/>
                <a:ea typeface="Calibri" pitchFamily="34" charset="-122"/>
                <a:cs typeface="Calibri" pitchFamily="34" charset="-120"/>
              </a:rPr>
              <a:t>The pitch, in one breath</a:t>
            </a:r>
            <a:endParaRPr lang="en-US" sz="1400" dirty="0"/>
          </a:p>
        </p:txBody>
      </p:sp>
      <p:sp>
        <p:nvSpPr>
          <p:cNvPr id="17" name="Text 15"/>
          <p:cNvSpPr/>
          <p:nvPr/>
        </p:nvSpPr>
        <p:spPr>
          <a:xfrm>
            <a:off x="932688" y="5065776"/>
            <a:ext cx="4736592" cy="896112"/>
          </a:xfrm>
          <a:prstGeom prst="rect">
            <a:avLst/>
          </a:prstGeom>
          <a:noFill/>
          <a:ln/>
        </p:spPr>
        <p:txBody>
          <a:bodyPr wrap="square" lIns="0" tIns="0" rIns="0" bIns="0" rtlCol="0" anchor="ctr"/>
          <a:lstStyle/>
          <a:p>
            <a:pPr indent="0" marL="0">
              <a:lnSpc>
                <a:spcPts val="1550"/>
              </a:lnSpc>
              <a:buNone/>
            </a:pPr>
            <a:r>
              <a:rPr lang="en-US" sz="1150" dirty="0">
                <a:solidFill>
                  <a:srgbClr val="8FA3C0"/>
                </a:solidFill>
                <a:latin typeface="Calibri" pitchFamily="34" charset="0"/>
                <a:ea typeface="Calibri" pitchFamily="34" charset="-122"/>
                <a:cs typeface="Calibri" pitchFamily="34" charset="-120"/>
              </a:rPr>
              <a:t>Certified water, mold, and roofing restoration. The ask is a free assessment at the manager’s highest-occupancy property this week, with a written scope for ownership or the board.</a:t>
            </a:r>
            <a:endParaRPr lang="en-US" sz="1150" dirty="0"/>
          </a:p>
        </p:txBody>
      </p:sp>
      <p:sp>
        <p:nvSpPr>
          <p:cNvPr id="18" name="Shape 16"/>
          <p:cNvSpPr/>
          <p:nvPr/>
        </p:nvSpPr>
        <p:spPr>
          <a:xfrm>
            <a:off x="6236208" y="4626864"/>
            <a:ext cx="5285232" cy="1463040"/>
          </a:xfrm>
          <a:prstGeom prst="roundRect">
            <a:avLst>
              <a:gd name="adj" fmla="val 7500"/>
            </a:avLst>
          </a:prstGeom>
          <a:solidFill>
            <a:srgbClr val="16233F"/>
          </a:solidFill>
          <a:ln w="12700">
            <a:solidFill>
              <a:srgbClr val="1E2E4A"/>
            </a:solidFill>
            <a:prstDash val="solid"/>
          </a:ln>
        </p:spPr>
      </p:sp>
      <p:sp>
        <p:nvSpPr>
          <p:cNvPr id="19" name="Text 17"/>
          <p:cNvSpPr/>
          <p:nvPr/>
        </p:nvSpPr>
        <p:spPr>
          <a:xfrm>
            <a:off x="6510528" y="4773168"/>
            <a:ext cx="4736592" cy="274320"/>
          </a:xfrm>
          <a:prstGeom prst="rect">
            <a:avLst/>
          </a:prstGeom>
          <a:noFill/>
          <a:ln/>
        </p:spPr>
        <p:txBody>
          <a:bodyPr wrap="square" lIns="0" tIns="0" rIns="0" bIns="0" rtlCol="0" anchor="ctr"/>
          <a:lstStyle/>
          <a:p>
            <a:pPr indent="0" marL="0">
              <a:buNone/>
            </a:pPr>
            <a:r>
              <a:rPr lang="en-US" sz="1400" b="1" dirty="0">
                <a:solidFill>
                  <a:srgbClr val="FF7A45"/>
                </a:solidFill>
                <a:latin typeface="Calibri" pitchFamily="34" charset="0"/>
                <a:ea typeface="Calibri" pitchFamily="34" charset="-122"/>
                <a:cs typeface="Calibri" pitchFamily="34" charset="-120"/>
              </a:rPr>
              <a:t>Compliance is not optional</a:t>
            </a:r>
            <a:endParaRPr lang="en-US" sz="1400" dirty="0"/>
          </a:p>
        </p:txBody>
      </p:sp>
      <p:sp>
        <p:nvSpPr>
          <p:cNvPr id="20" name="Text 18"/>
          <p:cNvSpPr/>
          <p:nvPr/>
        </p:nvSpPr>
        <p:spPr>
          <a:xfrm>
            <a:off x="6510528" y="5065776"/>
            <a:ext cx="4736592" cy="896112"/>
          </a:xfrm>
          <a:prstGeom prst="rect">
            <a:avLst/>
          </a:prstGeom>
          <a:noFill/>
          <a:ln/>
        </p:spPr>
        <p:txBody>
          <a:bodyPr wrap="square" lIns="0" tIns="0" rIns="0" bIns="0" rtlCol="0" anchor="ctr"/>
          <a:lstStyle/>
          <a:p>
            <a:pPr indent="0" marL="0">
              <a:lnSpc>
                <a:spcPts val="1550"/>
              </a:lnSpc>
              <a:buNone/>
            </a:pPr>
            <a:r>
              <a:rPr lang="en-US" sz="1150" dirty="0">
                <a:solidFill>
                  <a:srgbClr val="8FA3C0"/>
                </a:solidFill>
                <a:latin typeface="Calibri" pitchFamily="34" charset="0"/>
                <a:ea typeface="Calibri" pitchFamily="34" charset="-122"/>
                <a:cs typeface="Calibri" pitchFamily="34" charset="-120"/>
              </a:rPr>
              <a:t>Business-to-business only, manually dialed, published lines, recorded with disclosure. Residential comes in through the sites — never cold-called. Do-not-call scrubbed before every list.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THE PROPERTIES</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Live links</a:t>
            </a:r>
            <a:endParaRPr lang="en-US" sz="3400" dirty="0"/>
          </a:p>
        </p:txBody>
      </p:sp>
      <p:sp>
        <p:nvSpPr>
          <p:cNvPr id="4" name="Text 2"/>
          <p:cNvSpPr/>
          <p:nvPr/>
        </p:nvSpPr>
        <p:spPr>
          <a:xfrm>
            <a:off x="658368" y="1627632"/>
            <a:ext cx="9350106" cy="658368"/>
          </a:xfrm>
          <a:prstGeom prst="rect">
            <a:avLst/>
          </a:prstGeom>
          <a:noFill/>
          <a:ln/>
        </p:spPr>
        <p:txBody>
          <a:bodyPr wrap="square" lIns="0" tIns="0" rIns="0" bIns="0" rtlCol="0" anchor="ctr"/>
          <a:lstStyle/>
          <a:p>
            <a:pPr indent="0" marL="0">
              <a:lnSpc>
                <a:spcPts val="2200"/>
              </a:lnSpc>
              <a:buNone/>
            </a:pPr>
            <a:r>
              <a:rPr lang="en-US" sz="1500" dirty="0">
                <a:solidFill>
                  <a:srgbClr val="8FA3C0"/>
                </a:solidFill>
                <a:latin typeface="Calibri" pitchFamily="34" charset="0"/>
                <a:ea typeface="Calibri" pitchFamily="34" charset="-122"/>
                <a:cs typeface="Calibri" pitchFamily="34" charset="-120"/>
              </a:rPr>
              <a:t>All four sites plus the supporting material, on one domain.</a:t>
            </a:r>
            <a:endParaRPr lang="en-US" sz="1500" dirty="0"/>
          </a:p>
        </p:txBody>
      </p:sp>
      <p:sp>
        <p:nvSpPr>
          <p:cNvPr id="5" name="Shape 3"/>
          <p:cNvSpPr/>
          <p:nvPr/>
        </p:nvSpPr>
        <p:spPr>
          <a:xfrm>
            <a:off x="658368" y="2286000"/>
            <a:ext cx="5285232" cy="731520"/>
          </a:xfrm>
          <a:prstGeom prst="roundRect">
            <a:avLst>
              <a:gd name="adj" fmla="val 15000"/>
            </a:avLst>
          </a:prstGeom>
          <a:solidFill>
            <a:srgbClr val="101A33"/>
          </a:solidFill>
          <a:ln w="12700">
            <a:solidFill>
              <a:srgbClr val="1E2E4A"/>
            </a:solidFill>
            <a:prstDash val="solid"/>
          </a:ln>
        </p:spPr>
      </p:sp>
      <p:sp>
        <p:nvSpPr>
          <p:cNvPr id="6" name="Shape 4"/>
          <p:cNvSpPr/>
          <p:nvPr/>
        </p:nvSpPr>
        <p:spPr>
          <a:xfrm>
            <a:off x="932688" y="2569464"/>
            <a:ext cx="164592" cy="164592"/>
          </a:xfrm>
          <a:prstGeom prst="ellipse">
            <a:avLst/>
          </a:prstGeom>
          <a:solidFill>
            <a:srgbClr val="00D4FF"/>
          </a:solidFill>
          <a:ln w="12700">
            <a:solidFill>
              <a:srgbClr val="333333"/>
            </a:solidFill>
            <a:prstDash val="solid"/>
          </a:ln>
        </p:spPr>
      </p:sp>
      <p:sp>
        <p:nvSpPr>
          <p:cNvPr id="7" name="Text 5"/>
          <p:cNvSpPr/>
          <p:nvPr/>
        </p:nvSpPr>
        <p:spPr>
          <a:xfrm>
            <a:off x="1243584" y="2395728"/>
            <a:ext cx="4462272" cy="274320"/>
          </a:xfrm>
          <a:prstGeom prst="rect">
            <a:avLst/>
          </a:prstGeom>
          <a:noFill/>
          <a:ln/>
        </p:spPr>
        <p:txBody>
          <a:bodyPr wrap="square" lIns="0" tIns="0" rIns="0" bIns="0" rtlCol="0" anchor="ctr"/>
          <a:lstStyle/>
          <a:p>
            <a:pPr indent="0" marL="0">
              <a:buNone/>
            </a:pPr>
            <a:r>
              <a:rPr lang="en-US" sz="1400" b="1" dirty="0">
                <a:solidFill>
                  <a:srgbClr val="EAF2FF"/>
                </a:solidFill>
                <a:latin typeface="Calibri" pitchFamily="34" charset="0"/>
                <a:ea typeface="Calibri" pitchFamily="34" charset="-122"/>
                <a:cs typeface="Calibri" pitchFamily="34" charset="-120"/>
              </a:rPr>
              <a:t>Restoration Royalties</a:t>
            </a:r>
            <a:endParaRPr lang="en-US" sz="1400" dirty="0"/>
          </a:p>
        </p:txBody>
      </p:sp>
      <p:sp>
        <p:nvSpPr>
          <p:cNvPr id="8" name="Text 6">
            <a:hlinkClick r:id="rId1" tooltip=""/>
          </p:cNvPr>
          <p:cNvSpPr/>
          <p:nvPr/>
        </p:nvSpPr>
        <p:spPr>
          <a:xfrm>
            <a:off x="1243584" y="2670048"/>
            <a:ext cx="4462272" cy="237744"/>
          </a:xfrm>
          <a:prstGeom prst="rect">
            <a:avLst/>
          </a:prstGeom>
          <a:noFill/>
          <a:ln/>
        </p:spPr>
        <p:txBody>
          <a:bodyPr wrap="square" lIns="0" tIns="0" rIns="0" bIns="0" rtlCol="0" anchor="ctr"/>
          <a:lstStyle/>
          <a:p>
            <a:pPr indent="0" marL="0">
              <a:buNone/>
            </a:pPr>
            <a:r>
              <a:rPr lang="en-US" sz="1100" u="sng" dirty="0">
                <a:solidFill>
                  <a:srgbClr val="00D4FF"/>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restorationroyalties.com/rr/</a:t>
            </a:r>
            <a:endParaRPr lang="en-US" sz="1100" dirty="0"/>
          </a:p>
        </p:txBody>
      </p:sp>
      <p:sp>
        <p:nvSpPr>
          <p:cNvPr id="9" name="Shape 7"/>
          <p:cNvSpPr/>
          <p:nvPr/>
        </p:nvSpPr>
        <p:spPr>
          <a:xfrm>
            <a:off x="6236208" y="2286000"/>
            <a:ext cx="5285232" cy="731520"/>
          </a:xfrm>
          <a:prstGeom prst="roundRect">
            <a:avLst>
              <a:gd name="adj" fmla="val 15000"/>
            </a:avLst>
          </a:prstGeom>
          <a:solidFill>
            <a:srgbClr val="101A33"/>
          </a:solidFill>
          <a:ln w="12700">
            <a:solidFill>
              <a:srgbClr val="1E2E4A"/>
            </a:solidFill>
            <a:prstDash val="solid"/>
          </a:ln>
        </p:spPr>
      </p:sp>
      <p:sp>
        <p:nvSpPr>
          <p:cNvPr id="10" name="Shape 8"/>
          <p:cNvSpPr/>
          <p:nvPr/>
        </p:nvSpPr>
        <p:spPr>
          <a:xfrm>
            <a:off x="6510528" y="2569464"/>
            <a:ext cx="164592" cy="164592"/>
          </a:xfrm>
          <a:prstGeom prst="ellipse">
            <a:avLst/>
          </a:prstGeom>
          <a:solidFill>
            <a:srgbClr val="FFC24B"/>
          </a:solidFill>
          <a:ln w="12700">
            <a:solidFill>
              <a:srgbClr val="333333"/>
            </a:solidFill>
            <a:prstDash val="solid"/>
          </a:ln>
        </p:spPr>
      </p:sp>
      <p:sp>
        <p:nvSpPr>
          <p:cNvPr id="11" name="Text 9"/>
          <p:cNvSpPr/>
          <p:nvPr/>
        </p:nvSpPr>
        <p:spPr>
          <a:xfrm>
            <a:off x="6821424" y="2395728"/>
            <a:ext cx="4462272" cy="274320"/>
          </a:xfrm>
          <a:prstGeom prst="rect">
            <a:avLst/>
          </a:prstGeom>
          <a:noFill/>
          <a:ln/>
        </p:spPr>
        <p:txBody>
          <a:bodyPr wrap="square" lIns="0" tIns="0" rIns="0" bIns="0" rtlCol="0" anchor="ctr"/>
          <a:lstStyle/>
          <a:p>
            <a:pPr indent="0" marL="0">
              <a:buNone/>
            </a:pPr>
            <a:r>
              <a:rPr lang="en-US" sz="1400" b="1" dirty="0">
                <a:solidFill>
                  <a:srgbClr val="EAF2FF"/>
                </a:solidFill>
                <a:latin typeface="Calibri" pitchFamily="34" charset="0"/>
                <a:ea typeface="Calibri" pitchFamily="34" charset="-122"/>
                <a:cs typeface="Calibri" pitchFamily="34" charset="-120"/>
              </a:rPr>
              <a:t>FAST Adjusting</a:t>
            </a:r>
            <a:endParaRPr lang="en-US" sz="1400" dirty="0"/>
          </a:p>
        </p:txBody>
      </p:sp>
      <p:sp>
        <p:nvSpPr>
          <p:cNvPr id="12" name="Text 10">
            <a:hlinkClick r:id="rId2" tooltip=""/>
          </p:cNvPr>
          <p:cNvSpPr/>
          <p:nvPr/>
        </p:nvSpPr>
        <p:spPr>
          <a:xfrm>
            <a:off x="6821424" y="2670048"/>
            <a:ext cx="4462272" cy="237744"/>
          </a:xfrm>
          <a:prstGeom prst="rect">
            <a:avLst/>
          </a:prstGeom>
          <a:noFill/>
          <a:ln/>
        </p:spPr>
        <p:txBody>
          <a:bodyPr wrap="square" lIns="0" tIns="0" rIns="0" bIns="0" rtlCol="0" anchor="ctr"/>
          <a:lstStyle/>
          <a:p>
            <a:pPr indent="0" marL="0">
              <a:buNone/>
            </a:pPr>
            <a:r>
              <a:rPr lang="en-US" sz="1100" u="sng" dirty="0">
                <a:solidFill>
                  <a:srgbClr val="FFC24B"/>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restorationroyalties.com/fast/</a:t>
            </a:r>
            <a:endParaRPr lang="en-US" sz="1100" dirty="0"/>
          </a:p>
        </p:txBody>
      </p:sp>
      <p:sp>
        <p:nvSpPr>
          <p:cNvPr id="13" name="Shape 11"/>
          <p:cNvSpPr/>
          <p:nvPr/>
        </p:nvSpPr>
        <p:spPr>
          <a:xfrm>
            <a:off x="658368" y="3182112"/>
            <a:ext cx="5285232" cy="731520"/>
          </a:xfrm>
          <a:prstGeom prst="roundRect">
            <a:avLst>
              <a:gd name="adj" fmla="val 15000"/>
            </a:avLst>
          </a:prstGeom>
          <a:solidFill>
            <a:srgbClr val="101A33"/>
          </a:solidFill>
          <a:ln w="12700">
            <a:solidFill>
              <a:srgbClr val="1E2E4A"/>
            </a:solidFill>
            <a:prstDash val="solid"/>
          </a:ln>
        </p:spPr>
      </p:sp>
      <p:sp>
        <p:nvSpPr>
          <p:cNvPr id="14" name="Shape 12"/>
          <p:cNvSpPr/>
          <p:nvPr/>
        </p:nvSpPr>
        <p:spPr>
          <a:xfrm>
            <a:off x="932688" y="3465576"/>
            <a:ext cx="164592" cy="164592"/>
          </a:xfrm>
          <a:prstGeom prst="ellipse">
            <a:avLst/>
          </a:prstGeom>
          <a:solidFill>
            <a:srgbClr val="FF7A45"/>
          </a:solidFill>
          <a:ln w="12700">
            <a:solidFill>
              <a:srgbClr val="333333"/>
            </a:solidFill>
            <a:prstDash val="solid"/>
          </a:ln>
        </p:spPr>
      </p:sp>
      <p:sp>
        <p:nvSpPr>
          <p:cNvPr id="15" name="Text 13"/>
          <p:cNvSpPr/>
          <p:nvPr/>
        </p:nvSpPr>
        <p:spPr>
          <a:xfrm>
            <a:off x="1243584" y="3291840"/>
            <a:ext cx="4462272" cy="274320"/>
          </a:xfrm>
          <a:prstGeom prst="rect">
            <a:avLst/>
          </a:prstGeom>
          <a:noFill/>
          <a:ln/>
        </p:spPr>
        <p:txBody>
          <a:bodyPr wrap="square" lIns="0" tIns="0" rIns="0" bIns="0" rtlCol="0" anchor="ctr"/>
          <a:lstStyle/>
          <a:p>
            <a:pPr indent="0" marL="0">
              <a:buNone/>
            </a:pPr>
            <a:r>
              <a:rPr lang="en-US" sz="1400" b="1" dirty="0">
                <a:solidFill>
                  <a:srgbClr val="EAF2FF"/>
                </a:solidFill>
                <a:latin typeface="Calibri" pitchFamily="34" charset="0"/>
                <a:ea typeface="Calibri" pitchFamily="34" charset="-122"/>
                <a:cs typeface="Calibri" pitchFamily="34" charset="-120"/>
              </a:rPr>
              <a:t>YES Electrical</a:t>
            </a:r>
            <a:endParaRPr lang="en-US" sz="1400" dirty="0"/>
          </a:p>
        </p:txBody>
      </p:sp>
      <p:sp>
        <p:nvSpPr>
          <p:cNvPr id="16" name="Text 14">
            <a:hlinkClick r:id="rId3" tooltip=""/>
          </p:cNvPr>
          <p:cNvSpPr/>
          <p:nvPr/>
        </p:nvSpPr>
        <p:spPr>
          <a:xfrm>
            <a:off x="1243584" y="3566160"/>
            <a:ext cx="4462272" cy="237744"/>
          </a:xfrm>
          <a:prstGeom prst="rect">
            <a:avLst/>
          </a:prstGeom>
          <a:noFill/>
          <a:ln/>
        </p:spPr>
        <p:txBody>
          <a:bodyPr wrap="square" lIns="0" tIns="0" rIns="0" bIns="0" rtlCol="0" anchor="ctr"/>
          <a:lstStyle/>
          <a:p>
            <a:pPr indent="0" marL="0">
              <a:buNone/>
            </a:pPr>
            <a:r>
              <a:rPr lang="en-US" sz="1100" u="sng" dirty="0">
                <a:solidFill>
                  <a:srgbClr val="FF7A45"/>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restorationroyalties.com/yes/</a:t>
            </a:r>
            <a:endParaRPr lang="en-US" sz="1100" dirty="0"/>
          </a:p>
        </p:txBody>
      </p:sp>
      <p:sp>
        <p:nvSpPr>
          <p:cNvPr id="17" name="Shape 15"/>
          <p:cNvSpPr/>
          <p:nvPr/>
        </p:nvSpPr>
        <p:spPr>
          <a:xfrm>
            <a:off x="6236208" y="3182112"/>
            <a:ext cx="5285232" cy="731520"/>
          </a:xfrm>
          <a:prstGeom prst="roundRect">
            <a:avLst>
              <a:gd name="adj" fmla="val 15000"/>
            </a:avLst>
          </a:prstGeom>
          <a:solidFill>
            <a:srgbClr val="101A33"/>
          </a:solidFill>
          <a:ln w="12700">
            <a:solidFill>
              <a:srgbClr val="1E2E4A"/>
            </a:solidFill>
            <a:prstDash val="solid"/>
          </a:ln>
        </p:spPr>
      </p:sp>
      <p:sp>
        <p:nvSpPr>
          <p:cNvPr id="18" name="Shape 16"/>
          <p:cNvSpPr/>
          <p:nvPr/>
        </p:nvSpPr>
        <p:spPr>
          <a:xfrm>
            <a:off x="6510528" y="3465576"/>
            <a:ext cx="164592" cy="164592"/>
          </a:xfrm>
          <a:prstGeom prst="ellipse">
            <a:avLst/>
          </a:prstGeom>
          <a:solidFill>
            <a:srgbClr val="00FF88"/>
          </a:solidFill>
          <a:ln w="12700">
            <a:solidFill>
              <a:srgbClr val="333333"/>
            </a:solidFill>
            <a:prstDash val="solid"/>
          </a:ln>
        </p:spPr>
      </p:sp>
      <p:sp>
        <p:nvSpPr>
          <p:cNvPr id="19" name="Text 17"/>
          <p:cNvSpPr/>
          <p:nvPr/>
        </p:nvSpPr>
        <p:spPr>
          <a:xfrm>
            <a:off x="6821424" y="3291840"/>
            <a:ext cx="4462272" cy="274320"/>
          </a:xfrm>
          <a:prstGeom prst="rect">
            <a:avLst/>
          </a:prstGeom>
          <a:noFill/>
          <a:ln/>
        </p:spPr>
        <p:txBody>
          <a:bodyPr wrap="square" lIns="0" tIns="0" rIns="0" bIns="0" rtlCol="0" anchor="ctr"/>
          <a:lstStyle/>
          <a:p>
            <a:pPr indent="0" marL="0">
              <a:buNone/>
            </a:pPr>
            <a:r>
              <a:rPr lang="en-US" sz="1400" b="1" dirty="0">
                <a:solidFill>
                  <a:srgbClr val="EAF2FF"/>
                </a:solidFill>
                <a:latin typeface="Calibri" pitchFamily="34" charset="0"/>
                <a:ea typeface="Calibri" pitchFamily="34" charset="-122"/>
                <a:cs typeface="Calibri" pitchFamily="34" charset="-120"/>
              </a:rPr>
              <a:t>TELVERGE platform</a:t>
            </a:r>
            <a:endParaRPr lang="en-US" sz="1400" dirty="0"/>
          </a:p>
        </p:txBody>
      </p:sp>
      <p:sp>
        <p:nvSpPr>
          <p:cNvPr id="20" name="Text 18">
            <a:hlinkClick r:id="rId4" tooltip=""/>
          </p:cNvPr>
          <p:cNvSpPr/>
          <p:nvPr/>
        </p:nvSpPr>
        <p:spPr>
          <a:xfrm>
            <a:off x="6821424" y="3566160"/>
            <a:ext cx="4462272" cy="237744"/>
          </a:xfrm>
          <a:prstGeom prst="rect">
            <a:avLst/>
          </a:prstGeom>
          <a:noFill/>
          <a:ln/>
        </p:spPr>
        <p:txBody>
          <a:bodyPr wrap="square" lIns="0" tIns="0" rIns="0" bIns="0" rtlCol="0" anchor="ctr"/>
          <a:lstStyle/>
          <a:p>
            <a:pPr indent="0" marL="0">
              <a:buNone/>
            </a:pPr>
            <a:r>
              <a:rPr lang="en-US" sz="1100" u="sng" dirty="0">
                <a:solidFill>
                  <a:srgbClr val="00FF88"/>
                </a:solidFill>
                <a:latin typeface="Consolas" pitchFamily="34" charset="0"/>
                <a:ea typeface="Consolas" pitchFamily="34" charset="-122"/>
                <a:cs typeface="Consolas"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restorationroyalties.com/telverge/</a:t>
            </a:r>
            <a:endParaRPr lang="en-US" sz="1100" dirty="0"/>
          </a:p>
        </p:txBody>
      </p:sp>
      <p:sp>
        <p:nvSpPr>
          <p:cNvPr id="21" name="Shape 19"/>
          <p:cNvSpPr/>
          <p:nvPr/>
        </p:nvSpPr>
        <p:spPr>
          <a:xfrm>
            <a:off x="658368" y="4078224"/>
            <a:ext cx="5285232" cy="731520"/>
          </a:xfrm>
          <a:prstGeom prst="roundRect">
            <a:avLst>
              <a:gd name="adj" fmla="val 15000"/>
            </a:avLst>
          </a:prstGeom>
          <a:solidFill>
            <a:srgbClr val="101A33"/>
          </a:solidFill>
          <a:ln w="12700">
            <a:solidFill>
              <a:srgbClr val="1E2E4A"/>
            </a:solidFill>
            <a:prstDash val="solid"/>
          </a:ln>
        </p:spPr>
      </p:sp>
      <p:sp>
        <p:nvSpPr>
          <p:cNvPr id="22" name="Shape 20"/>
          <p:cNvSpPr/>
          <p:nvPr/>
        </p:nvSpPr>
        <p:spPr>
          <a:xfrm>
            <a:off x="932688" y="4361688"/>
            <a:ext cx="164592" cy="164592"/>
          </a:xfrm>
          <a:prstGeom prst="ellipse">
            <a:avLst/>
          </a:prstGeom>
          <a:solidFill>
            <a:srgbClr val="00D4FF"/>
          </a:solidFill>
          <a:ln w="12700">
            <a:solidFill>
              <a:srgbClr val="333333"/>
            </a:solidFill>
            <a:prstDash val="solid"/>
          </a:ln>
        </p:spPr>
      </p:sp>
      <p:sp>
        <p:nvSpPr>
          <p:cNvPr id="23" name="Text 21"/>
          <p:cNvSpPr/>
          <p:nvPr/>
        </p:nvSpPr>
        <p:spPr>
          <a:xfrm>
            <a:off x="1243584" y="4187952"/>
            <a:ext cx="4462272" cy="274320"/>
          </a:xfrm>
          <a:prstGeom prst="rect">
            <a:avLst/>
          </a:prstGeom>
          <a:noFill/>
          <a:ln/>
        </p:spPr>
        <p:txBody>
          <a:bodyPr wrap="square" lIns="0" tIns="0" rIns="0" bIns="0" rtlCol="0" anchor="ctr"/>
          <a:lstStyle/>
          <a:p>
            <a:pPr indent="0" marL="0">
              <a:buNone/>
            </a:pPr>
            <a:r>
              <a:rPr lang="en-US" sz="1400" b="1" dirty="0">
                <a:solidFill>
                  <a:srgbClr val="EAF2FF"/>
                </a:solidFill>
                <a:latin typeface="Calibri" pitchFamily="34" charset="0"/>
                <a:ea typeface="Calibri" pitchFamily="34" charset="-122"/>
                <a:cs typeface="Calibri" pitchFamily="34" charset="-120"/>
              </a:rPr>
              <a:t>Sub-Network Hub</a:t>
            </a:r>
            <a:endParaRPr lang="en-US" sz="1400" dirty="0"/>
          </a:p>
        </p:txBody>
      </p:sp>
      <p:sp>
        <p:nvSpPr>
          <p:cNvPr id="24" name="Text 22">
            <a:hlinkClick r:id="rId5" tooltip=""/>
          </p:cNvPr>
          <p:cNvSpPr/>
          <p:nvPr/>
        </p:nvSpPr>
        <p:spPr>
          <a:xfrm>
            <a:off x="1243584" y="4462272"/>
            <a:ext cx="4462272" cy="237744"/>
          </a:xfrm>
          <a:prstGeom prst="rect">
            <a:avLst/>
          </a:prstGeom>
          <a:noFill/>
          <a:ln/>
        </p:spPr>
        <p:txBody>
          <a:bodyPr wrap="square" lIns="0" tIns="0" rIns="0" bIns="0" rtlCol="0" anchor="ctr"/>
          <a:lstStyle/>
          <a:p>
            <a:pPr indent="0" marL="0">
              <a:buNone/>
            </a:pPr>
            <a:r>
              <a:rPr lang="en-US" sz="1100" u="sng" dirty="0">
                <a:solidFill>
                  <a:srgbClr val="00D4FF"/>
                </a:solidFill>
                <a:latin typeface="Consolas" pitchFamily="34" charset="0"/>
                <a:ea typeface="Consolas" pitchFamily="34" charset="-122"/>
                <a:cs typeface="Consolas"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restorationroyalties.com/hub/</a:t>
            </a:r>
            <a:endParaRPr lang="en-US" sz="1100" dirty="0"/>
          </a:p>
        </p:txBody>
      </p:sp>
      <p:sp>
        <p:nvSpPr>
          <p:cNvPr id="25" name="Shape 23"/>
          <p:cNvSpPr/>
          <p:nvPr/>
        </p:nvSpPr>
        <p:spPr>
          <a:xfrm>
            <a:off x="6236208" y="4078224"/>
            <a:ext cx="5285232" cy="731520"/>
          </a:xfrm>
          <a:prstGeom prst="roundRect">
            <a:avLst>
              <a:gd name="adj" fmla="val 15000"/>
            </a:avLst>
          </a:prstGeom>
          <a:solidFill>
            <a:srgbClr val="101A33"/>
          </a:solidFill>
          <a:ln w="12700">
            <a:solidFill>
              <a:srgbClr val="1E2E4A"/>
            </a:solidFill>
            <a:prstDash val="solid"/>
          </a:ln>
        </p:spPr>
      </p:sp>
      <p:sp>
        <p:nvSpPr>
          <p:cNvPr id="26" name="Shape 24"/>
          <p:cNvSpPr/>
          <p:nvPr/>
        </p:nvSpPr>
        <p:spPr>
          <a:xfrm>
            <a:off x="6510528" y="4361688"/>
            <a:ext cx="164592" cy="164592"/>
          </a:xfrm>
          <a:prstGeom prst="ellipse">
            <a:avLst/>
          </a:prstGeom>
          <a:solidFill>
            <a:srgbClr val="FFC24B"/>
          </a:solidFill>
          <a:ln w="12700">
            <a:solidFill>
              <a:srgbClr val="333333"/>
            </a:solidFill>
            <a:prstDash val="solid"/>
          </a:ln>
        </p:spPr>
      </p:sp>
      <p:sp>
        <p:nvSpPr>
          <p:cNvPr id="27" name="Text 25"/>
          <p:cNvSpPr/>
          <p:nvPr/>
        </p:nvSpPr>
        <p:spPr>
          <a:xfrm>
            <a:off x="6821424" y="4187952"/>
            <a:ext cx="4462272" cy="274320"/>
          </a:xfrm>
          <a:prstGeom prst="rect">
            <a:avLst/>
          </a:prstGeom>
          <a:noFill/>
          <a:ln/>
        </p:spPr>
        <p:txBody>
          <a:bodyPr wrap="square" lIns="0" tIns="0" rIns="0" bIns="0" rtlCol="0" anchor="ctr"/>
          <a:lstStyle/>
          <a:p>
            <a:pPr indent="0" marL="0">
              <a:buNone/>
            </a:pPr>
            <a:r>
              <a:rPr lang="en-US" sz="1400" b="1" dirty="0">
                <a:solidFill>
                  <a:srgbClr val="EAF2FF"/>
                </a:solidFill>
                <a:latin typeface="Calibri" pitchFamily="34" charset="0"/>
                <a:ea typeface="Calibri" pitchFamily="34" charset="-122"/>
                <a:cs typeface="Calibri" pitchFamily="34" charset="-120"/>
              </a:rPr>
              <a:t>Restoration Royalties — vanity edition</a:t>
            </a:r>
            <a:endParaRPr lang="en-US" sz="1400" dirty="0"/>
          </a:p>
        </p:txBody>
      </p:sp>
      <p:sp>
        <p:nvSpPr>
          <p:cNvPr id="28" name="Text 26">
            <a:hlinkClick r:id="rId6" tooltip=""/>
          </p:cNvPr>
          <p:cNvSpPr/>
          <p:nvPr/>
        </p:nvSpPr>
        <p:spPr>
          <a:xfrm>
            <a:off x="6821424" y="4462272"/>
            <a:ext cx="4462272" cy="237744"/>
          </a:xfrm>
          <a:prstGeom prst="rect">
            <a:avLst/>
          </a:prstGeom>
          <a:noFill/>
          <a:ln/>
        </p:spPr>
        <p:txBody>
          <a:bodyPr wrap="square" lIns="0" tIns="0" rIns="0" bIns="0" rtlCol="0" anchor="ctr"/>
          <a:lstStyle/>
          <a:p>
            <a:pPr indent="0" marL="0">
              <a:buNone/>
            </a:pPr>
            <a:r>
              <a:rPr lang="en-US" sz="1100" u="sng" dirty="0">
                <a:solidFill>
                  <a:srgbClr val="FFC24B"/>
                </a:solidFill>
                <a:latin typeface="Consolas" pitchFamily="34" charset="0"/>
                <a:ea typeface="Consolas" pitchFamily="34" charset="-122"/>
                <a:cs typeface="Consolas"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restorationroyalties.com/vanity/</a:t>
            </a:r>
            <a:endParaRPr lang="en-US" sz="1100" dirty="0"/>
          </a:p>
        </p:txBody>
      </p:sp>
      <p:sp>
        <p:nvSpPr>
          <p:cNvPr id="29" name="Shape 27"/>
          <p:cNvSpPr/>
          <p:nvPr/>
        </p:nvSpPr>
        <p:spPr>
          <a:xfrm>
            <a:off x="658368" y="4974336"/>
            <a:ext cx="5285232" cy="731520"/>
          </a:xfrm>
          <a:prstGeom prst="roundRect">
            <a:avLst>
              <a:gd name="adj" fmla="val 15000"/>
            </a:avLst>
          </a:prstGeom>
          <a:solidFill>
            <a:srgbClr val="101A33"/>
          </a:solidFill>
          <a:ln w="12700">
            <a:solidFill>
              <a:srgbClr val="1E2E4A"/>
            </a:solidFill>
            <a:prstDash val="solid"/>
          </a:ln>
        </p:spPr>
      </p:sp>
      <p:sp>
        <p:nvSpPr>
          <p:cNvPr id="30" name="Shape 28"/>
          <p:cNvSpPr/>
          <p:nvPr/>
        </p:nvSpPr>
        <p:spPr>
          <a:xfrm>
            <a:off x="932688" y="5257800"/>
            <a:ext cx="164592" cy="164592"/>
          </a:xfrm>
          <a:prstGeom prst="ellipse">
            <a:avLst/>
          </a:prstGeom>
          <a:solidFill>
            <a:srgbClr val="00D4FF"/>
          </a:solidFill>
          <a:ln w="12700">
            <a:solidFill>
              <a:srgbClr val="333333"/>
            </a:solidFill>
            <a:prstDash val="solid"/>
          </a:ln>
        </p:spPr>
      </p:sp>
      <p:sp>
        <p:nvSpPr>
          <p:cNvPr id="31" name="Text 29"/>
          <p:cNvSpPr/>
          <p:nvPr/>
        </p:nvSpPr>
        <p:spPr>
          <a:xfrm>
            <a:off x="1243584" y="5084064"/>
            <a:ext cx="4462272" cy="274320"/>
          </a:xfrm>
          <a:prstGeom prst="rect">
            <a:avLst/>
          </a:prstGeom>
          <a:noFill/>
          <a:ln/>
        </p:spPr>
        <p:txBody>
          <a:bodyPr wrap="square" lIns="0" tIns="0" rIns="0" bIns="0" rtlCol="0" anchor="ctr"/>
          <a:lstStyle/>
          <a:p>
            <a:pPr indent="0" marL="0">
              <a:buNone/>
            </a:pPr>
            <a:r>
              <a:rPr lang="en-US" sz="1400" b="1" dirty="0">
                <a:solidFill>
                  <a:srgbClr val="EAF2FF"/>
                </a:solidFill>
                <a:latin typeface="Calibri" pitchFamily="34" charset="0"/>
                <a:ea typeface="Calibri" pitchFamily="34" charset="-122"/>
                <a:cs typeface="Calibri" pitchFamily="34" charset="-120"/>
              </a:rPr>
              <a:t>Showroom / inventory</a:t>
            </a:r>
            <a:endParaRPr lang="en-US" sz="1400" dirty="0"/>
          </a:p>
        </p:txBody>
      </p:sp>
      <p:sp>
        <p:nvSpPr>
          <p:cNvPr id="32" name="Text 30">
            <a:hlinkClick r:id="rId7" tooltip=""/>
          </p:cNvPr>
          <p:cNvSpPr/>
          <p:nvPr/>
        </p:nvSpPr>
        <p:spPr>
          <a:xfrm>
            <a:off x="1243584" y="5358384"/>
            <a:ext cx="4462272" cy="237744"/>
          </a:xfrm>
          <a:prstGeom prst="rect">
            <a:avLst/>
          </a:prstGeom>
          <a:noFill/>
          <a:ln/>
        </p:spPr>
        <p:txBody>
          <a:bodyPr wrap="square" lIns="0" tIns="0" rIns="0" bIns="0" rtlCol="0" anchor="ctr"/>
          <a:lstStyle/>
          <a:p>
            <a:pPr indent="0" marL="0">
              <a:buNone/>
            </a:pPr>
            <a:r>
              <a:rPr lang="en-US" sz="1100" u="sng" dirty="0">
                <a:solidFill>
                  <a:srgbClr val="00D4FF"/>
                </a:solidFill>
                <a:latin typeface="Consolas" pitchFamily="34" charset="0"/>
                <a:ea typeface="Consolas" pitchFamily="34" charset="-122"/>
                <a:cs typeface="Consolas" pitchFamily="34" charset="-120"/>
                <a:hlinkClick r:id="rId7" invalidUrl="" action="" tgtFrame="" tooltip="" history="1" highlightClick="0" endSnd="0">
                  <a:extLst>
                    <a:ext uri="{A12FA001-AC4F-418D-AE19-62706E023703}">
                      <ahyp:hlinkClr xmlns:ahyp="http://schemas.microsoft.com/office/drawing/2018/hyperlinkcolor" val="tx"/>
                    </a:ext>
                  </a:extLst>
                </a:hlinkClick>
              </a:rPr>
              <a:t>restorationroyalties.com/showroom/</a:t>
            </a:r>
            <a:endParaRPr lang="en-US" sz="1100" dirty="0"/>
          </a:p>
        </p:txBody>
      </p:sp>
      <p:sp>
        <p:nvSpPr>
          <p:cNvPr id="33" name="Shape 31"/>
          <p:cNvSpPr/>
          <p:nvPr/>
        </p:nvSpPr>
        <p:spPr>
          <a:xfrm>
            <a:off x="6236208" y="4974336"/>
            <a:ext cx="5285232" cy="731520"/>
          </a:xfrm>
          <a:prstGeom prst="roundRect">
            <a:avLst>
              <a:gd name="adj" fmla="val 15000"/>
            </a:avLst>
          </a:prstGeom>
          <a:solidFill>
            <a:srgbClr val="101A33"/>
          </a:solidFill>
          <a:ln w="12700">
            <a:solidFill>
              <a:srgbClr val="1E2E4A"/>
            </a:solidFill>
            <a:prstDash val="solid"/>
          </a:ln>
        </p:spPr>
      </p:sp>
      <p:sp>
        <p:nvSpPr>
          <p:cNvPr id="34" name="Shape 32"/>
          <p:cNvSpPr/>
          <p:nvPr/>
        </p:nvSpPr>
        <p:spPr>
          <a:xfrm>
            <a:off x="6510528" y="5257800"/>
            <a:ext cx="164592" cy="164592"/>
          </a:xfrm>
          <a:prstGeom prst="ellipse">
            <a:avLst/>
          </a:prstGeom>
          <a:solidFill>
            <a:srgbClr val="00FF88"/>
          </a:solidFill>
          <a:ln w="12700">
            <a:solidFill>
              <a:srgbClr val="333333"/>
            </a:solidFill>
            <a:prstDash val="solid"/>
          </a:ln>
        </p:spPr>
      </p:sp>
      <p:sp>
        <p:nvSpPr>
          <p:cNvPr id="35" name="Text 33"/>
          <p:cNvSpPr/>
          <p:nvPr/>
        </p:nvSpPr>
        <p:spPr>
          <a:xfrm>
            <a:off x="6821424" y="5084064"/>
            <a:ext cx="4462272" cy="274320"/>
          </a:xfrm>
          <a:prstGeom prst="rect">
            <a:avLst/>
          </a:prstGeom>
          <a:noFill/>
          <a:ln/>
        </p:spPr>
        <p:txBody>
          <a:bodyPr wrap="square" lIns="0" tIns="0" rIns="0" bIns="0" rtlCol="0" anchor="ctr"/>
          <a:lstStyle/>
          <a:p>
            <a:pPr indent="0" marL="0">
              <a:buNone/>
            </a:pPr>
            <a:r>
              <a:rPr lang="en-US" sz="1400" b="1" dirty="0">
                <a:solidFill>
                  <a:srgbClr val="EAF2FF"/>
                </a:solidFill>
                <a:latin typeface="Calibri" pitchFamily="34" charset="0"/>
                <a:ea typeface="Calibri" pitchFamily="34" charset="-122"/>
                <a:cs typeface="Calibri" pitchFamily="34" charset="-120"/>
              </a:rPr>
              <a:t>Directory — all of it</a:t>
            </a:r>
            <a:endParaRPr lang="en-US" sz="1400" dirty="0"/>
          </a:p>
        </p:txBody>
      </p:sp>
      <p:sp>
        <p:nvSpPr>
          <p:cNvPr id="36" name="Text 34">
            <a:hlinkClick r:id="rId8" tooltip=""/>
          </p:cNvPr>
          <p:cNvSpPr/>
          <p:nvPr/>
        </p:nvSpPr>
        <p:spPr>
          <a:xfrm>
            <a:off x="6821424" y="5358384"/>
            <a:ext cx="4462272" cy="237744"/>
          </a:xfrm>
          <a:prstGeom prst="rect">
            <a:avLst/>
          </a:prstGeom>
          <a:noFill/>
          <a:ln/>
        </p:spPr>
        <p:txBody>
          <a:bodyPr wrap="square" lIns="0" tIns="0" rIns="0" bIns="0" rtlCol="0" anchor="ctr"/>
          <a:lstStyle/>
          <a:p>
            <a:pPr indent="0" marL="0">
              <a:buNone/>
            </a:pPr>
            <a:r>
              <a:rPr lang="en-US" sz="1100" u="sng" dirty="0">
                <a:solidFill>
                  <a:srgbClr val="00FF88"/>
                </a:solidFill>
                <a:latin typeface="Consolas" pitchFamily="34" charset="0"/>
                <a:ea typeface="Consolas" pitchFamily="34" charset="-122"/>
                <a:cs typeface="Consolas" pitchFamily="34" charset="-120"/>
                <a:hlinkClick r:id="rId8" invalidUrl="" action="" tgtFrame="" tooltip="" history="1" highlightClick="0" endSnd="0">
                  <a:extLst>
                    <a:ext uri="{A12FA001-AC4F-418D-AE19-62706E023703}">
                      <ahyp:hlinkClr xmlns:ahyp="http://schemas.microsoft.com/office/drawing/2018/hyperlinkcolor" val="tx"/>
                    </a:ext>
                  </a:extLst>
                </a:hlinkClick>
              </a:rPr>
              <a:t>restorationroyalties.com</a:t>
            </a:r>
            <a:endParaRPr lang="en-US" sz="1100" dirty="0"/>
          </a:p>
        </p:txBody>
      </p:sp>
      <p:sp>
        <p:nvSpPr>
          <p:cNvPr id="37" name="Text 35"/>
          <p:cNvSpPr/>
          <p:nvPr/>
        </p:nvSpPr>
        <p:spPr>
          <a:xfrm>
            <a:off x="658368" y="6291072"/>
            <a:ext cx="10872216" cy="237744"/>
          </a:xfrm>
          <a:prstGeom prst="rect">
            <a:avLst/>
          </a:prstGeom>
          <a:noFill/>
          <a:ln/>
        </p:spPr>
        <p:txBody>
          <a:bodyPr wrap="square" lIns="0" tIns="0" rIns="0" bIns="0" rtlCol="0" anchor="ctr"/>
          <a:lstStyle/>
          <a:p>
            <a:pPr indent="0" marL="0">
              <a:buNone/>
            </a:pPr>
            <a:r>
              <a:rPr lang="en-US" sz="900" dirty="0">
                <a:solidFill>
                  <a:srgbClr val="54658A"/>
                </a:solidFill>
                <a:latin typeface="Calibri" pitchFamily="34" charset="0"/>
                <a:ea typeface="Calibri" pitchFamily="34" charset="-122"/>
                <a:cs typeface="Calibri" pitchFamily="34" charset="-120"/>
              </a:rPr>
              <a:t>Sites go live on restorationroyalties.com once the domain is pointed. Confidential — prepared for Jimmy Mejia.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C18"/>
        </a:solidFill>
      </p:bgPr>
    </p:bg>
    <p:spTree>
      <p:nvGrpSpPr>
        <p:cNvPr id="1" name=""/>
        <p:cNvGrpSpPr/>
        <p:nvPr/>
      </p:nvGrpSpPr>
      <p:grpSpPr>
        <a:xfrm>
          <a:off x="0" y="0"/>
          <a:ext cx="0" cy="0"/>
          <a:chOff x="0" y="0"/>
          <a:chExt cx="0" cy="0"/>
        </a:xfrm>
      </p:grpSpPr>
      <p:sp>
        <p:nvSpPr>
          <p:cNvPr id="2" name="Text 0"/>
          <p:cNvSpPr/>
          <p:nvPr/>
        </p:nvSpPr>
        <p:spPr>
          <a:xfrm>
            <a:off x="658368" y="457200"/>
            <a:ext cx="10872216" cy="256032"/>
          </a:xfrm>
          <a:prstGeom prst="rect">
            <a:avLst/>
          </a:prstGeom>
          <a:noFill/>
          <a:ln/>
        </p:spPr>
        <p:txBody>
          <a:bodyPr wrap="square" lIns="0" tIns="0" rIns="0" bIns="0" rtlCol="0" anchor="ctr"/>
          <a:lstStyle/>
          <a:p>
            <a:pPr indent="0" marL="0">
              <a:buNone/>
            </a:pPr>
            <a:r>
              <a:rPr lang="en-US" sz="1100" b="1" spc="240" kern="0" dirty="0">
                <a:solidFill>
                  <a:srgbClr val="00D4FF"/>
                </a:solidFill>
                <a:latin typeface="Calibri" pitchFamily="34" charset="0"/>
                <a:ea typeface="Calibri" pitchFamily="34" charset="-122"/>
                <a:cs typeface="Calibri" pitchFamily="34" charset="-120"/>
              </a:rPr>
              <a:t>NEXT</a:t>
            </a:r>
            <a:endParaRPr lang="en-US" sz="1100" dirty="0"/>
          </a:p>
        </p:txBody>
      </p:sp>
      <p:sp>
        <p:nvSpPr>
          <p:cNvPr id="3" name="Text 1"/>
          <p:cNvSpPr/>
          <p:nvPr/>
        </p:nvSpPr>
        <p:spPr>
          <a:xfrm>
            <a:off x="658368" y="786384"/>
            <a:ext cx="10872216" cy="822960"/>
          </a:xfrm>
          <a:prstGeom prst="rect">
            <a:avLst/>
          </a:prstGeom>
          <a:noFill/>
          <a:ln/>
        </p:spPr>
        <p:txBody>
          <a:bodyPr wrap="square" lIns="0" tIns="0" rIns="0" bIns="0" rtlCol="0" anchor="ctr"/>
          <a:lstStyle/>
          <a:p>
            <a:pPr indent="0" marL="0">
              <a:buNone/>
            </a:pPr>
            <a:r>
              <a:rPr lang="en-US" sz="3400" b="1" spc="-40" kern="0" dirty="0">
                <a:solidFill>
                  <a:srgbClr val="EAF2FF"/>
                </a:solidFill>
                <a:latin typeface="Calibri" pitchFamily="34" charset="0"/>
                <a:ea typeface="Calibri" pitchFamily="34" charset="-122"/>
                <a:cs typeface="Calibri" pitchFamily="34" charset="-120"/>
              </a:rPr>
              <a:t>The next seven days</a:t>
            </a:r>
            <a:endParaRPr lang="en-US" sz="3400" dirty="0"/>
          </a:p>
        </p:txBody>
      </p:sp>
      <p:sp>
        <p:nvSpPr>
          <p:cNvPr id="4" name="Shape 2"/>
          <p:cNvSpPr/>
          <p:nvPr/>
        </p:nvSpPr>
        <p:spPr>
          <a:xfrm>
            <a:off x="658368" y="1847088"/>
            <a:ext cx="402336" cy="402336"/>
          </a:xfrm>
          <a:prstGeom prst="ellipse">
            <a:avLst/>
          </a:prstGeom>
          <a:solidFill>
            <a:srgbClr val="16233F"/>
          </a:solidFill>
          <a:ln w="15875">
            <a:solidFill>
              <a:srgbClr val="00FF88"/>
            </a:solidFill>
            <a:prstDash val="solid"/>
          </a:ln>
        </p:spPr>
      </p:sp>
      <p:sp>
        <p:nvSpPr>
          <p:cNvPr id="5" name="Text 3"/>
          <p:cNvSpPr/>
          <p:nvPr/>
        </p:nvSpPr>
        <p:spPr>
          <a:xfrm>
            <a:off x="658368" y="1847088"/>
            <a:ext cx="402336" cy="402336"/>
          </a:xfrm>
          <a:prstGeom prst="rect">
            <a:avLst/>
          </a:prstGeom>
          <a:noFill/>
          <a:ln/>
        </p:spPr>
        <p:txBody>
          <a:bodyPr wrap="square" lIns="0" tIns="0" rIns="0" bIns="0" rtlCol="0" anchor="ctr"/>
          <a:lstStyle/>
          <a:p>
            <a:pPr algn="ctr" indent="0" marL="0">
              <a:buNone/>
            </a:pPr>
            <a:r>
              <a:rPr lang="en-US" sz="1500" b="1" dirty="0">
                <a:solidFill>
                  <a:srgbClr val="00FF88"/>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80160" y="1865376"/>
            <a:ext cx="310896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Review the four sites</a:t>
            </a:r>
            <a:endParaRPr lang="en-US" sz="1600" dirty="0"/>
          </a:p>
        </p:txBody>
      </p:sp>
      <p:sp>
        <p:nvSpPr>
          <p:cNvPr id="7" name="Text 5"/>
          <p:cNvSpPr/>
          <p:nvPr/>
        </p:nvSpPr>
        <p:spPr>
          <a:xfrm>
            <a:off x="4498848" y="1828800"/>
            <a:ext cx="7031736" cy="585216"/>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Look at both Restoration Royalty treatments — assigned block and vanity — and tell me which one goes out. Everything else is copy edits.</a:t>
            </a:r>
            <a:endParaRPr lang="en-US" sz="1250" dirty="0"/>
          </a:p>
        </p:txBody>
      </p:sp>
      <p:sp>
        <p:nvSpPr>
          <p:cNvPr id="8" name="Shape 6"/>
          <p:cNvSpPr/>
          <p:nvPr/>
        </p:nvSpPr>
        <p:spPr>
          <a:xfrm>
            <a:off x="658368" y="2560320"/>
            <a:ext cx="402336" cy="402336"/>
          </a:xfrm>
          <a:prstGeom prst="ellipse">
            <a:avLst/>
          </a:prstGeom>
          <a:solidFill>
            <a:srgbClr val="16233F"/>
          </a:solidFill>
          <a:ln w="15875">
            <a:solidFill>
              <a:srgbClr val="00FF88"/>
            </a:solidFill>
            <a:prstDash val="solid"/>
          </a:ln>
        </p:spPr>
      </p:sp>
      <p:sp>
        <p:nvSpPr>
          <p:cNvPr id="9" name="Text 7"/>
          <p:cNvSpPr/>
          <p:nvPr/>
        </p:nvSpPr>
        <p:spPr>
          <a:xfrm>
            <a:off x="658368" y="2560320"/>
            <a:ext cx="402336" cy="402336"/>
          </a:xfrm>
          <a:prstGeom prst="rect">
            <a:avLst/>
          </a:prstGeom>
          <a:noFill/>
          <a:ln/>
        </p:spPr>
        <p:txBody>
          <a:bodyPr wrap="square" lIns="0" tIns="0" rIns="0" bIns="0" rtlCol="0" anchor="ctr"/>
          <a:lstStyle/>
          <a:p>
            <a:pPr algn="ctr" indent="0" marL="0">
              <a:buNone/>
            </a:pPr>
            <a:r>
              <a:rPr lang="en-US" sz="1500" b="1" dirty="0">
                <a:solidFill>
                  <a:srgbClr val="00FF88"/>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80160" y="2578608"/>
            <a:ext cx="310896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Confirm numbers and forward</a:t>
            </a:r>
            <a:endParaRPr lang="en-US" sz="1600" dirty="0"/>
          </a:p>
        </p:txBody>
      </p:sp>
      <p:sp>
        <p:nvSpPr>
          <p:cNvPr id="11" name="Text 9"/>
          <p:cNvSpPr/>
          <p:nvPr/>
        </p:nvSpPr>
        <p:spPr>
          <a:xfrm>
            <a:off x="4498848" y="2542032"/>
            <a:ext cx="7031736" cy="585216"/>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Ten lines with branded caller ID forwarding to your cell. Confirm the forward target and we lock it.</a:t>
            </a:r>
            <a:endParaRPr lang="en-US" sz="1250" dirty="0"/>
          </a:p>
        </p:txBody>
      </p:sp>
      <p:sp>
        <p:nvSpPr>
          <p:cNvPr id="12" name="Shape 10"/>
          <p:cNvSpPr/>
          <p:nvPr/>
        </p:nvSpPr>
        <p:spPr>
          <a:xfrm>
            <a:off x="658368" y="3273552"/>
            <a:ext cx="402336" cy="402336"/>
          </a:xfrm>
          <a:prstGeom prst="ellipse">
            <a:avLst/>
          </a:prstGeom>
          <a:solidFill>
            <a:srgbClr val="16233F"/>
          </a:solidFill>
          <a:ln w="15875">
            <a:solidFill>
              <a:srgbClr val="00FF88"/>
            </a:solidFill>
            <a:prstDash val="solid"/>
          </a:ln>
        </p:spPr>
      </p:sp>
      <p:sp>
        <p:nvSpPr>
          <p:cNvPr id="13" name="Text 11"/>
          <p:cNvSpPr/>
          <p:nvPr/>
        </p:nvSpPr>
        <p:spPr>
          <a:xfrm>
            <a:off x="658368" y="3273552"/>
            <a:ext cx="402336" cy="402336"/>
          </a:xfrm>
          <a:prstGeom prst="rect">
            <a:avLst/>
          </a:prstGeom>
          <a:noFill/>
          <a:ln/>
        </p:spPr>
        <p:txBody>
          <a:bodyPr wrap="square" lIns="0" tIns="0" rIns="0" bIns="0" rtlCol="0" anchor="ctr"/>
          <a:lstStyle/>
          <a:p>
            <a:pPr algn="ctr" indent="0" marL="0">
              <a:buNone/>
            </a:pPr>
            <a:r>
              <a:rPr lang="en-US" sz="1500" b="1" dirty="0">
                <a:solidFill>
                  <a:srgbClr val="00FF88"/>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80160" y="3291840"/>
            <a:ext cx="310896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Start the calls</a:t>
            </a:r>
            <a:endParaRPr lang="en-US" sz="1600" dirty="0"/>
          </a:p>
        </p:txBody>
      </p:sp>
      <p:sp>
        <p:nvSpPr>
          <p:cNvPr id="15" name="Text 13"/>
          <p:cNvSpPr/>
          <p:nvPr/>
        </p:nvSpPr>
        <p:spPr>
          <a:xfrm>
            <a:off x="4498848" y="3255264"/>
            <a:ext cx="7031736" cy="585216"/>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Orlando and South Florida. Mold, water, roofing. Free assessment. Both lists loaded, script written.</a:t>
            </a:r>
            <a:endParaRPr lang="en-US" sz="1250" dirty="0"/>
          </a:p>
        </p:txBody>
      </p:sp>
      <p:sp>
        <p:nvSpPr>
          <p:cNvPr id="16" name="Shape 14"/>
          <p:cNvSpPr/>
          <p:nvPr/>
        </p:nvSpPr>
        <p:spPr>
          <a:xfrm>
            <a:off x="658368" y="3986784"/>
            <a:ext cx="402336" cy="402336"/>
          </a:xfrm>
          <a:prstGeom prst="ellipse">
            <a:avLst/>
          </a:prstGeom>
          <a:solidFill>
            <a:srgbClr val="16233F"/>
          </a:solidFill>
          <a:ln w="15875">
            <a:solidFill>
              <a:srgbClr val="00D4FF"/>
            </a:solidFill>
            <a:prstDash val="solid"/>
          </a:ln>
        </p:spPr>
      </p:sp>
      <p:sp>
        <p:nvSpPr>
          <p:cNvPr id="17" name="Text 15"/>
          <p:cNvSpPr/>
          <p:nvPr/>
        </p:nvSpPr>
        <p:spPr>
          <a:xfrm>
            <a:off x="658368" y="3986784"/>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280160" y="4005072"/>
            <a:ext cx="310896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Watch the board together</a:t>
            </a:r>
            <a:endParaRPr lang="en-US" sz="1600" dirty="0"/>
          </a:p>
        </p:txBody>
      </p:sp>
      <p:sp>
        <p:nvSpPr>
          <p:cNvPr id="19" name="Text 17"/>
          <p:cNvSpPr/>
          <p:nvPr/>
        </p:nvSpPr>
        <p:spPr>
          <a:xfrm>
            <a:off x="4498848" y="3968496"/>
            <a:ext cx="7031736" cy="585216"/>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First week we read the dashboard daily — connects, bookings, cost per booking — and tune the script and hours off what it shows.</a:t>
            </a:r>
            <a:endParaRPr lang="en-US" sz="1250" dirty="0"/>
          </a:p>
        </p:txBody>
      </p:sp>
      <p:sp>
        <p:nvSpPr>
          <p:cNvPr id="20" name="Shape 18"/>
          <p:cNvSpPr/>
          <p:nvPr/>
        </p:nvSpPr>
        <p:spPr>
          <a:xfrm>
            <a:off x="658368" y="4700016"/>
            <a:ext cx="402336" cy="402336"/>
          </a:xfrm>
          <a:prstGeom prst="ellipse">
            <a:avLst/>
          </a:prstGeom>
          <a:solidFill>
            <a:srgbClr val="16233F"/>
          </a:solidFill>
          <a:ln w="15875">
            <a:solidFill>
              <a:srgbClr val="00D4FF"/>
            </a:solidFill>
            <a:prstDash val="solid"/>
          </a:ln>
        </p:spPr>
      </p:sp>
      <p:sp>
        <p:nvSpPr>
          <p:cNvPr id="21" name="Text 19"/>
          <p:cNvSpPr/>
          <p:nvPr/>
        </p:nvSpPr>
        <p:spPr>
          <a:xfrm>
            <a:off x="658368" y="4700016"/>
            <a:ext cx="402336" cy="402336"/>
          </a:xfrm>
          <a:prstGeom prst="rect">
            <a:avLst/>
          </a:prstGeom>
          <a:noFill/>
          <a:ln/>
        </p:spPr>
        <p:txBody>
          <a:bodyPr wrap="square" lIns="0" tIns="0" rIns="0" bIns="0" rtlCol="0" anchor="ctr"/>
          <a:lstStyle/>
          <a:p>
            <a:pPr algn="ctr" indent="0" marL="0">
              <a:buNone/>
            </a:pPr>
            <a:r>
              <a:rPr lang="en-US" sz="1500" b="1" dirty="0">
                <a:solidFill>
                  <a:srgbClr val="00D4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280160" y="4718304"/>
            <a:ext cx="3108960" cy="365760"/>
          </a:xfrm>
          <a:prstGeom prst="rect">
            <a:avLst/>
          </a:prstGeom>
          <a:noFill/>
          <a:ln/>
        </p:spPr>
        <p:txBody>
          <a:bodyPr wrap="square" lIns="0" tIns="0" rIns="0" bIns="0" rtlCol="0" anchor="ctr"/>
          <a:lstStyle/>
          <a:p>
            <a:pPr indent="0" marL="0">
              <a:buNone/>
            </a:pPr>
            <a:r>
              <a:rPr lang="en-US" sz="1600" b="1" dirty="0">
                <a:solidFill>
                  <a:srgbClr val="EAF2FF"/>
                </a:solidFill>
                <a:latin typeface="Calibri" pitchFamily="34" charset="0"/>
                <a:ea typeface="Calibri" pitchFamily="34" charset="-122"/>
                <a:cs typeface="Calibri" pitchFamily="34" charset="-120"/>
              </a:rPr>
              <a:t>Then add trades</a:t>
            </a:r>
            <a:endParaRPr lang="en-US" sz="1600" dirty="0"/>
          </a:p>
        </p:txBody>
      </p:sp>
      <p:sp>
        <p:nvSpPr>
          <p:cNvPr id="23" name="Text 21"/>
          <p:cNvSpPr/>
          <p:nvPr/>
        </p:nvSpPr>
        <p:spPr>
          <a:xfrm>
            <a:off x="4498848" y="4681728"/>
            <a:ext cx="7031736" cy="585216"/>
          </a:xfrm>
          <a:prstGeom prst="rect">
            <a:avLst/>
          </a:prstGeom>
          <a:noFill/>
          <a:ln/>
        </p:spPr>
        <p:txBody>
          <a:bodyPr wrap="square" lIns="0" tIns="0" rIns="0" bIns="0" rtlCol="0" anchor="ctr"/>
          <a:lstStyle/>
          <a:p>
            <a:pPr indent="0" marL="0">
              <a:lnSpc>
                <a:spcPts val="1700"/>
              </a:lnSpc>
              <a:buNone/>
            </a:pPr>
            <a:r>
              <a:rPr lang="en-US" sz="1250" dirty="0">
                <a:solidFill>
                  <a:srgbClr val="8FA3C0"/>
                </a:solidFill>
                <a:latin typeface="Calibri" pitchFamily="34" charset="0"/>
                <a:ea typeface="Calibri" pitchFamily="34" charset="-122"/>
                <a:cs typeface="Calibri" pitchFamily="34" charset="-120"/>
              </a:rPr>
              <a:t>Every contractor you know who wants their phone to ring is a candidate. That is where the residual side starts for you.</a:t>
            </a:r>
            <a:endParaRPr lang="en-US" sz="1250" dirty="0"/>
          </a:p>
        </p:txBody>
      </p:sp>
      <p:sp>
        <p:nvSpPr>
          <p:cNvPr id="24" name="Text 22"/>
          <p:cNvSpPr/>
          <p:nvPr/>
        </p:nvSpPr>
        <p:spPr>
          <a:xfrm>
            <a:off x="658368" y="6291072"/>
            <a:ext cx="10872216" cy="237744"/>
          </a:xfrm>
          <a:prstGeom prst="rect">
            <a:avLst/>
          </a:prstGeom>
          <a:noFill/>
          <a:ln/>
        </p:spPr>
        <p:txBody>
          <a:bodyPr wrap="square" lIns="0" tIns="0" rIns="0" bIns="0" rtlCol="0" anchor="ctr"/>
          <a:lstStyle/>
          <a:p>
            <a:pPr indent="0" marL="0">
              <a:buNone/>
            </a:pPr>
            <a:r>
              <a:rPr lang="en-US" sz="900" dirty="0">
                <a:solidFill>
                  <a:srgbClr val="54658A"/>
                </a:solidFill>
                <a:latin typeface="Calibri" pitchFamily="34" charset="0"/>
                <a:ea typeface="Calibri" pitchFamily="34" charset="-122"/>
                <a:cs typeface="Calibri" pitchFamily="34" charset="-120"/>
              </a:rPr>
              <a:t>Telvergence, Inc.  ·  Confidential — prepared for Jimmy Mejia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2743200" y="1280160"/>
            <a:ext cx="10058400" cy="10058400"/>
          </a:xfrm>
          <a:prstGeom prst="ellipse">
            <a:avLst/>
          </a:prstGeom>
          <a:solidFill>
            <a:srgbClr val="00FF88">
              <a:alpha val="5000"/>
            </a:srgbClr>
          </a:solidFill>
          <a:ln w="12700">
            <a:solidFill>
              <a:srgbClr val="333333"/>
            </a:solidFill>
            <a:prstDash val="solid"/>
          </a:ln>
        </p:spPr>
      </p:sp>
      <p:sp>
        <p:nvSpPr>
          <p:cNvPr id="3" name="Text 1"/>
          <p:cNvSpPr/>
          <p:nvPr/>
        </p:nvSpPr>
        <p:spPr>
          <a:xfrm>
            <a:off x="658368" y="2286000"/>
            <a:ext cx="10424160" cy="1828800"/>
          </a:xfrm>
          <a:prstGeom prst="rect">
            <a:avLst/>
          </a:prstGeom>
          <a:noFill/>
          <a:ln/>
        </p:spPr>
        <p:txBody>
          <a:bodyPr wrap="square" lIns="0" tIns="0" rIns="0" bIns="0" rtlCol="0" anchor="ctr"/>
          <a:lstStyle/>
          <a:p>
            <a:pPr indent="0" marL="0">
              <a:lnSpc>
                <a:spcPts val="5600"/>
              </a:lnSpc>
              <a:buNone/>
            </a:pPr>
            <a:r>
              <a:rPr lang="en-US" sz="4600" b="1" spc="-110" kern="0" dirty="0">
                <a:solidFill>
                  <a:srgbClr val="EAF2FF"/>
                </a:solidFill>
                <a:latin typeface="Calibri" pitchFamily="34" charset="0"/>
                <a:ea typeface="Calibri" pitchFamily="34" charset="-122"/>
                <a:cs typeface="Calibri" pitchFamily="34" charset="-120"/>
              </a:rPr>
              <a:t>You fulfill the work.
</a:t>
            </a:r>
            <a:pPr indent="0" marL="0">
              <a:lnSpc>
                <a:spcPts val="5600"/>
              </a:lnSpc>
              <a:buNone/>
            </a:pPr>
            <a:r>
              <a:rPr lang="en-US" sz="4600" b="1" spc="-110" kern="0" dirty="0">
                <a:solidFill>
                  <a:srgbClr val="00FF88"/>
                </a:solidFill>
                <a:latin typeface="Calibri" pitchFamily="34" charset="0"/>
                <a:ea typeface="Calibri" pitchFamily="34" charset="-122"/>
                <a:cs typeface="Calibri" pitchFamily="34" charset="-120"/>
              </a:rPr>
              <a:t>We make the phone ring.</a:t>
            </a:r>
            <a:endParaRPr lang="en-US" sz="4600" dirty="0"/>
          </a:p>
        </p:txBody>
      </p:sp>
      <p:sp>
        <p:nvSpPr>
          <p:cNvPr id="4" name="Text 2"/>
          <p:cNvSpPr/>
          <p:nvPr/>
        </p:nvSpPr>
        <p:spPr>
          <a:xfrm>
            <a:off x="658368" y="4480560"/>
            <a:ext cx="10872216" cy="292608"/>
          </a:xfrm>
          <a:prstGeom prst="rect">
            <a:avLst/>
          </a:prstGeom>
          <a:noFill/>
          <a:ln/>
        </p:spPr>
        <p:txBody>
          <a:bodyPr wrap="square" lIns="0" tIns="0" rIns="0" bIns="0" rtlCol="0" anchor="ctr"/>
          <a:lstStyle/>
          <a:p>
            <a:pPr indent="0" marL="0">
              <a:buNone/>
            </a:pPr>
            <a:r>
              <a:rPr lang="en-US" sz="1400" dirty="0">
                <a:solidFill>
                  <a:srgbClr val="8FA3C0"/>
                </a:solidFill>
                <a:latin typeface="Calibri" pitchFamily="34" charset="0"/>
                <a:ea typeface="Calibri" pitchFamily="34" charset="-122"/>
                <a:cs typeface="Calibri" pitchFamily="34" charset="-120"/>
              </a:rPr>
              <a:t>David Drew Allen  ·  Telvergence, Inc.  ·  689-242-1041  ·  contact@telvergence.com</a:t>
            </a:r>
            <a:endParaRPr lang="en-US" sz="1400" dirty="0"/>
          </a:p>
        </p:txBody>
      </p:sp>
      <p:sp>
        <p:nvSpPr>
          <p:cNvPr id="5" name="Text 3"/>
          <p:cNvSpPr/>
          <p:nvPr/>
        </p:nvSpPr>
        <p:spPr>
          <a:xfrm>
            <a:off x="658368" y="5504688"/>
            <a:ext cx="10872216" cy="822960"/>
          </a:xfrm>
          <a:prstGeom prst="rect">
            <a:avLst/>
          </a:prstGeom>
          <a:noFill/>
          <a:ln/>
        </p:spPr>
        <p:txBody>
          <a:bodyPr wrap="square" lIns="0" tIns="0" rIns="0" bIns="0" rtlCol="0" anchor="ctr"/>
          <a:lstStyle/>
          <a:p>
            <a:pPr indent="0" marL="0">
              <a:lnSpc>
                <a:spcPts val="1300"/>
              </a:lnSpc>
              <a:buNone/>
            </a:pPr>
            <a:r>
              <a:rPr lang="en-US" sz="950" dirty="0">
                <a:solidFill>
                  <a:srgbClr val="54658A"/>
                </a:solidFill>
                <a:latin typeface="Calibri" pitchFamily="34" charset="0"/>
                <a:ea typeface="Calibri" pitchFamily="34" charset="-122"/>
                <a:cs typeface="Calibri" pitchFamily="34" charset="-120"/>
              </a:rPr>
              <a:t>Confidential. Prepared for Jimmy Mejia, Restoration Royalty LLC. Not for redistribution. Telephone numbers shown on the YES Electrical and TELVERGE pages are illustrative examples pending assignment. Storm Dispatch coverage and predictive forecasting are described as product roadmap and are delivered in stages. Pricing and provisioning timelines are subject to carrier confirmation.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Telvergence,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Packet — Restoration Royalty x Telvergence</dc:title>
  <dc:subject>PptxGenJS Presentation</dc:subject>
  <dc:creator>Telvergence, Inc.</dc:creator>
  <cp:lastModifiedBy>Telvergence, Inc.</cp:lastModifiedBy>
  <cp:revision>1</cp:revision>
  <dcterms:created xsi:type="dcterms:W3CDTF">2026-08-17T17:58:42Z</dcterms:created>
  <dcterms:modified xsi:type="dcterms:W3CDTF">2026-08-17T17:58:42Z</dcterms:modified>
</cp:coreProperties>
</file>